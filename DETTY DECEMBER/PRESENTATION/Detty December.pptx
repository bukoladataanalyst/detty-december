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93" r:id="rId3"/>
    <p:sldId id="258" r:id="rId4"/>
    <p:sldId id="259" r:id="rId5"/>
    <p:sldId id="295" r:id="rId6"/>
    <p:sldId id="296" r:id="rId7"/>
    <p:sldId id="297" r:id="rId8"/>
    <p:sldId id="298" r:id="rId9"/>
    <p:sldId id="299" r:id="rId10"/>
    <p:sldId id="300" r:id="rId11"/>
    <p:sldId id="294" r:id="rId12"/>
    <p:sldId id="321" r:id="rId13"/>
    <p:sldId id="325" r:id="rId14"/>
    <p:sldId id="305" r:id="rId15"/>
    <p:sldId id="306" r:id="rId16"/>
    <p:sldId id="307" r:id="rId17"/>
    <p:sldId id="326" r:id="rId18"/>
    <p:sldId id="309" r:id="rId19"/>
    <p:sldId id="301" r:id="rId20"/>
    <p:sldId id="313" r:id="rId21"/>
    <p:sldId id="331" r:id="rId22"/>
    <p:sldId id="302" r:id="rId23"/>
    <p:sldId id="332" r:id="rId24"/>
    <p:sldId id="311" r:id="rId25"/>
    <p:sldId id="312" r:id="rId26"/>
    <p:sldId id="327" r:id="rId27"/>
    <p:sldId id="328" r:id="rId28"/>
    <p:sldId id="329" r:id="rId29"/>
    <p:sldId id="330" r:id="rId30"/>
    <p:sldId id="31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E5B6AC-9036-9C6E-122A-CD34CD99064E}" v="2674" dt="2025-03-20T18:43:34.736"/>
    <p1510:client id="{CE98BCE2-D8CB-F973-455D-2A22B11639D1}" v="90" dt="2025-03-20T19:06:56.3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8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hyperlink" Target="https://atta.travel/resource/lagos-generates-n111-5-billion-in-detty-december.html?utm_source=chatgpt.com" TargetMode="External"/><Relationship Id="rId2" Type="http://schemas.openxmlformats.org/officeDocument/2006/relationships/hyperlink" Target="https://tribuneonlineng.com/lagos-generated-71-6m-revenue-from-detty-december-festivities-report/?utm_source=chatgpt.com" TargetMode="External"/><Relationship Id="rId1" Type="http://schemas.openxmlformats.org/officeDocument/2006/relationships/hyperlink" Target="https://punchng.com/lagos-generated-71-6m-from-tourism-december-festivities-report/?utm_source=chatgpt.com" TargetMode="External"/><Relationship Id="rId5" Type="http://schemas.openxmlformats.org/officeDocument/2006/relationships/hyperlink" Target="https://dailytimesng.com/detty-december-is-nigerias-aviation-sector-ready-for-the-year-end-surge/?utm_source=chatgpt.com" TargetMode="External"/><Relationship Id="rId4" Type="http://schemas.openxmlformats.org/officeDocument/2006/relationships/hyperlink" Target="https://guardian.ng/news/pricing-weak-tourism-infrastructure-threaten-2b-detty-december-target/?utm_source=chatgpt.com" TargetMode="External"/></Relationships>
</file>

<file path=ppt/diagrams/_rels/drawing1.xml.rels><?xml version="1.0" encoding="UTF-8" standalone="yes"?>
<Relationships xmlns="http://schemas.openxmlformats.org/package/2006/relationships"><Relationship Id="rId3" Type="http://schemas.openxmlformats.org/officeDocument/2006/relationships/hyperlink" Target="https://atta.travel/resource/lagos-generates-n111-5-billion-in-detty-december.html?utm_source=chatgpt.com" TargetMode="External"/><Relationship Id="rId2" Type="http://schemas.openxmlformats.org/officeDocument/2006/relationships/hyperlink" Target="https://tribuneonlineng.com/lagos-generated-71-6m-revenue-from-detty-december-festivities-report/?utm_source=chatgpt.com" TargetMode="External"/><Relationship Id="rId1" Type="http://schemas.openxmlformats.org/officeDocument/2006/relationships/hyperlink" Target="https://punchng.com/lagos-generated-71-6m-from-tourism-december-festivities-report/?utm_source=chatgpt.com" TargetMode="External"/><Relationship Id="rId5" Type="http://schemas.openxmlformats.org/officeDocument/2006/relationships/hyperlink" Target="https://dailytimesng.com/detty-december-is-nigerias-aviation-sector-ready-for-the-year-end-surge/?utm_source=chatgpt.com" TargetMode="External"/><Relationship Id="rId4" Type="http://schemas.openxmlformats.org/officeDocument/2006/relationships/hyperlink" Target="https://guardian.ng/news/pricing-weak-tourism-infrastructure-threaten-2b-detty-december-target/?utm_source=chatgpt.com" TargetMode="Externa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9C21BB-1D32-4C65-A9E9-937C45C3B0AB}" type="doc">
      <dgm:prSet loTypeId="urn:microsoft.com/office/officeart/2005/8/layout/default" loCatId="list" qsTypeId="urn:microsoft.com/office/officeart/2005/8/quickstyle/simple5" qsCatId="simple" csTypeId="urn:microsoft.com/office/officeart/2005/8/colors/colorful2" csCatId="colorful"/>
      <dgm:spPr/>
      <dgm:t>
        <a:bodyPr/>
        <a:lstStyle/>
        <a:p>
          <a:endParaRPr lang="en-US"/>
        </a:p>
      </dgm:t>
    </dgm:pt>
    <dgm:pt modelId="{4014304E-3E8D-4AFB-80BE-DB128292E397}">
      <dgm:prSet/>
      <dgm:spPr/>
      <dgm:t>
        <a:bodyPr/>
        <a:lstStyle/>
        <a:p>
          <a:r>
            <a:rPr lang="en-CA" b="1"/>
            <a:t>1. Lagos State “Detty December” revenue figures</a:t>
          </a:r>
          <a:endParaRPr lang="en-US"/>
        </a:p>
      </dgm:t>
    </dgm:pt>
    <dgm:pt modelId="{B04C6354-0826-4648-AA04-5CC91DF1A2A5}" type="parTrans" cxnId="{991FFB16-609D-49ED-9480-5A38ABD48E20}">
      <dgm:prSet/>
      <dgm:spPr/>
      <dgm:t>
        <a:bodyPr/>
        <a:lstStyle/>
        <a:p>
          <a:endParaRPr lang="en-US"/>
        </a:p>
      </dgm:t>
    </dgm:pt>
    <dgm:pt modelId="{E0F0CB2E-1D5E-4F91-B3C2-D3AA556BF5D6}" type="sibTrans" cxnId="{991FFB16-609D-49ED-9480-5A38ABD48E20}">
      <dgm:prSet/>
      <dgm:spPr/>
      <dgm:t>
        <a:bodyPr/>
        <a:lstStyle/>
        <a:p>
          <a:endParaRPr lang="en-US"/>
        </a:p>
      </dgm:t>
    </dgm:pt>
    <dgm:pt modelId="{300E2866-EE06-412A-8E60-01697CCF06DD}">
      <dgm:prSet/>
      <dgm:spPr/>
      <dgm:t>
        <a:bodyPr/>
        <a:lstStyle/>
        <a:p>
          <a:r>
            <a:rPr lang="en-CA"/>
            <a:t>“Lagos generated over </a:t>
          </a:r>
          <a:r>
            <a:rPr lang="en-CA" b="1"/>
            <a:t>$71.6 million in revenue</a:t>
          </a:r>
          <a:r>
            <a:rPr lang="en-CA"/>
            <a:t> from tourism, hospitality, and entertainment during ®Detty December in 2024.” </a:t>
          </a:r>
          <a:r>
            <a:rPr lang="en-CA">
              <a:hlinkClick xmlns:r="http://schemas.openxmlformats.org/officeDocument/2006/relationships" r:id="rId1"/>
            </a:rPr>
            <a:t>Punch Newspapers+1</a:t>
          </a:r>
          <a:br>
            <a:rPr lang="en-CA"/>
          </a:br>
          <a:r>
            <a:rPr lang="en-CA"/>
            <a:t>🔗 </a:t>
          </a:r>
          <a:r>
            <a:rPr lang="en-CA">
              <a:hlinkClick xmlns:r="http://schemas.openxmlformats.org/officeDocument/2006/relationships" r:id="rId1"/>
            </a:rPr>
            <a:t>https://punchng.com/lagos-generated-71-6m-from-tourism-december-festivities-report/</a:t>
          </a:r>
          <a:r>
            <a:rPr lang="en-CA"/>
            <a:t> </a:t>
          </a:r>
          <a:r>
            <a:rPr lang="en-CA">
              <a:hlinkClick xmlns:r="http://schemas.openxmlformats.org/officeDocument/2006/relationships" r:id="rId1"/>
            </a:rPr>
            <a:t>Punch Newspapers</a:t>
          </a:r>
          <a:endParaRPr lang="en-US"/>
        </a:p>
      </dgm:t>
    </dgm:pt>
    <dgm:pt modelId="{4E511F7D-1D0F-4E04-A708-9C332F5181EB}" type="parTrans" cxnId="{6682579D-1BD8-4F9D-8FAB-9F27B490FF87}">
      <dgm:prSet/>
      <dgm:spPr/>
      <dgm:t>
        <a:bodyPr/>
        <a:lstStyle/>
        <a:p>
          <a:endParaRPr lang="en-US"/>
        </a:p>
      </dgm:t>
    </dgm:pt>
    <dgm:pt modelId="{2FAE17A5-F467-4CB9-99A2-54D3C2EA556A}" type="sibTrans" cxnId="{6682579D-1BD8-4F9D-8FAB-9F27B490FF87}">
      <dgm:prSet/>
      <dgm:spPr/>
      <dgm:t>
        <a:bodyPr/>
        <a:lstStyle/>
        <a:p>
          <a:endParaRPr lang="en-US"/>
        </a:p>
      </dgm:t>
    </dgm:pt>
    <dgm:pt modelId="{936EE79B-79E6-41DA-A9C8-8CA018DE1B9E}">
      <dgm:prSet/>
      <dgm:spPr/>
      <dgm:t>
        <a:bodyPr/>
        <a:lstStyle/>
        <a:p>
          <a:r>
            <a:rPr lang="en-CA" b="1"/>
            <a:t>2. Confirmation of revenue contribution breakdown</a:t>
          </a:r>
          <a:endParaRPr lang="en-US"/>
        </a:p>
      </dgm:t>
    </dgm:pt>
    <dgm:pt modelId="{08F15CCB-3D86-4D5A-B618-0D6F5AC0C4E5}" type="parTrans" cxnId="{FB6DB9F9-31D7-4BE7-AD1D-2C225D38004C}">
      <dgm:prSet/>
      <dgm:spPr/>
      <dgm:t>
        <a:bodyPr/>
        <a:lstStyle/>
        <a:p>
          <a:endParaRPr lang="en-US"/>
        </a:p>
      </dgm:t>
    </dgm:pt>
    <dgm:pt modelId="{83903F04-6DE0-4A99-B045-D5A171B5046F}" type="sibTrans" cxnId="{FB6DB9F9-31D7-4BE7-AD1D-2C225D38004C}">
      <dgm:prSet/>
      <dgm:spPr/>
      <dgm:t>
        <a:bodyPr/>
        <a:lstStyle/>
        <a:p>
          <a:endParaRPr lang="en-US"/>
        </a:p>
      </dgm:t>
    </dgm:pt>
    <dgm:pt modelId="{0AEBE296-E6DB-43BC-B6E8-F64A02CB19DB}">
      <dgm:prSet/>
      <dgm:spPr/>
      <dgm:t>
        <a:bodyPr/>
        <a:lstStyle/>
        <a:p>
          <a:r>
            <a:rPr lang="en-CA"/>
            <a:t>Hotels contributed </a:t>
          </a:r>
          <a:r>
            <a:rPr lang="en-CA" b="1"/>
            <a:t>~$44 M</a:t>
          </a:r>
          <a:r>
            <a:rPr lang="en-CA"/>
            <a:t> &amp; short-let apartments </a:t>
          </a:r>
          <a:r>
            <a:rPr lang="en-CA" b="1"/>
            <a:t>~$13 M</a:t>
          </a:r>
          <a:r>
            <a:rPr lang="en-CA"/>
            <a:t> to the total revenue. </a:t>
          </a:r>
          <a:r>
            <a:rPr lang="en-CA">
              <a:hlinkClick xmlns:r="http://schemas.openxmlformats.org/officeDocument/2006/relationships" r:id="rId2"/>
            </a:rPr>
            <a:t>Tribune Online</a:t>
          </a:r>
          <a:br>
            <a:rPr lang="en-CA"/>
          </a:br>
          <a:r>
            <a:rPr lang="en-CA"/>
            <a:t>🔗 </a:t>
          </a:r>
          <a:r>
            <a:rPr lang="en-CA">
              <a:hlinkClick xmlns:r="http://schemas.openxmlformats.org/officeDocument/2006/relationships" r:id="rId2"/>
            </a:rPr>
            <a:t>https://tribuneonlineng.com/lagos-generated-71-6m-revenue-from-detty-december-festivities-report/</a:t>
          </a:r>
          <a:r>
            <a:rPr lang="en-CA"/>
            <a:t> </a:t>
          </a:r>
          <a:r>
            <a:rPr lang="en-CA">
              <a:hlinkClick xmlns:r="http://schemas.openxmlformats.org/officeDocument/2006/relationships" r:id="rId2"/>
            </a:rPr>
            <a:t>Tribune Online</a:t>
          </a:r>
          <a:endParaRPr lang="en-US"/>
        </a:p>
      </dgm:t>
    </dgm:pt>
    <dgm:pt modelId="{6D8819CE-0F7F-4C0C-B3D5-F2449AD2A55A}" type="parTrans" cxnId="{0C3B916A-4EBE-4008-ACDC-F18AAFC3A2DE}">
      <dgm:prSet/>
      <dgm:spPr/>
      <dgm:t>
        <a:bodyPr/>
        <a:lstStyle/>
        <a:p>
          <a:endParaRPr lang="en-US"/>
        </a:p>
      </dgm:t>
    </dgm:pt>
    <dgm:pt modelId="{797F7047-9B4F-4C9E-B4D5-CB9C6EC8F023}" type="sibTrans" cxnId="{0C3B916A-4EBE-4008-ACDC-F18AAFC3A2DE}">
      <dgm:prSet/>
      <dgm:spPr/>
      <dgm:t>
        <a:bodyPr/>
        <a:lstStyle/>
        <a:p>
          <a:endParaRPr lang="en-US"/>
        </a:p>
      </dgm:t>
    </dgm:pt>
    <dgm:pt modelId="{64588189-6BC1-4659-AB6E-EE675CEEC67C}">
      <dgm:prSet/>
      <dgm:spPr/>
      <dgm:t>
        <a:bodyPr/>
        <a:lstStyle/>
        <a:p>
          <a:r>
            <a:rPr lang="en-CA" b="1"/>
            <a:t>3. MO Africa Company report (N111.5 B revenue)</a:t>
          </a:r>
          <a:endParaRPr lang="en-US"/>
        </a:p>
      </dgm:t>
    </dgm:pt>
    <dgm:pt modelId="{13D04B31-EE88-41F5-9A37-C754123E177C}" type="parTrans" cxnId="{089FFC05-9F3A-4E0C-8AB7-4D28712DC60F}">
      <dgm:prSet/>
      <dgm:spPr/>
      <dgm:t>
        <a:bodyPr/>
        <a:lstStyle/>
        <a:p>
          <a:endParaRPr lang="en-US"/>
        </a:p>
      </dgm:t>
    </dgm:pt>
    <dgm:pt modelId="{6C123E05-FF1B-441C-91A2-8B3BB6613761}" type="sibTrans" cxnId="{089FFC05-9F3A-4E0C-8AB7-4D28712DC60F}">
      <dgm:prSet/>
      <dgm:spPr/>
      <dgm:t>
        <a:bodyPr/>
        <a:lstStyle/>
        <a:p>
          <a:endParaRPr lang="en-US"/>
        </a:p>
      </dgm:t>
    </dgm:pt>
    <dgm:pt modelId="{AB66200C-42BD-4FD1-8CBA-349DBF677A53}">
      <dgm:prSet/>
      <dgm:spPr/>
      <dgm:t>
        <a:bodyPr/>
        <a:lstStyle/>
        <a:p>
          <a:r>
            <a:rPr lang="en-CA"/>
            <a:t>Report states ~</a:t>
          </a:r>
          <a:r>
            <a:rPr lang="en-CA" b="1"/>
            <a:t>₦111.5 billion (~$71–$73 M)</a:t>
          </a:r>
          <a:r>
            <a:rPr lang="en-CA"/>
            <a:t> total Dec 2024 revenue including hotels, short-lets, and nightlife. </a:t>
          </a:r>
          <a:r>
            <a:rPr lang="en-CA">
              <a:hlinkClick xmlns:r="http://schemas.openxmlformats.org/officeDocument/2006/relationships" r:id="rId3"/>
            </a:rPr>
            <a:t>Atta Travel</a:t>
          </a:r>
          <a:br>
            <a:rPr lang="en-CA"/>
          </a:br>
          <a:r>
            <a:rPr lang="en-CA"/>
            <a:t>🔗 </a:t>
          </a:r>
          <a:r>
            <a:rPr lang="en-CA">
              <a:hlinkClick xmlns:r="http://schemas.openxmlformats.org/officeDocument/2006/relationships" r:id="rId3"/>
            </a:rPr>
            <a:t>https://atta.travel/resource/lagos-generates-n111-5-billion-in-detty-december.html</a:t>
          </a:r>
          <a:r>
            <a:rPr lang="en-CA"/>
            <a:t> </a:t>
          </a:r>
          <a:r>
            <a:rPr lang="en-CA">
              <a:hlinkClick xmlns:r="http://schemas.openxmlformats.org/officeDocument/2006/relationships" r:id="rId3"/>
            </a:rPr>
            <a:t>Atta Travel</a:t>
          </a:r>
          <a:endParaRPr lang="en-US"/>
        </a:p>
      </dgm:t>
    </dgm:pt>
    <dgm:pt modelId="{3C23116E-2BB2-4D0C-9B8C-FC1781190C22}" type="parTrans" cxnId="{7E6692D7-9A08-4A8C-B905-816C4A9F9782}">
      <dgm:prSet/>
      <dgm:spPr/>
      <dgm:t>
        <a:bodyPr/>
        <a:lstStyle/>
        <a:p>
          <a:endParaRPr lang="en-US"/>
        </a:p>
      </dgm:t>
    </dgm:pt>
    <dgm:pt modelId="{5B2E917B-80C8-4100-B96A-21FAFE3C4880}" type="sibTrans" cxnId="{7E6692D7-9A08-4A8C-B905-816C4A9F9782}">
      <dgm:prSet/>
      <dgm:spPr/>
      <dgm:t>
        <a:bodyPr/>
        <a:lstStyle/>
        <a:p>
          <a:endParaRPr lang="en-US"/>
        </a:p>
      </dgm:t>
    </dgm:pt>
    <dgm:pt modelId="{BB75DD20-4B9D-4F1F-AA31-923B16DA0706}">
      <dgm:prSet/>
      <dgm:spPr/>
      <dgm:t>
        <a:bodyPr/>
        <a:lstStyle/>
        <a:p>
          <a:r>
            <a:rPr lang="en-CA" b="1"/>
            <a:t>Visitor / Tourism Context (Support documentation or explanatory notes)</a:t>
          </a:r>
          <a:endParaRPr lang="en-US"/>
        </a:p>
      </dgm:t>
    </dgm:pt>
    <dgm:pt modelId="{D2DF30EF-BFC9-4927-B92D-694432E40CFE}" type="parTrans" cxnId="{2F69FAB6-9724-424B-9BB7-58E7A249C6FD}">
      <dgm:prSet/>
      <dgm:spPr/>
      <dgm:t>
        <a:bodyPr/>
        <a:lstStyle/>
        <a:p>
          <a:endParaRPr lang="en-US"/>
        </a:p>
      </dgm:t>
    </dgm:pt>
    <dgm:pt modelId="{004B512A-4D06-4AEF-8322-B9004CF3295D}" type="sibTrans" cxnId="{2F69FAB6-9724-424B-9BB7-58E7A249C6FD}">
      <dgm:prSet/>
      <dgm:spPr/>
      <dgm:t>
        <a:bodyPr/>
        <a:lstStyle/>
        <a:p>
          <a:endParaRPr lang="en-US"/>
        </a:p>
      </dgm:t>
    </dgm:pt>
    <dgm:pt modelId="{81A3C2C7-5059-4873-8BA4-FCEF59F290D8}">
      <dgm:prSet/>
      <dgm:spPr/>
      <dgm:t>
        <a:bodyPr/>
        <a:lstStyle/>
        <a:p>
          <a:r>
            <a:rPr lang="en-CA" b="1"/>
            <a:t>4. Visitor volume &amp; broader context</a:t>
          </a:r>
          <a:endParaRPr lang="en-US"/>
        </a:p>
      </dgm:t>
    </dgm:pt>
    <dgm:pt modelId="{8863CD50-B750-477D-8565-E247275B08F7}" type="parTrans" cxnId="{9081BFE1-EC94-4E73-AA7E-8A0668EFD493}">
      <dgm:prSet/>
      <dgm:spPr/>
      <dgm:t>
        <a:bodyPr/>
        <a:lstStyle/>
        <a:p>
          <a:endParaRPr lang="en-US"/>
        </a:p>
      </dgm:t>
    </dgm:pt>
    <dgm:pt modelId="{7C3B96A9-D0F7-4E1B-89E5-CFC926F8A442}" type="sibTrans" cxnId="{9081BFE1-EC94-4E73-AA7E-8A0668EFD493}">
      <dgm:prSet/>
      <dgm:spPr/>
      <dgm:t>
        <a:bodyPr/>
        <a:lstStyle/>
        <a:p>
          <a:endParaRPr lang="en-US"/>
        </a:p>
      </dgm:t>
    </dgm:pt>
    <dgm:pt modelId="{563D5F1B-5089-4D31-B50F-9C304B33F4FD}">
      <dgm:prSet/>
      <dgm:spPr/>
      <dgm:t>
        <a:bodyPr/>
        <a:lstStyle/>
        <a:p>
          <a:r>
            <a:rPr lang="en-CA"/>
            <a:t>An estimated </a:t>
          </a:r>
          <a:r>
            <a:rPr lang="en-CA" b="1"/>
            <a:t>1.2 million visitors</a:t>
          </a:r>
          <a:r>
            <a:rPr lang="en-CA"/>
            <a:t> were noted during the December 2024 period (domestic + international), with Lagos seeing high inflows. </a:t>
          </a:r>
          <a:r>
            <a:rPr lang="en-CA">
              <a:hlinkClick xmlns:r="http://schemas.openxmlformats.org/officeDocument/2006/relationships" r:id="rId4"/>
            </a:rPr>
            <a:t>The Guardian Nigeria</a:t>
          </a:r>
          <a:br>
            <a:rPr lang="en-CA"/>
          </a:br>
          <a:r>
            <a:rPr lang="en-CA"/>
            <a:t>🔗 </a:t>
          </a:r>
          <a:r>
            <a:rPr lang="en-CA">
              <a:hlinkClick xmlns:r="http://schemas.openxmlformats.org/officeDocument/2006/relationships" r:id="rId4"/>
            </a:rPr>
            <a:t>https://guardian.ng/news/pricing-weak-tourism-infrastructure-threaten-2b-detty-december-target/</a:t>
          </a:r>
          <a:r>
            <a:rPr lang="en-CA"/>
            <a:t> </a:t>
          </a:r>
          <a:r>
            <a:rPr lang="en-CA">
              <a:hlinkClick xmlns:r="http://schemas.openxmlformats.org/officeDocument/2006/relationships" r:id="rId4"/>
            </a:rPr>
            <a:t>The Guardian Nigeria</a:t>
          </a:r>
          <a:endParaRPr lang="en-US"/>
        </a:p>
      </dgm:t>
    </dgm:pt>
    <dgm:pt modelId="{5C506B7A-1A75-4461-A345-0224F14E74FD}" type="parTrans" cxnId="{A47C66D9-7BD4-4368-93DD-274A5598A59B}">
      <dgm:prSet/>
      <dgm:spPr/>
      <dgm:t>
        <a:bodyPr/>
        <a:lstStyle/>
        <a:p>
          <a:endParaRPr lang="en-US"/>
        </a:p>
      </dgm:t>
    </dgm:pt>
    <dgm:pt modelId="{48F0E15B-3842-431A-9BF0-07B7465E20BE}" type="sibTrans" cxnId="{A47C66D9-7BD4-4368-93DD-274A5598A59B}">
      <dgm:prSet/>
      <dgm:spPr/>
      <dgm:t>
        <a:bodyPr/>
        <a:lstStyle/>
        <a:p>
          <a:endParaRPr lang="en-US"/>
        </a:p>
      </dgm:t>
    </dgm:pt>
    <dgm:pt modelId="{8672E30E-6D2A-4184-BF46-F3E277AFDC61}">
      <dgm:prSet/>
      <dgm:spPr/>
      <dgm:t>
        <a:bodyPr/>
        <a:lstStyle/>
        <a:p>
          <a:r>
            <a:rPr lang="en-CA" b="1"/>
            <a:t>5. Aviation relevance for model context</a:t>
          </a:r>
          <a:endParaRPr lang="en-US"/>
        </a:p>
      </dgm:t>
    </dgm:pt>
    <dgm:pt modelId="{F1673A74-022D-4C9F-A7CA-CF8EC2E4F54B}" type="parTrans" cxnId="{D584039E-F285-4922-8602-5FB4D426480F}">
      <dgm:prSet/>
      <dgm:spPr/>
      <dgm:t>
        <a:bodyPr/>
        <a:lstStyle/>
        <a:p>
          <a:endParaRPr lang="en-US"/>
        </a:p>
      </dgm:t>
    </dgm:pt>
    <dgm:pt modelId="{819CEBEB-797A-47AD-983E-A864989C3668}" type="sibTrans" cxnId="{D584039E-F285-4922-8602-5FB4D426480F}">
      <dgm:prSet/>
      <dgm:spPr/>
      <dgm:t>
        <a:bodyPr/>
        <a:lstStyle/>
        <a:p>
          <a:endParaRPr lang="en-US"/>
        </a:p>
      </dgm:t>
    </dgm:pt>
    <dgm:pt modelId="{D1122BAD-6065-42CF-B395-A449AA20C417}">
      <dgm:prSet/>
      <dgm:spPr/>
      <dgm:t>
        <a:bodyPr/>
        <a:lstStyle/>
        <a:p>
          <a:r>
            <a:rPr lang="en-CA"/>
            <a:t>Nigeria handled </a:t>
          </a:r>
          <a:r>
            <a:rPr lang="en-CA" b="1"/>
            <a:t>~15.6 million total air passengers in 2024</a:t>
          </a:r>
          <a:r>
            <a:rPr lang="en-CA"/>
            <a:t>, with ~11.5 million domestic and ~4.1–4.3 million international, driven largely by Lagos and Abuja. </a:t>
          </a:r>
          <a:r>
            <a:rPr lang="en-CA">
              <a:hlinkClick xmlns:r="http://schemas.openxmlformats.org/officeDocument/2006/relationships" r:id="rId5"/>
            </a:rPr>
            <a:t>DAILY TIMES Nigeria</a:t>
          </a:r>
          <a:br>
            <a:rPr lang="en-CA"/>
          </a:br>
          <a:r>
            <a:rPr lang="en-CA"/>
            <a:t>🔗 </a:t>
          </a:r>
          <a:r>
            <a:rPr lang="en-CA">
              <a:hlinkClick xmlns:r="http://schemas.openxmlformats.org/officeDocument/2006/relationships" r:id="rId5"/>
            </a:rPr>
            <a:t>https://dailytimesng.com/detty-december-is-nigerias-aviation-sector-ready-for-the-year-end-surge/</a:t>
          </a:r>
          <a:r>
            <a:rPr lang="en-CA"/>
            <a:t> </a:t>
          </a:r>
          <a:r>
            <a:rPr lang="en-CA">
              <a:hlinkClick xmlns:r="http://schemas.openxmlformats.org/officeDocument/2006/relationships" r:id="rId5"/>
            </a:rPr>
            <a:t>DAILY TIMES Nigeria</a:t>
          </a:r>
          <a:endParaRPr lang="en-US"/>
        </a:p>
      </dgm:t>
    </dgm:pt>
    <dgm:pt modelId="{2C6E5A63-9DB6-4E1C-B6A6-7E6299A8ED7C}" type="parTrans" cxnId="{B98282D3-9264-4EEE-B06B-FAE1A4ADB9FA}">
      <dgm:prSet/>
      <dgm:spPr/>
      <dgm:t>
        <a:bodyPr/>
        <a:lstStyle/>
        <a:p>
          <a:endParaRPr lang="en-US"/>
        </a:p>
      </dgm:t>
    </dgm:pt>
    <dgm:pt modelId="{41BEEBE2-2BF5-42E9-8253-A5C655659F8F}" type="sibTrans" cxnId="{B98282D3-9264-4EEE-B06B-FAE1A4ADB9FA}">
      <dgm:prSet/>
      <dgm:spPr/>
      <dgm:t>
        <a:bodyPr/>
        <a:lstStyle/>
        <a:p>
          <a:endParaRPr lang="en-US"/>
        </a:p>
      </dgm:t>
    </dgm:pt>
    <dgm:pt modelId="{8A2B5ABE-6569-4897-8E99-23427BB7C9DF}" type="pres">
      <dgm:prSet presAssocID="{6F9C21BB-1D32-4C65-A9E9-937C45C3B0AB}" presName="diagram" presStyleCnt="0">
        <dgm:presLayoutVars>
          <dgm:dir/>
          <dgm:resizeHandles val="exact"/>
        </dgm:presLayoutVars>
      </dgm:prSet>
      <dgm:spPr/>
    </dgm:pt>
    <dgm:pt modelId="{37557630-A497-4894-84C9-8F06FE8907BE}" type="pres">
      <dgm:prSet presAssocID="{4014304E-3E8D-4AFB-80BE-DB128292E397}" presName="node" presStyleLbl="node1" presStyleIdx="0" presStyleCnt="11">
        <dgm:presLayoutVars>
          <dgm:bulletEnabled val="1"/>
        </dgm:presLayoutVars>
      </dgm:prSet>
      <dgm:spPr/>
    </dgm:pt>
    <dgm:pt modelId="{1D3BBA38-477C-405B-A25C-6F273035651E}" type="pres">
      <dgm:prSet presAssocID="{E0F0CB2E-1D5E-4F91-B3C2-D3AA556BF5D6}" presName="sibTrans" presStyleCnt="0"/>
      <dgm:spPr/>
    </dgm:pt>
    <dgm:pt modelId="{37E1D4D3-78F1-4BF4-87A6-47F0EBF1C723}" type="pres">
      <dgm:prSet presAssocID="{300E2866-EE06-412A-8E60-01697CCF06DD}" presName="node" presStyleLbl="node1" presStyleIdx="1" presStyleCnt="11">
        <dgm:presLayoutVars>
          <dgm:bulletEnabled val="1"/>
        </dgm:presLayoutVars>
      </dgm:prSet>
      <dgm:spPr/>
    </dgm:pt>
    <dgm:pt modelId="{CB75E32D-D1C9-47C8-8D79-CC8FCA187EFE}" type="pres">
      <dgm:prSet presAssocID="{2FAE17A5-F467-4CB9-99A2-54D3C2EA556A}" presName="sibTrans" presStyleCnt="0"/>
      <dgm:spPr/>
    </dgm:pt>
    <dgm:pt modelId="{4423CC97-E1A2-4A4E-AF60-8381CF856A9B}" type="pres">
      <dgm:prSet presAssocID="{936EE79B-79E6-41DA-A9C8-8CA018DE1B9E}" presName="node" presStyleLbl="node1" presStyleIdx="2" presStyleCnt="11">
        <dgm:presLayoutVars>
          <dgm:bulletEnabled val="1"/>
        </dgm:presLayoutVars>
      </dgm:prSet>
      <dgm:spPr/>
    </dgm:pt>
    <dgm:pt modelId="{999BC1F2-5230-4C99-B204-46C0658BC664}" type="pres">
      <dgm:prSet presAssocID="{83903F04-6DE0-4A99-B045-D5A171B5046F}" presName="sibTrans" presStyleCnt="0"/>
      <dgm:spPr/>
    </dgm:pt>
    <dgm:pt modelId="{AA1AEE73-E260-45FA-A613-8CF33C2EC542}" type="pres">
      <dgm:prSet presAssocID="{0AEBE296-E6DB-43BC-B6E8-F64A02CB19DB}" presName="node" presStyleLbl="node1" presStyleIdx="3" presStyleCnt="11">
        <dgm:presLayoutVars>
          <dgm:bulletEnabled val="1"/>
        </dgm:presLayoutVars>
      </dgm:prSet>
      <dgm:spPr/>
    </dgm:pt>
    <dgm:pt modelId="{50A691E3-C72C-4411-973D-7BF9CBB1FE9C}" type="pres">
      <dgm:prSet presAssocID="{797F7047-9B4F-4C9E-B4D5-CB9C6EC8F023}" presName="sibTrans" presStyleCnt="0"/>
      <dgm:spPr/>
    </dgm:pt>
    <dgm:pt modelId="{9F8AD5C5-E9DF-4817-BF05-C0BA4F217724}" type="pres">
      <dgm:prSet presAssocID="{64588189-6BC1-4659-AB6E-EE675CEEC67C}" presName="node" presStyleLbl="node1" presStyleIdx="4" presStyleCnt="11">
        <dgm:presLayoutVars>
          <dgm:bulletEnabled val="1"/>
        </dgm:presLayoutVars>
      </dgm:prSet>
      <dgm:spPr/>
    </dgm:pt>
    <dgm:pt modelId="{8DFDFC76-A713-4C1B-847C-6F18D4FFDB66}" type="pres">
      <dgm:prSet presAssocID="{6C123E05-FF1B-441C-91A2-8B3BB6613761}" presName="sibTrans" presStyleCnt="0"/>
      <dgm:spPr/>
    </dgm:pt>
    <dgm:pt modelId="{444CCE46-0F10-4F35-A1A4-79A3B834B3AB}" type="pres">
      <dgm:prSet presAssocID="{AB66200C-42BD-4FD1-8CBA-349DBF677A53}" presName="node" presStyleLbl="node1" presStyleIdx="5" presStyleCnt="11">
        <dgm:presLayoutVars>
          <dgm:bulletEnabled val="1"/>
        </dgm:presLayoutVars>
      </dgm:prSet>
      <dgm:spPr/>
    </dgm:pt>
    <dgm:pt modelId="{2951D5AE-0EEB-4D39-9231-5F48002AB9B8}" type="pres">
      <dgm:prSet presAssocID="{5B2E917B-80C8-4100-B96A-21FAFE3C4880}" presName="sibTrans" presStyleCnt="0"/>
      <dgm:spPr/>
    </dgm:pt>
    <dgm:pt modelId="{E9CC60A0-CE27-4029-91D0-DF7BEE6F5303}" type="pres">
      <dgm:prSet presAssocID="{BB75DD20-4B9D-4F1F-AA31-923B16DA0706}" presName="node" presStyleLbl="node1" presStyleIdx="6" presStyleCnt="11">
        <dgm:presLayoutVars>
          <dgm:bulletEnabled val="1"/>
        </dgm:presLayoutVars>
      </dgm:prSet>
      <dgm:spPr/>
    </dgm:pt>
    <dgm:pt modelId="{A0DEBFA0-ECFE-4C90-92D8-742B71B650EE}" type="pres">
      <dgm:prSet presAssocID="{004B512A-4D06-4AEF-8322-B9004CF3295D}" presName="sibTrans" presStyleCnt="0"/>
      <dgm:spPr/>
    </dgm:pt>
    <dgm:pt modelId="{C1AB7C6D-F794-4AEB-B777-5037DF247469}" type="pres">
      <dgm:prSet presAssocID="{81A3C2C7-5059-4873-8BA4-FCEF59F290D8}" presName="node" presStyleLbl="node1" presStyleIdx="7" presStyleCnt="11">
        <dgm:presLayoutVars>
          <dgm:bulletEnabled val="1"/>
        </dgm:presLayoutVars>
      </dgm:prSet>
      <dgm:spPr/>
    </dgm:pt>
    <dgm:pt modelId="{F1A5EFFC-9EB9-41A3-B950-1D87D9028E1C}" type="pres">
      <dgm:prSet presAssocID="{7C3B96A9-D0F7-4E1B-89E5-CFC926F8A442}" presName="sibTrans" presStyleCnt="0"/>
      <dgm:spPr/>
    </dgm:pt>
    <dgm:pt modelId="{FF89E35F-0932-4741-A277-6AB55F247CFA}" type="pres">
      <dgm:prSet presAssocID="{563D5F1B-5089-4D31-B50F-9C304B33F4FD}" presName="node" presStyleLbl="node1" presStyleIdx="8" presStyleCnt="11">
        <dgm:presLayoutVars>
          <dgm:bulletEnabled val="1"/>
        </dgm:presLayoutVars>
      </dgm:prSet>
      <dgm:spPr/>
    </dgm:pt>
    <dgm:pt modelId="{27ECB4DC-4C95-40D2-9425-FC8894254E19}" type="pres">
      <dgm:prSet presAssocID="{48F0E15B-3842-431A-9BF0-07B7465E20BE}" presName="sibTrans" presStyleCnt="0"/>
      <dgm:spPr/>
    </dgm:pt>
    <dgm:pt modelId="{360DF615-41D6-4A00-B28F-538B25808FBD}" type="pres">
      <dgm:prSet presAssocID="{8672E30E-6D2A-4184-BF46-F3E277AFDC61}" presName="node" presStyleLbl="node1" presStyleIdx="9" presStyleCnt="11">
        <dgm:presLayoutVars>
          <dgm:bulletEnabled val="1"/>
        </dgm:presLayoutVars>
      </dgm:prSet>
      <dgm:spPr/>
    </dgm:pt>
    <dgm:pt modelId="{BB631E60-A189-4B9A-973F-ACFFD5D85A27}" type="pres">
      <dgm:prSet presAssocID="{819CEBEB-797A-47AD-983E-A864989C3668}" presName="sibTrans" presStyleCnt="0"/>
      <dgm:spPr/>
    </dgm:pt>
    <dgm:pt modelId="{1BC92765-5612-4B77-9DF9-6D9253A96D58}" type="pres">
      <dgm:prSet presAssocID="{D1122BAD-6065-42CF-B395-A449AA20C417}" presName="node" presStyleLbl="node1" presStyleIdx="10" presStyleCnt="11">
        <dgm:presLayoutVars>
          <dgm:bulletEnabled val="1"/>
        </dgm:presLayoutVars>
      </dgm:prSet>
      <dgm:spPr/>
    </dgm:pt>
  </dgm:ptLst>
  <dgm:cxnLst>
    <dgm:cxn modelId="{089FFC05-9F3A-4E0C-8AB7-4D28712DC60F}" srcId="{6F9C21BB-1D32-4C65-A9E9-937C45C3B0AB}" destId="{64588189-6BC1-4659-AB6E-EE675CEEC67C}" srcOrd="4" destOrd="0" parTransId="{13D04B31-EE88-41F5-9A37-C754123E177C}" sibTransId="{6C123E05-FF1B-441C-91A2-8B3BB6613761}"/>
    <dgm:cxn modelId="{0DF6B80F-5DD1-4CC6-8B64-9355C760E8D2}" type="presOf" srcId="{64588189-6BC1-4659-AB6E-EE675CEEC67C}" destId="{9F8AD5C5-E9DF-4817-BF05-C0BA4F217724}" srcOrd="0" destOrd="0" presId="urn:microsoft.com/office/officeart/2005/8/layout/default"/>
    <dgm:cxn modelId="{00985D13-6BD0-44FE-B7D5-138F758456D6}" type="presOf" srcId="{BB75DD20-4B9D-4F1F-AA31-923B16DA0706}" destId="{E9CC60A0-CE27-4029-91D0-DF7BEE6F5303}" srcOrd="0" destOrd="0" presId="urn:microsoft.com/office/officeart/2005/8/layout/default"/>
    <dgm:cxn modelId="{991FFB16-609D-49ED-9480-5A38ABD48E20}" srcId="{6F9C21BB-1D32-4C65-A9E9-937C45C3B0AB}" destId="{4014304E-3E8D-4AFB-80BE-DB128292E397}" srcOrd="0" destOrd="0" parTransId="{B04C6354-0826-4648-AA04-5CC91DF1A2A5}" sibTransId="{E0F0CB2E-1D5E-4F91-B3C2-D3AA556BF5D6}"/>
    <dgm:cxn modelId="{6EFBC71C-65A9-482B-9455-B2BD63F050E2}" type="presOf" srcId="{D1122BAD-6065-42CF-B395-A449AA20C417}" destId="{1BC92765-5612-4B77-9DF9-6D9253A96D58}" srcOrd="0" destOrd="0" presId="urn:microsoft.com/office/officeart/2005/8/layout/default"/>
    <dgm:cxn modelId="{0C3B916A-4EBE-4008-ACDC-F18AAFC3A2DE}" srcId="{6F9C21BB-1D32-4C65-A9E9-937C45C3B0AB}" destId="{0AEBE296-E6DB-43BC-B6E8-F64A02CB19DB}" srcOrd="3" destOrd="0" parTransId="{6D8819CE-0F7F-4C0C-B3D5-F2449AD2A55A}" sibTransId="{797F7047-9B4F-4C9E-B4D5-CB9C6EC8F023}"/>
    <dgm:cxn modelId="{6AD90D72-BC68-40CF-A32B-7E57C6B26CA0}" type="presOf" srcId="{563D5F1B-5089-4D31-B50F-9C304B33F4FD}" destId="{FF89E35F-0932-4741-A277-6AB55F247CFA}" srcOrd="0" destOrd="0" presId="urn:microsoft.com/office/officeart/2005/8/layout/default"/>
    <dgm:cxn modelId="{81058254-A0FE-45EE-B94A-A3EC2E87E8B6}" type="presOf" srcId="{AB66200C-42BD-4FD1-8CBA-349DBF677A53}" destId="{444CCE46-0F10-4F35-A1A4-79A3B834B3AB}" srcOrd="0" destOrd="0" presId="urn:microsoft.com/office/officeart/2005/8/layout/default"/>
    <dgm:cxn modelId="{CBC00F8C-5271-4BEF-8BC0-B264B2BCDF26}" type="presOf" srcId="{4014304E-3E8D-4AFB-80BE-DB128292E397}" destId="{37557630-A497-4894-84C9-8F06FE8907BE}" srcOrd="0" destOrd="0" presId="urn:microsoft.com/office/officeart/2005/8/layout/default"/>
    <dgm:cxn modelId="{6682579D-1BD8-4F9D-8FAB-9F27B490FF87}" srcId="{6F9C21BB-1D32-4C65-A9E9-937C45C3B0AB}" destId="{300E2866-EE06-412A-8E60-01697CCF06DD}" srcOrd="1" destOrd="0" parTransId="{4E511F7D-1D0F-4E04-A708-9C332F5181EB}" sibTransId="{2FAE17A5-F467-4CB9-99A2-54D3C2EA556A}"/>
    <dgm:cxn modelId="{D584039E-F285-4922-8602-5FB4D426480F}" srcId="{6F9C21BB-1D32-4C65-A9E9-937C45C3B0AB}" destId="{8672E30E-6D2A-4184-BF46-F3E277AFDC61}" srcOrd="9" destOrd="0" parTransId="{F1673A74-022D-4C9F-A7CA-CF8EC2E4F54B}" sibTransId="{819CEBEB-797A-47AD-983E-A864989C3668}"/>
    <dgm:cxn modelId="{AB2CB6A2-BD61-4445-A9C0-6DDFFF605705}" type="presOf" srcId="{936EE79B-79E6-41DA-A9C8-8CA018DE1B9E}" destId="{4423CC97-E1A2-4A4E-AF60-8381CF856A9B}" srcOrd="0" destOrd="0" presId="urn:microsoft.com/office/officeart/2005/8/layout/default"/>
    <dgm:cxn modelId="{82F005AD-7B4F-4304-A753-A49548100E87}" type="presOf" srcId="{8672E30E-6D2A-4184-BF46-F3E277AFDC61}" destId="{360DF615-41D6-4A00-B28F-538B25808FBD}" srcOrd="0" destOrd="0" presId="urn:microsoft.com/office/officeart/2005/8/layout/default"/>
    <dgm:cxn modelId="{2F69FAB6-9724-424B-9BB7-58E7A249C6FD}" srcId="{6F9C21BB-1D32-4C65-A9E9-937C45C3B0AB}" destId="{BB75DD20-4B9D-4F1F-AA31-923B16DA0706}" srcOrd="6" destOrd="0" parTransId="{D2DF30EF-BFC9-4927-B92D-694432E40CFE}" sibTransId="{004B512A-4D06-4AEF-8322-B9004CF3295D}"/>
    <dgm:cxn modelId="{B98282D3-9264-4EEE-B06B-FAE1A4ADB9FA}" srcId="{6F9C21BB-1D32-4C65-A9E9-937C45C3B0AB}" destId="{D1122BAD-6065-42CF-B395-A449AA20C417}" srcOrd="10" destOrd="0" parTransId="{2C6E5A63-9DB6-4E1C-B6A6-7E6299A8ED7C}" sibTransId="{41BEEBE2-2BF5-42E9-8253-A5C655659F8F}"/>
    <dgm:cxn modelId="{7E6692D7-9A08-4A8C-B905-816C4A9F9782}" srcId="{6F9C21BB-1D32-4C65-A9E9-937C45C3B0AB}" destId="{AB66200C-42BD-4FD1-8CBA-349DBF677A53}" srcOrd="5" destOrd="0" parTransId="{3C23116E-2BB2-4D0C-9B8C-FC1781190C22}" sibTransId="{5B2E917B-80C8-4100-B96A-21FAFE3C4880}"/>
    <dgm:cxn modelId="{A47C66D9-7BD4-4368-93DD-274A5598A59B}" srcId="{6F9C21BB-1D32-4C65-A9E9-937C45C3B0AB}" destId="{563D5F1B-5089-4D31-B50F-9C304B33F4FD}" srcOrd="8" destOrd="0" parTransId="{5C506B7A-1A75-4461-A345-0224F14E74FD}" sibTransId="{48F0E15B-3842-431A-9BF0-07B7465E20BE}"/>
    <dgm:cxn modelId="{9081BFE1-EC94-4E73-AA7E-8A0668EFD493}" srcId="{6F9C21BB-1D32-4C65-A9E9-937C45C3B0AB}" destId="{81A3C2C7-5059-4873-8BA4-FCEF59F290D8}" srcOrd="7" destOrd="0" parTransId="{8863CD50-B750-477D-8565-E247275B08F7}" sibTransId="{7C3B96A9-D0F7-4E1B-89E5-CFC926F8A442}"/>
    <dgm:cxn modelId="{335CF8E8-E6F9-428C-A4C6-2FA1754F4C34}" type="presOf" srcId="{81A3C2C7-5059-4873-8BA4-FCEF59F290D8}" destId="{C1AB7C6D-F794-4AEB-B777-5037DF247469}" srcOrd="0" destOrd="0" presId="urn:microsoft.com/office/officeart/2005/8/layout/default"/>
    <dgm:cxn modelId="{180612F1-941B-4392-832A-2F4AC81FD806}" type="presOf" srcId="{300E2866-EE06-412A-8E60-01697CCF06DD}" destId="{37E1D4D3-78F1-4BF4-87A6-47F0EBF1C723}" srcOrd="0" destOrd="0" presId="urn:microsoft.com/office/officeart/2005/8/layout/default"/>
    <dgm:cxn modelId="{FF5DB1F2-5E5C-45BA-8A8C-725EBF08614B}" type="presOf" srcId="{6F9C21BB-1D32-4C65-A9E9-937C45C3B0AB}" destId="{8A2B5ABE-6569-4897-8E99-23427BB7C9DF}" srcOrd="0" destOrd="0" presId="urn:microsoft.com/office/officeart/2005/8/layout/default"/>
    <dgm:cxn modelId="{FB6DB9F9-31D7-4BE7-AD1D-2C225D38004C}" srcId="{6F9C21BB-1D32-4C65-A9E9-937C45C3B0AB}" destId="{936EE79B-79E6-41DA-A9C8-8CA018DE1B9E}" srcOrd="2" destOrd="0" parTransId="{08F15CCB-3D86-4D5A-B618-0D6F5AC0C4E5}" sibTransId="{83903F04-6DE0-4A99-B045-D5A171B5046F}"/>
    <dgm:cxn modelId="{73AB0FFE-FF79-4968-9D31-0BE69E641415}" type="presOf" srcId="{0AEBE296-E6DB-43BC-B6E8-F64A02CB19DB}" destId="{AA1AEE73-E260-45FA-A613-8CF33C2EC542}" srcOrd="0" destOrd="0" presId="urn:microsoft.com/office/officeart/2005/8/layout/default"/>
    <dgm:cxn modelId="{D23374E9-024D-4DBB-9302-CA739A558B64}" type="presParOf" srcId="{8A2B5ABE-6569-4897-8E99-23427BB7C9DF}" destId="{37557630-A497-4894-84C9-8F06FE8907BE}" srcOrd="0" destOrd="0" presId="urn:microsoft.com/office/officeart/2005/8/layout/default"/>
    <dgm:cxn modelId="{A9077926-87B9-4305-90E1-4CF6CF52D345}" type="presParOf" srcId="{8A2B5ABE-6569-4897-8E99-23427BB7C9DF}" destId="{1D3BBA38-477C-405B-A25C-6F273035651E}" srcOrd="1" destOrd="0" presId="urn:microsoft.com/office/officeart/2005/8/layout/default"/>
    <dgm:cxn modelId="{DB039E32-D0B0-4F1A-A5A8-BE4700F86D4C}" type="presParOf" srcId="{8A2B5ABE-6569-4897-8E99-23427BB7C9DF}" destId="{37E1D4D3-78F1-4BF4-87A6-47F0EBF1C723}" srcOrd="2" destOrd="0" presId="urn:microsoft.com/office/officeart/2005/8/layout/default"/>
    <dgm:cxn modelId="{4ACEF644-26BB-486E-8464-C671375E4833}" type="presParOf" srcId="{8A2B5ABE-6569-4897-8E99-23427BB7C9DF}" destId="{CB75E32D-D1C9-47C8-8D79-CC8FCA187EFE}" srcOrd="3" destOrd="0" presId="urn:microsoft.com/office/officeart/2005/8/layout/default"/>
    <dgm:cxn modelId="{457C1AA6-33CB-4CBF-A894-8D2DC4D6C423}" type="presParOf" srcId="{8A2B5ABE-6569-4897-8E99-23427BB7C9DF}" destId="{4423CC97-E1A2-4A4E-AF60-8381CF856A9B}" srcOrd="4" destOrd="0" presId="urn:microsoft.com/office/officeart/2005/8/layout/default"/>
    <dgm:cxn modelId="{F5BD41AC-4CB0-427E-A60B-DE4FDFD5D561}" type="presParOf" srcId="{8A2B5ABE-6569-4897-8E99-23427BB7C9DF}" destId="{999BC1F2-5230-4C99-B204-46C0658BC664}" srcOrd="5" destOrd="0" presId="urn:microsoft.com/office/officeart/2005/8/layout/default"/>
    <dgm:cxn modelId="{C9593477-0127-4322-8274-A25382115D4A}" type="presParOf" srcId="{8A2B5ABE-6569-4897-8E99-23427BB7C9DF}" destId="{AA1AEE73-E260-45FA-A613-8CF33C2EC542}" srcOrd="6" destOrd="0" presId="urn:microsoft.com/office/officeart/2005/8/layout/default"/>
    <dgm:cxn modelId="{1CA0C6B1-D619-44FB-ADF2-92A66928FCC0}" type="presParOf" srcId="{8A2B5ABE-6569-4897-8E99-23427BB7C9DF}" destId="{50A691E3-C72C-4411-973D-7BF9CBB1FE9C}" srcOrd="7" destOrd="0" presId="urn:microsoft.com/office/officeart/2005/8/layout/default"/>
    <dgm:cxn modelId="{2DDB763D-2D5F-4352-AE39-0644681322E9}" type="presParOf" srcId="{8A2B5ABE-6569-4897-8E99-23427BB7C9DF}" destId="{9F8AD5C5-E9DF-4817-BF05-C0BA4F217724}" srcOrd="8" destOrd="0" presId="urn:microsoft.com/office/officeart/2005/8/layout/default"/>
    <dgm:cxn modelId="{A057CB1A-7150-446C-942C-8690865F3B21}" type="presParOf" srcId="{8A2B5ABE-6569-4897-8E99-23427BB7C9DF}" destId="{8DFDFC76-A713-4C1B-847C-6F18D4FFDB66}" srcOrd="9" destOrd="0" presId="urn:microsoft.com/office/officeart/2005/8/layout/default"/>
    <dgm:cxn modelId="{F4F3BF3E-A8F6-490B-AEFD-0CEADD308AFE}" type="presParOf" srcId="{8A2B5ABE-6569-4897-8E99-23427BB7C9DF}" destId="{444CCE46-0F10-4F35-A1A4-79A3B834B3AB}" srcOrd="10" destOrd="0" presId="urn:microsoft.com/office/officeart/2005/8/layout/default"/>
    <dgm:cxn modelId="{5A26F847-FB1C-48FD-B4FA-025859B1B91D}" type="presParOf" srcId="{8A2B5ABE-6569-4897-8E99-23427BB7C9DF}" destId="{2951D5AE-0EEB-4D39-9231-5F48002AB9B8}" srcOrd="11" destOrd="0" presId="urn:microsoft.com/office/officeart/2005/8/layout/default"/>
    <dgm:cxn modelId="{F07FCE62-5B80-4A76-AD85-6100674270EC}" type="presParOf" srcId="{8A2B5ABE-6569-4897-8E99-23427BB7C9DF}" destId="{E9CC60A0-CE27-4029-91D0-DF7BEE6F5303}" srcOrd="12" destOrd="0" presId="urn:microsoft.com/office/officeart/2005/8/layout/default"/>
    <dgm:cxn modelId="{D8DAAFD0-63F7-4C5E-B4BC-3A001B2E9EEF}" type="presParOf" srcId="{8A2B5ABE-6569-4897-8E99-23427BB7C9DF}" destId="{A0DEBFA0-ECFE-4C90-92D8-742B71B650EE}" srcOrd="13" destOrd="0" presId="urn:microsoft.com/office/officeart/2005/8/layout/default"/>
    <dgm:cxn modelId="{B7CBEE62-9A2E-406D-B59F-3E790ED1C842}" type="presParOf" srcId="{8A2B5ABE-6569-4897-8E99-23427BB7C9DF}" destId="{C1AB7C6D-F794-4AEB-B777-5037DF247469}" srcOrd="14" destOrd="0" presId="urn:microsoft.com/office/officeart/2005/8/layout/default"/>
    <dgm:cxn modelId="{12DC4374-A5A3-49F4-A509-A4134915EDA3}" type="presParOf" srcId="{8A2B5ABE-6569-4897-8E99-23427BB7C9DF}" destId="{F1A5EFFC-9EB9-41A3-B950-1D87D9028E1C}" srcOrd="15" destOrd="0" presId="urn:microsoft.com/office/officeart/2005/8/layout/default"/>
    <dgm:cxn modelId="{C1EE8AB6-A6E0-4DD6-AF4A-EF0C6713F044}" type="presParOf" srcId="{8A2B5ABE-6569-4897-8E99-23427BB7C9DF}" destId="{FF89E35F-0932-4741-A277-6AB55F247CFA}" srcOrd="16" destOrd="0" presId="urn:microsoft.com/office/officeart/2005/8/layout/default"/>
    <dgm:cxn modelId="{D5B9621E-C945-4C0D-B6FE-CE3A631AB881}" type="presParOf" srcId="{8A2B5ABE-6569-4897-8E99-23427BB7C9DF}" destId="{27ECB4DC-4C95-40D2-9425-FC8894254E19}" srcOrd="17" destOrd="0" presId="urn:microsoft.com/office/officeart/2005/8/layout/default"/>
    <dgm:cxn modelId="{39323CAE-5845-4208-B5A6-F7E58D21A3BF}" type="presParOf" srcId="{8A2B5ABE-6569-4897-8E99-23427BB7C9DF}" destId="{360DF615-41D6-4A00-B28F-538B25808FBD}" srcOrd="18" destOrd="0" presId="urn:microsoft.com/office/officeart/2005/8/layout/default"/>
    <dgm:cxn modelId="{0689EC66-8BD5-4FFD-B456-9FDEE7A46E57}" type="presParOf" srcId="{8A2B5ABE-6569-4897-8E99-23427BB7C9DF}" destId="{BB631E60-A189-4B9A-973F-ACFFD5D85A27}" srcOrd="19" destOrd="0" presId="urn:microsoft.com/office/officeart/2005/8/layout/default"/>
    <dgm:cxn modelId="{C7040B19-DEA8-40D2-AE85-11A2E063DE96}" type="presParOf" srcId="{8A2B5ABE-6569-4897-8E99-23427BB7C9DF}" destId="{1BC92765-5612-4B77-9DF9-6D9253A96D58}" srcOrd="2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557630-A497-4894-84C9-8F06FE8907BE}">
      <dsp:nvSpPr>
        <dsp:cNvPr id="0" name=""/>
        <dsp:cNvSpPr/>
      </dsp:nvSpPr>
      <dsp:spPr>
        <a:xfrm>
          <a:off x="582645" y="1178"/>
          <a:ext cx="2174490" cy="130469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CA" sz="900" b="1" kern="1200"/>
            <a:t>1. Lagos State “Detty December” revenue figures</a:t>
          </a:r>
          <a:endParaRPr lang="en-US" sz="900" kern="1200"/>
        </a:p>
      </dsp:txBody>
      <dsp:txXfrm>
        <a:off x="582645" y="1178"/>
        <a:ext cx="2174490" cy="1304694"/>
      </dsp:txXfrm>
    </dsp:sp>
    <dsp:sp modelId="{37E1D4D3-78F1-4BF4-87A6-47F0EBF1C723}">
      <dsp:nvSpPr>
        <dsp:cNvPr id="0" name=""/>
        <dsp:cNvSpPr/>
      </dsp:nvSpPr>
      <dsp:spPr>
        <a:xfrm>
          <a:off x="2974584" y="1178"/>
          <a:ext cx="2174490" cy="1304694"/>
        </a:xfrm>
        <a:prstGeom prst="rect">
          <a:avLst/>
        </a:prstGeom>
        <a:gradFill rotWithShape="0">
          <a:gsLst>
            <a:gs pos="0">
              <a:schemeClr val="accent2">
                <a:hueOff val="-145536"/>
                <a:satOff val="-8393"/>
                <a:lumOff val="863"/>
                <a:alphaOff val="0"/>
                <a:satMod val="103000"/>
                <a:lumMod val="102000"/>
                <a:tint val="94000"/>
              </a:schemeClr>
            </a:gs>
            <a:gs pos="50000">
              <a:schemeClr val="accent2">
                <a:hueOff val="-145536"/>
                <a:satOff val="-8393"/>
                <a:lumOff val="863"/>
                <a:alphaOff val="0"/>
                <a:satMod val="110000"/>
                <a:lumMod val="100000"/>
                <a:shade val="100000"/>
              </a:schemeClr>
            </a:gs>
            <a:gs pos="100000">
              <a:schemeClr val="accent2">
                <a:hueOff val="-145536"/>
                <a:satOff val="-8393"/>
                <a:lumOff val="86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CA" sz="900" kern="1200"/>
            <a:t>“Lagos generated over </a:t>
          </a:r>
          <a:r>
            <a:rPr lang="en-CA" sz="900" b="1" kern="1200"/>
            <a:t>$71.6 million in revenue</a:t>
          </a:r>
          <a:r>
            <a:rPr lang="en-CA" sz="900" kern="1200"/>
            <a:t> from tourism, hospitality, and entertainment during ®Detty December in 2024.” </a:t>
          </a:r>
          <a:r>
            <a:rPr lang="en-CA" sz="900" kern="1200">
              <a:hlinkClick xmlns:r="http://schemas.openxmlformats.org/officeDocument/2006/relationships" r:id="rId1"/>
            </a:rPr>
            <a:t>Punch Newspapers+1</a:t>
          </a:r>
          <a:br>
            <a:rPr lang="en-CA" sz="900" kern="1200"/>
          </a:br>
          <a:r>
            <a:rPr lang="en-CA" sz="900" kern="1200"/>
            <a:t>🔗 </a:t>
          </a:r>
          <a:r>
            <a:rPr lang="en-CA" sz="900" kern="1200">
              <a:hlinkClick xmlns:r="http://schemas.openxmlformats.org/officeDocument/2006/relationships" r:id="rId1"/>
            </a:rPr>
            <a:t>https://punchng.com/lagos-generated-71-6m-from-tourism-december-festivities-report/</a:t>
          </a:r>
          <a:r>
            <a:rPr lang="en-CA" sz="900" kern="1200"/>
            <a:t> </a:t>
          </a:r>
          <a:r>
            <a:rPr lang="en-CA" sz="900" kern="1200">
              <a:hlinkClick xmlns:r="http://schemas.openxmlformats.org/officeDocument/2006/relationships" r:id="rId1"/>
            </a:rPr>
            <a:t>Punch Newspapers</a:t>
          </a:r>
          <a:endParaRPr lang="en-US" sz="900" kern="1200"/>
        </a:p>
      </dsp:txBody>
      <dsp:txXfrm>
        <a:off x="2974584" y="1178"/>
        <a:ext cx="2174490" cy="1304694"/>
      </dsp:txXfrm>
    </dsp:sp>
    <dsp:sp modelId="{4423CC97-E1A2-4A4E-AF60-8381CF856A9B}">
      <dsp:nvSpPr>
        <dsp:cNvPr id="0" name=""/>
        <dsp:cNvSpPr/>
      </dsp:nvSpPr>
      <dsp:spPr>
        <a:xfrm>
          <a:off x="5366524" y="1178"/>
          <a:ext cx="2174490" cy="1304694"/>
        </a:xfrm>
        <a:prstGeom prst="rect">
          <a:avLst/>
        </a:prstGeom>
        <a:gradFill rotWithShape="0">
          <a:gsLst>
            <a:gs pos="0">
              <a:schemeClr val="accent2">
                <a:hueOff val="-291073"/>
                <a:satOff val="-16786"/>
                <a:lumOff val="1726"/>
                <a:alphaOff val="0"/>
                <a:satMod val="103000"/>
                <a:lumMod val="102000"/>
                <a:tint val="94000"/>
              </a:schemeClr>
            </a:gs>
            <a:gs pos="50000">
              <a:schemeClr val="accent2">
                <a:hueOff val="-291073"/>
                <a:satOff val="-16786"/>
                <a:lumOff val="1726"/>
                <a:alphaOff val="0"/>
                <a:satMod val="110000"/>
                <a:lumMod val="100000"/>
                <a:shade val="100000"/>
              </a:schemeClr>
            </a:gs>
            <a:gs pos="100000">
              <a:schemeClr val="accent2">
                <a:hueOff val="-291073"/>
                <a:satOff val="-16786"/>
                <a:lumOff val="172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CA" sz="900" b="1" kern="1200"/>
            <a:t>2. Confirmation of revenue contribution breakdown</a:t>
          </a:r>
          <a:endParaRPr lang="en-US" sz="900" kern="1200"/>
        </a:p>
      </dsp:txBody>
      <dsp:txXfrm>
        <a:off x="5366524" y="1178"/>
        <a:ext cx="2174490" cy="1304694"/>
      </dsp:txXfrm>
    </dsp:sp>
    <dsp:sp modelId="{AA1AEE73-E260-45FA-A613-8CF33C2EC542}">
      <dsp:nvSpPr>
        <dsp:cNvPr id="0" name=""/>
        <dsp:cNvSpPr/>
      </dsp:nvSpPr>
      <dsp:spPr>
        <a:xfrm>
          <a:off x="7758464" y="1178"/>
          <a:ext cx="2174490" cy="1304694"/>
        </a:xfrm>
        <a:prstGeom prst="rect">
          <a:avLst/>
        </a:prstGeom>
        <a:gradFill rotWithShape="0">
          <a:gsLst>
            <a:gs pos="0">
              <a:schemeClr val="accent2">
                <a:hueOff val="-436609"/>
                <a:satOff val="-25178"/>
                <a:lumOff val="2588"/>
                <a:alphaOff val="0"/>
                <a:satMod val="103000"/>
                <a:lumMod val="102000"/>
                <a:tint val="94000"/>
              </a:schemeClr>
            </a:gs>
            <a:gs pos="50000">
              <a:schemeClr val="accent2">
                <a:hueOff val="-436609"/>
                <a:satOff val="-25178"/>
                <a:lumOff val="2588"/>
                <a:alphaOff val="0"/>
                <a:satMod val="110000"/>
                <a:lumMod val="100000"/>
                <a:shade val="100000"/>
              </a:schemeClr>
            </a:gs>
            <a:gs pos="100000">
              <a:schemeClr val="accent2">
                <a:hueOff val="-436609"/>
                <a:satOff val="-25178"/>
                <a:lumOff val="258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CA" sz="900" kern="1200"/>
            <a:t>Hotels contributed </a:t>
          </a:r>
          <a:r>
            <a:rPr lang="en-CA" sz="900" b="1" kern="1200"/>
            <a:t>~$44 M</a:t>
          </a:r>
          <a:r>
            <a:rPr lang="en-CA" sz="900" kern="1200"/>
            <a:t> &amp; short-let apartments </a:t>
          </a:r>
          <a:r>
            <a:rPr lang="en-CA" sz="900" b="1" kern="1200"/>
            <a:t>~$13 M</a:t>
          </a:r>
          <a:r>
            <a:rPr lang="en-CA" sz="900" kern="1200"/>
            <a:t> to the total revenue. </a:t>
          </a:r>
          <a:r>
            <a:rPr lang="en-CA" sz="900" kern="1200">
              <a:hlinkClick xmlns:r="http://schemas.openxmlformats.org/officeDocument/2006/relationships" r:id="rId2"/>
            </a:rPr>
            <a:t>Tribune Online</a:t>
          </a:r>
          <a:br>
            <a:rPr lang="en-CA" sz="900" kern="1200"/>
          </a:br>
          <a:r>
            <a:rPr lang="en-CA" sz="900" kern="1200"/>
            <a:t>🔗 </a:t>
          </a:r>
          <a:r>
            <a:rPr lang="en-CA" sz="900" kern="1200">
              <a:hlinkClick xmlns:r="http://schemas.openxmlformats.org/officeDocument/2006/relationships" r:id="rId2"/>
            </a:rPr>
            <a:t>https://tribuneonlineng.com/lagos-generated-71-6m-revenue-from-detty-december-festivities-report/</a:t>
          </a:r>
          <a:r>
            <a:rPr lang="en-CA" sz="900" kern="1200"/>
            <a:t> </a:t>
          </a:r>
          <a:r>
            <a:rPr lang="en-CA" sz="900" kern="1200">
              <a:hlinkClick xmlns:r="http://schemas.openxmlformats.org/officeDocument/2006/relationships" r:id="rId2"/>
            </a:rPr>
            <a:t>Tribune Online</a:t>
          </a:r>
          <a:endParaRPr lang="en-US" sz="900" kern="1200"/>
        </a:p>
      </dsp:txBody>
      <dsp:txXfrm>
        <a:off x="7758464" y="1178"/>
        <a:ext cx="2174490" cy="1304694"/>
      </dsp:txXfrm>
    </dsp:sp>
    <dsp:sp modelId="{9F8AD5C5-E9DF-4817-BF05-C0BA4F217724}">
      <dsp:nvSpPr>
        <dsp:cNvPr id="0" name=""/>
        <dsp:cNvSpPr/>
      </dsp:nvSpPr>
      <dsp:spPr>
        <a:xfrm>
          <a:off x="582645" y="1523321"/>
          <a:ext cx="2174490" cy="1304694"/>
        </a:xfrm>
        <a:prstGeom prst="rect">
          <a:avLst/>
        </a:prstGeom>
        <a:gradFill rotWithShape="0">
          <a:gsLst>
            <a:gs pos="0">
              <a:schemeClr val="accent2">
                <a:hueOff val="-582145"/>
                <a:satOff val="-33571"/>
                <a:lumOff val="3451"/>
                <a:alphaOff val="0"/>
                <a:satMod val="103000"/>
                <a:lumMod val="102000"/>
                <a:tint val="94000"/>
              </a:schemeClr>
            </a:gs>
            <a:gs pos="50000">
              <a:schemeClr val="accent2">
                <a:hueOff val="-582145"/>
                <a:satOff val="-33571"/>
                <a:lumOff val="3451"/>
                <a:alphaOff val="0"/>
                <a:satMod val="110000"/>
                <a:lumMod val="100000"/>
                <a:shade val="100000"/>
              </a:schemeClr>
            </a:gs>
            <a:gs pos="100000">
              <a:schemeClr val="accent2">
                <a:hueOff val="-582145"/>
                <a:satOff val="-33571"/>
                <a:lumOff val="345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CA" sz="900" b="1" kern="1200"/>
            <a:t>3. MO Africa Company report (N111.5 B revenue)</a:t>
          </a:r>
          <a:endParaRPr lang="en-US" sz="900" kern="1200"/>
        </a:p>
      </dsp:txBody>
      <dsp:txXfrm>
        <a:off x="582645" y="1523321"/>
        <a:ext cx="2174490" cy="1304694"/>
      </dsp:txXfrm>
    </dsp:sp>
    <dsp:sp modelId="{444CCE46-0F10-4F35-A1A4-79A3B834B3AB}">
      <dsp:nvSpPr>
        <dsp:cNvPr id="0" name=""/>
        <dsp:cNvSpPr/>
      </dsp:nvSpPr>
      <dsp:spPr>
        <a:xfrm>
          <a:off x="2974584" y="1523321"/>
          <a:ext cx="2174490" cy="1304694"/>
        </a:xfrm>
        <a:prstGeom prst="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CA" sz="900" kern="1200"/>
            <a:t>Report states ~</a:t>
          </a:r>
          <a:r>
            <a:rPr lang="en-CA" sz="900" b="1" kern="1200"/>
            <a:t>₦111.5 billion (~$71–$73 M)</a:t>
          </a:r>
          <a:r>
            <a:rPr lang="en-CA" sz="900" kern="1200"/>
            <a:t> total Dec 2024 revenue including hotels, short-lets, and nightlife. </a:t>
          </a:r>
          <a:r>
            <a:rPr lang="en-CA" sz="900" kern="1200">
              <a:hlinkClick xmlns:r="http://schemas.openxmlformats.org/officeDocument/2006/relationships" r:id="rId3"/>
            </a:rPr>
            <a:t>Atta Travel</a:t>
          </a:r>
          <a:br>
            <a:rPr lang="en-CA" sz="900" kern="1200"/>
          </a:br>
          <a:r>
            <a:rPr lang="en-CA" sz="900" kern="1200"/>
            <a:t>🔗 </a:t>
          </a:r>
          <a:r>
            <a:rPr lang="en-CA" sz="900" kern="1200">
              <a:hlinkClick xmlns:r="http://schemas.openxmlformats.org/officeDocument/2006/relationships" r:id="rId3"/>
            </a:rPr>
            <a:t>https://atta.travel/resource/lagos-generates-n111-5-billion-in-detty-december.html</a:t>
          </a:r>
          <a:r>
            <a:rPr lang="en-CA" sz="900" kern="1200"/>
            <a:t> </a:t>
          </a:r>
          <a:r>
            <a:rPr lang="en-CA" sz="900" kern="1200">
              <a:hlinkClick xmlns:r="http://schemas.openxmlformats.org/officeDocument/2006/relationships" r:id="rId3"/>
            </a:rPr>
            <a:t>Atta Travel</a:t>
          </a:r>
          <a:endParaRPr lang="en-US" sz="900" kern="1200"/>
        </a:p>
      </dsp:txBody>
      <dsp:txXfrm>
        <a:off x="2974584" y="1523321"/>
        <a:ext cx="2174490" cy="1304694"/>
      </dsp:txXfrm>
    </dsp:sp>
    <dsp:sp modelId="{E9CC60A0-CE27-4029-91D0-DF7BEE6F5303}">
      <dsp:nvSpPr>
        <dsp:cNvPr id="0" name=""/>
        <dsp:cNvSpPr/>
      </dsp:nvSpPr>
      <dsp:spPr>
        <a:xfrm>
          <a:off x="5366524" y="1523321"/>
          <a:ext cx="2174490" cy="1304694"/>
        </a:xfrm>
        <a:prstGeom prst="rect">
          <a:avLst/>
        </a:prstGeom>
        <a:gradFill rotWithShape="0">
          <a:gsLst>
            <a:gs pos="0">
              <a:schemeClr val="accent2">
                <a:hueOff val="-873218"/>
                <a:satOff val="-50357"/>
                <a:lumOff val="5177"/>
                <a:alphaOff val="0"/>
                <a:satMod val="103000"/>
                <a:lumMod val="102000"/>
                <a:tint val="94000"/>
              </a:schemeClr>
            </a:gs>
            <a:gs pos="50000">
              <a:schemeClr val="accent2">
                <a:hueOff val="-873218"/>
                <a:satOff val="-50357"/>
                <a:lumOff val="5177"/>
                <a:alphaOff val="0"/>
                <a:satMod val="110000"/>
                <a:lumMod val="100000"/>
                <a:shade val="100000"/>
              </a:schemeClr>
            </a:gs>
            <a:gs pos="100000">
              <a:schemeClr val="accent2">
                <a:hueOff val="-873218"/>
                <a:satOff val="-50357"/>
                <a:lumOff val="517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CA" sz="900" b="1" kern="1200"/>
            <a:t>Visitor / Tourism Context (Support documentation or explanatory notes)</a:t>
          </a:r>
          <a:endParaRPr lang="en-US" sz="900" kern="1200"/>
        </a:p>
      </dsp:txBody>
      <dsp:txXfrm>
        <a:off x="5366524" y="1523321"/>
        <a:ext cx="2174490" cy="1304694"/>
      </dsp:txXfrm>
    </dsp:sp>
    <dsp:sp modelId="{C1AB7C6D-F794-4AEB-B777-5037DF247469}">
      <dsp:nvSpPr>
        <dsp:cNvPr id="0" name=""/>
        <dsp:cNvSpPr/>
      </dsp:nvSpPr>
      <dsp:spPr>
        <a:xfrm>
          <a:off x="7758464" y="1523321"/>
          <a:ext cx="2174490" cy="1304694"/>
        </a:xfrm>
        <a:prstGeom prst="rect">
          <a:avLst/>
        </a:prstGeom>
        <a:gradFill rotWithShape="0">
          <a:gsLst>
            <a:gs pos="0">
              <a:schemeClr val="accent2">
                <a:hueOff val="-1018754"/>
                <a:satOff val="-58750"/>
                <a:lumOff val="6040"/>
                <a:alphaOff val="0"/>
                <a:satMod val="103000"/>
                <a:lumMod val="102000"/>
                <a:tint val="94000"/>
              </a:schemeClr>
            </a:gs>
            <a:gs pos="50000">
              <a:schemeClr val="accent2">
                <a:hueOff val="-1018754"/>
                <a:satOff val="-58750"/>
                <a:lumOff val="6040"/>
                <a:alphaOff val="0"/>
                <a:satMod val="110000"/>
                <a:lumMod val="100000"/>
                <a:shade val="100000"/>
              </a:schemeClr>
            </a:gs>
            <a:gs pos="100000">
              <a:schemeClr val="accent2">
                <a:hueOff val="-1018754"/>
                <a:satOff val="-58750"/>
                <a:lumOff val="604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CA" sz="900" b="1" kern="1200"/>
            <a:t>4. Visitor volume &amp; broader context</a:t>
          </a:r>
          <a:endParaRPr lang="en-US" sz="900" kern="1200"/>
        </a:p>
      </dsp:txBody>
      <dsp:txXfrm>
        <a:off x="7758464" y="1523321"/>
        <a:ext cx="2174490" cy="1304694"/>
      </dsp:txXfrm>
    </dsp:sp>
    <dsp:sp modelId="{FF89E35F-0932-4741-A277-6AB55F247CFA}">
      <dsp:nvSpPr>
        <dsp:cNvPr id="0" name=""/>
        <dsp:cNvSpPr/>
      </dsp:nvSpPr>
      <dsp:spPr>
        <a:xfrm>
          <a:off x="1778615" y="3045465"/>
          <a:ext cx="2174490" cy="1304694"/>
        </a:xfrm>
        <a:prstGeom prst="rect">
          <a:avLst/>
        </a:prstGeom>
        <a:gradFill rotWithShape="0">
          <a:gsLst>
            <a:gs pos="0">
              <a:schemeClr val="accent2">
                <a:hueOff val="-1164290"/>
                <a:satOff val="-67142"/>
                <a:lumOff val="6902"/>
                <a:alphaOff val="0"/>
                <a:satMod val="103000"/>
                <a:lumMod val="102000"/>
                <a:tint val="94000"/>
              </a:schemeClr>
            </a:gs>
            <a:gs pos="50000">
              <a:schemeClr val="accent2">
                <a:hueOff val="-1164290"/>
                <a:satOff val="-67142"/>
                <a:lumOff val="6902"/>
                <a:alphaOff val="0"/>
                <a:satMod val="110000"/>
                <a:lumMod val="100000"/>
                <a:shade val="100000"/>
              </a:schemeClr>
            </a:gs>
            <a:gs pos="100000">
              <a:schemeClr val="accent2">
                <a:hueOff val="-1164290"/>
                <a:satOff val="-67142"/>
                <a:lumOff val="690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CA" sz="900" kern="1200"/>
            <a:t>An estimated </a:t>
          </a:r>
          <a:r>
            <a:rPr lang="en-CA" sz="900" b="1" kern="1200"/>
            <a:t>1.2 million visitors</a:t>
          </a:r>
          <a:r>
            <a:rPr lang="en-CA" sz="900" kern="1200"/>
            <a:t> were noted during the December 2024 period (domestic + international), with Lagos seeing high inflows. </a:t>
          </a:r>
          <a:r>
            <a:rPr lang="en-CA" sz="900" kern="1200">
              <a:hlinkClick xmlns:r="http://schemas.openxmlformats.org/officeDocument/2006/relationships" r:id="rId4"/>
            </a:rPr>
            <a:t>The Guardian Nigeria</a:t>
          </a:r>
          <a:br>
            <a:rPr lang="en-CA" sz="900" kern="1200"/>
          </a:br>
          <a:r>
            <a:rPr lang="en-CA" sz="900" kern="1200"/>
            <a:t>🔗 </a:t>
          </a:r>
          <a:r>
            <a:rPr lang="en-CA" sz="900" kern="1200">
              <a:hlinkClick xmlns:r="http://schemas.openxmlformats.org/officeDocument/2006/relationships" r:id="rId4"/>
            </a:rPr>
            <a:t>https://guardian.ng/news/pricing-weak-tourism-infrastructure-threaten-2b-detty-december-target/</a:t>
          </a:r>
          <a:r>
            <a:rPr lang="en-CA" sz="900" kern="1200"/>
            <a:t> </a:t>
          </a:r>
          <a:r>
            <a:rPr lang="en-CA" sz="900" kern="1200">
              <a:hlinkClick xmlns:r="http://schemas.openxmlformats.org/officeDocument/2006/relationships" r:id="rId4"/>
            </a:rPr>
            <a:t>The Guardian Nigeria</a:t>
          </a:r>
          <a:endParaRPr lang="en-US" sz="900" kern="1200"/>
        </a:p>
      </dsp:txBody>
      <dsp:txXfrm>
        <a:off x="1778615" y="3045465"/>
        <a:ext cx="2174490" cy="1304694"/>
      </dsp:txXfrm>
    </dsp:sp>
    <dsp:sp modelId="{360DF615-41D6-4A00-B28F-538B25808FBD}">
      <dsp:nvSpPr>
        <dsp:cNvPr id="0" name=""/>
        <dsp:cNvSpPr/>
      </dsp:nvSpPr>
      <dsp:spPr>
        <a:xfrm>
          <a:off x="4170554" y="3045465"/>
          <a:ext cx="2174490" cy="1304694"/>
        </a:xfrm>
        <a:prstGeom prst="rect">
          <a:avLst/>
        </a:prstGeom>
        <a:gradFill rotWithShape="0">
          <a:gsLst>
            <a:gs pos="0">
              <a:schemeClr val="accent2">
                <a:hueOff val="-1309827"/>
                <a:satOff val="-75535"/>
                <a:lumOff val="7765"/>
                <a:alphaOff val="0"/>
                <a:satMod val="103000"/>
                <a:lumMod val="102000"/>
                <a:tint val="94000"/>
              </a:schemeClr>
            </a:gs>
            <a:gs pos="50000">
              <a:schemeClr val="accent2">
                <a:hueOff val="-1309827"/>
                <a:satOff val="-75535"/>
                <a:lumOff val="7765"/>
                <a:alphaOff val="0"/>
                <a:satMod val="110000"/>
                <a:lumMod val="100000"/>
                <a:shade val="100000"/>
              </a:schemeClr>
            </a:gs>
            <a:gs pos="100000">
              <a:schemeClr val="accent2">
                <a:hueOff val="-1309827"/>
                <a:satOff val="-75535"/>
                <a:lumOff val="77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CA" sz="900" b="1" kern="1200"/>
            <a:t>5. Aviation relevance for model context</a:t>
          </a:r>
          <a:endParaRPr lang="en-US" sz="900" kern="1200"/>
        </a:p>
      </dsp:txBody>
      <dsp:txXfrm>
        <a:off x="4170554" y="3045465"/>
        <a:ext cx="2174490" cy="1304694"/>
      </dsp:txXfrm>
    </dsp:sp>
    <dsp:sp modelId="{1BC92765-5612-4B77-9DF9-6D9253A96D58}">
      <dsp:nvSpPr>
        <dsp:cNvPr id="0" name=""/>
        <dsp:cNvSpPr/>
      </dsp:nvSpPr>
      <dsp:spPr>
        <a:xfrm>
          <a:off x="6562494" y="3045465"/>
          <a:ext cx="2174490" cy="1304694"/>
        </a:xfrm>
        <a:prstGeom prst="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CA" sz="900" kern="1200"/>
            <a:t>Nigeria handled </a:t>
          </a:r>
          <a:r>
            <a:rPr lang="en-CA" sz="900" b="1" kern="1200"/>
            <a:t>~15.6 million total air passengers in 2024</a:t>
          </a:r>
          <a:r>
            <a:rPr lang="en-CA" sz="900" kern="1200"/>
            <a:t>, with ~11.5 million domestic and ~4.1–4.3 million international, driven largely by Lagos and Abuja. </a:t>
          </a:r>
          <a:r>
            <a:rPr lang="en-CA" sz="900" kern="1200">
              <a:hlinkClick xmlns:r="http://schemas.openxmlformats.org/officeDocument/2006/relationships" r:id="rId5"/>
            </a:rPr>
            <a:t>DAILY TIMES Nigeria</a:t>
          </a:r>
          <a:br>
            <a:rPr lang="en-CA" sz="900" kern="1200"/>
          </a:br>
          <a:r>
            <a:rPr lang="en-CA" sz="900" kern="1200"/>
            <a:t>🔗 </a:t>
          </a:r>
          <a:r>
            <a:rPr lang="en-CA" sz="900" kern="1200">
              <a:hlinkClick xmlns:r="http://schemas.openxmlformats.org/officeDocument/2006/relationships" r:id="rId5"/>
            </a:rPr>
            <a:t>https://dailytimesng.com/detty-december-is-nigerias-aviation-sector-ready-for-the-year-end-surge/</a:t>
          </a:r>
          <a:r>
            <a:rPr lang="en-CA" sz="900" kern="1200"/>
            <a:t> </a:t>
          </a:r>
          <a:r>
            <a:rPr lang="en-CA" sz="900" kern="1200">
              <a:hlinkClick xmlns:r="http://schemas.openxmlformats.org/officeDocument/2006/relationships" r:id="rId5"/>
            </a:rPr>
            <a:t>DAILY TIMES Nigeria</a:t>
          </a:r>
          <a:endParaRPr lang="en-US" sz="900" kern="1200"/>
        </a:p>
      </dsp:txBody>
      <dsp:txXfrm>
        <a:off x="6562494" y="3045465"/>
        <a:ext cx="2174490" cy="130469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A665FB-0018-40BB-A9F9-7BE6D3C795CF}" type="datetimeFigureOut">
              <a:rPr lang="en-US" smtClean="0"/>
              <a:t>12/29/2025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F6E855-DD32-4903-AB0F-177C36A40FE4}" type="slidenum">
              <a:rPr lang="en-US" smtClean="0"/>
              <a:t>‹#›</a:t>
            </a:fld>
            <a:endParaRPr lang="en-US"/>
          </a:p>
        </p:txBody>
      </p:sp>
    </p:spTree>
    <p:extLst>
      <p:ext uri="{BB962C8B-B14F-4D97-AF65-F5344CB8AC3E}">
        <p14:creationId xmlns:p14="http://schemas.microsoft.com/office/powerpoint/2010/main" val="2136966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For the High Level Business Understanding focus on the Case Study supplied.</a:t>
            </a:r>
          </a:p>
        </p:txBody>
      </p:sp>
      <p:sp>
        <p:nvSpPr>
          <p:cNvPr id="4" name="Slide Number Placeholder 3"/>
          <p:cNvSpPr>
            <a:spLocks noGrp="1"/>
          </p:cNvSpPr>
          <p:nvPr>
            <p:ph type="sldNum" sz="quarter" idx="5"/>
          </p:nvPr>
        </p:nvSpPr>
        <p:spPr/>
        <p:txBody>
          <a:bodyPr/>
          <a:lstStyle/>
          <a:p>
            <a:fld id="{D7F6E855-DD32-4903-AB0F-177C36A40FE4}" type="slidenum">
              <a:rPr lang="en-US" smtClean="0"/>
              <a:t>2</a:t>
            </a:fld>
            <a:endParaRPr lang="en-US"/>
          </a:p>
        </p:txBody>
      </p:sp>
    </p:spTree>
    <p:extLst>
      <p:ext uri="{BB962C8B-B14F-4D97-AF65-F5344CB8AC3E}">
        <p14:creationId xmlns:p14="http://schemas.microsoft.com/office/powerpoint/2010/main" val="2828939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F6E855-DD32-4903-AB0F-177C36A40FE4}" type="slidenum">
              <a:rPr lang="en-US" smtClean="0"/>
              <a:t>3</a:t>
            </a:fld>
            <a:endParaRPr lang="en-US"/>
          </a:p>
        </p:txBody>
      </p:sp>
    </p:spTree>
    <p:extLst>
      <p:ext uri="{BB962C8B-B14F-4D97-AF65-F5344CB8AC3E}">
        <p14:creationId xmlns:p14="http://schemas.microsoft.com/office/powerpoint/2010/main" val="1004174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Who is involved?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Who is affected?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Who will benefit?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Who will be harmed?</a:t>
            </a:r>
          </a:p>
        </p:txBody>
      </p:sp>
      <p:sp>
        <p:nvSpPr>
          <p:cNvPr id="4" name="Slide Number Placeholder 3"/>
          <p:cNvSpPr>
            <a:spLocks noGrp="1"/>
          </p:cNvSpPr>
          <p:nvPr>
            <p:ph type="sldNum" sz="quarter" idx="5"/>
          </p:nvPr>
        </p:nvSpPr>
        <p:spPr/>
        <p:txBody>
          <a:bodyPr/>
          <a:lstStyle/>
          <a:p>
            <a:fld id="{D7F6E855-DD32-4903-AB0F-177C36A40FE4}" type="slidenum">
              <a:rPr lang="en-US" smtClean="0"/>
              <a:t>5</a:t>
            </a:fld>
            <a:endParaRPr lang="en-US"/>
          </a:p>
        </p:txBody>
      </p:sp>
    </p:spTree>
    <p:extLst>
      <p:ext uri="{BB962C8B-B14F-4D97-AF65-F5344CB8AC3E}">
        <p14:creationId xmlns:p14="http://schemas.microsoft.com/office/powerpoint/2010/main" val="1827621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What is your topic narrowed down in a simple phrase/sentence?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What does your topic involve? (i.e. What are the different parts to 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What is it similar to / different from?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What might be affected/changed by your topic?</a:t>
            </a:r>
          </a:p>
        </p:txBody>
      </p:sp>
      <p:sp>
        <p:nvSpPr>
          <p:cNvPr id="4" name="Slide Number Placeholder 3"/>
          <p:cNvSpPr>
            <a:spLocks noGrp="1"/>
          </p:cNvSpPr>
          <p:nvPr>
            <p:ph type="sldNum" sz="quarter" idx="5"/>
          </p:nvPr>
        </p:nvSpPr>
        <p:spPr/>
        <p:txBody>
          <a:bodyPr/>
          <a:lstStyle/>
          <a:p>
            <a:fld id="{D7F6E855-DD32-4903-AB0F-177C36A40FE4}" type="slidenum">
              <a:rPr lang="en-US" smtClean="0"/>
              <a:t>6</a:t>
            </a:fld>
            <a:endParaRPr lang="en-US"/>
          </a:p>
        </p:txBody>
      </p:sp>
    </p:spTree>
    <p:extLst>
      <p:ext uri="{BB962C8B-B14F-4D97-AF65-F5344CB8AC3E}">
        <p14:creationId xmlns:p14="http://schemas.microsoft.com/office/powerpoint/2010/main" val="3819589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When does this take place? When did this take place? When will it take place? When should this take place?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Does when this takes place affect the topic?</a:t>
            </a:r>
          </a:p>
        </p:txBody>
      </p:sp>
      <p:sp>
        <p:nvSpPr>
          <p:cNvPr id="4" name="Slide Number Placeholder 3"/>
          <p:cNvSpPr>
            <a:spLocks noGrp="1"/>
          </p:cNvSpPr>
          <p:nvPr>
            <p:ph type="sldNum" sz="quarter" idx="5"/>
          </p:nvPr>
        </p:nvSpPr>
        <p:spPr/>
        <p:txBody>
          <a:bodyPr/>
          <a:lstStyle/>
          <a:p>
            <a:fld id="{D7F6E855-DD32-4903-AB0F-177C36A40FE4}" type="slidenum">
              <a:rPr lang="en-US" smtClean="0"/>
              <a:t>7</a:t>
            </a:fld>
            <a:endParaRPr lang="en-US"/>
          </a:p>
        </p:txBody>
      </p:sp>
    </p:spTree>
    <p:extLst>
      <p:ext uri="{BB962C8B-B14F-4D97-AF65-F5344CB8AC3E}">
        <p14:creationId xmlns:p14="http://schemas.microsoft.com/office/powerpoint/2010/main" val="354032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Where does this take place? (Where did it …. Where will it … Where should it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Does it matter where it takes place? Is it affected by location?</a:t>
            </a:r>
          </a:p>
        </p:txBody>
      </p:sp>
      <p:sp>
        <p:nvSpPr>
          <p:cNvPr id="4" name="Slide Number Placeholder 3"/>
          <p:cNvSpPr>
            <a:spLocks noGrp="1"/>
          </p:cNvSpPr>
          <p:nvPr>
            <p:ph type="sldNum" sz="quarter" idx="5"/>
          </p:nvPr>
        </p:nvSpPr>
        <p:spPr/>
        <p:txBody>
          <a:bodyPr/>
          <a:lstStyle/>
          <a:p>
            <a:fld id="{D7F6E855-DD32-4903-AB0F-177C36A40FE4}" type="slidenum">
              <a:rPr lang="en-US" smtClean="0"/>
              <a:t>8</a:t>
            </a:fld>
            <a:endParaRPr lang="en-US"/>
          </a:p>
        </p:txBody>
      </p:sp>
    </p:spTree>
    <p:extLst>
      <p:ext uri="{BB962C8B-B14F-4D97-AF65-F5344CB8AC3E}">
        <p14:creationId xmlns:p14="http://schemas.microsoft.com/office/powerpoint/2010/main" val="1912950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Why is this topic important? Why does it matter?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Why do certain things happen? (What are some causes and effects within the topic?)</a:t>
            </a:r>
          </a:p>
        </p:txBody>
      </p:sp>
      <p:sp>
        <p:nvSpPr>
          <p:cNvPr id="4" name="Slide Number Placeholder 3"/>
          <p:cNvSpPr>
            <a:spLocks noGrp="1"/>
          </p:cNvSpPr>
          <p:nvPr>
            <p:ph type="sldNum" sz="quarter" idx="5"/>
          </p:nvPr>
        </p:nvSpPr>
        <p:spPr/>
        <p:txBody>
          <a:bodyPr/>
          <a:lstStyle/>
          <a:p>
            <a:fld id="{D7F6E855-DD32-4903-AB0F-177C36A40FE4}" type="slidenum">
              <a:rPr lang="en-US" smtClean="0"/>
              <a:t>9</a:t>
            </a:fld>
            <a:endParaRPr lang="en-US"/>
          </a:p>
        </p:txBody>
      </p:sp>
    </p:spTree>
    <p:extLst>
      <p:ext uri="{BB962C8B-B14F-4D97-AF65-F5344CB8AC3E}">
        <p14:creationId xmlns:p14="http://schemas.microsoft.com/office/powerpoint/2010/main" val="3653397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How does this topic work? How does it function? How does it do what it does?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How did it come to be?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How are those involved affected?</a:t>
            </a:r>
          </a:p>
        </p:txBody>
      </p:sp>
      <p:sp>
        <p:nvSpPr>
          <p:cNvPr id="4" name="Slide Number Placeholder 3"/>
          <p:cNvSpPr>
            <a:spLocks noGrp="1"/>
          </p:cNvSpPr>
          <p:nvPr>
            <p:ph type="sldNum" sz="quarter" idx="5"/>
          </p:nvPr>
        </p:nvSpPr>
        <p:spPr/>
        <p:txBody>
          <a:bodyPr/>
          <a:lstStyle/>
          <a:p>
            <a:fld id="{D7F6E855-DD32-4903-AB0F-177C36A40FE4}" type="slidenum">
              <a:rPr lang="en-US" smtClean="0"/>
              <a:t>10</a:t>
            </a:fld>
            <a:endParaRPr lang="en-US"/>
          </a:p>
        </p:txBody>
      </p:sp>
    </p:spTree>
    <p:extLst>
      <p:ext uri="{BB962C8B-B14F-4D97-AF65-F5344CB8AC3E}">
        <p14:creationId xmlns:p14="http://schemas.microsoft.com/office/powerpoint/2010/main" val="41112380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Load the Data Set into SQL Server. </a:t>
            </a:r>
          </a:p>
          <a:p>
            <a:r>
              <a:rPr lang="en-US" b="1"/>
              <a:t>Use the SQL Server Management Studio (SSMS) Diagramming tool to produce the Database Diagram.</a:t>
            </a:r>
          </a:p>
        </p:txBody>
      </p:sp>
      <p:sp>
        <p:nvSpPr>
          <p:cNvPr id="4" name="Slide Number Placeholder 3"/>
          <p:cNvSpPr>
            <a:spLocks noGrp="1"/>
          </p:cNvSpPr>
          <p:nvPr>
            <p:ph type="sldNum" sz="quarter" idx="5"/>
          </p:nvPr>
        </p:nvSpPr>
        <p:spPr/>
        <p:txBody>
          <a:bodyPr/>
          <a:lstStyle/>
          <a:p>
            <a:fld id="{D7F6E855-DD32-4903-AB0F-177C36A40FE4}" type="slidenum">
              <a:rPr lang="en-US" smtClean="0"/>
              <a:t>18</a:t>
            </a:fld>
            <a:endParaRPr lang="en-US"/>
          </a:p>
        </p:txBody>
      </p:sp>
    </p:spTree>
    <p:extLst>
      <p:ext uri="{BB962C8B-B14F-4D97-AF65-F5344CB8AC3E}">
        <p14:creationId xmlns:p14="http://schemas.microsoft.com/office/powerpoint/2010/main" val="42713955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Document any data cleansing that was required, any quality issues encountered with the data.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6E855-DD32-4903-AB0F-177C36A40F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66183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The answer to the question from Slide 21 needs to be supported by the data visualized in the previous steps.</a:t>
            </a:r>
          </a:p>
        </p:txBody>
      </p:sp>
      <p:sp>
        <p:nvSpPr>
          <p:cNvPr id="4" name="Slide Number Placeholder 3"/>
          <p:cNvSpPr>
            <a:spLocks noGrp="1"/>
          </p:cNvSpPr>
          <p:nvPr>
            <p:ph type="sldNum" sz="quarter" idx="5"/>
          </p:nvPr>
        </p:nvSpPr>
        <p:spPr/>
        <p:txBody>
          <a:bodyPr/>
          <a:lstStyle/>
          <a:p>
            <a:fld id="{D7F6E855-DD32-4903-AB0F-177C36A40FE4}" type="slidenum">
              <a:rPr lang="en-US" smtClean="0"/>
              <a:t>25</a:t>
            </a:fld>
            <a:endParaRPr lang="en-US"/>
          </a:p>
        </p:txBody>
      </p:sp>
    </p:spTree>
    <p:extLst>
      <p:ext uri="{BB962C8B-B14F-4D97-AF65-F5344CB8AC3E}">
        <p14:creationId xmlns:p14="http://schemas.microsoft.com/office/powerpoint/2010/main" val="1947682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DBB72-572E-F304-726F-61BD0DD3B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D7E6FE-A384-4060-BCDE-924EBF046F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269E98-FFE4-61A2-AC3F-635C37109AC1}"/>
              </a:ext>
            </a:extLst>
          </p:cNvPr>
          <p:cNvSpPr>
            <a:spLocks noGrp="1"/>
          </p:cNvSpPr>
          <p:nvPr>
            <p:ph type="body" idx="1"/>
          </p:nvPr>
        </p:nvSpPr>
        <p:spPr/>
        <p:txBody>
          <a:bodyPr/>
          <a:lstStyle/>
          <a:p>
            <a:r>
              <a:rPr lang="en-US" b="1"/>
              <a:t>The answer to the question from Slide 21 needs to be supported by the data visualized in the previous steps.</a:t>
            </a:r>
          </a:p>
        </p:txBody>
      </p:sp>
      <p:sp>
        <p:nvSpPr>
          <p:cNvPr id="4" name="Slide Number Placeholder 3">
            <a:extLst>
              <a:ext uri="{FF2B5EF4-FFF2-40B4-BE49-F238E27FC236}">
                <a16:creationId xmlns:a16="http://schemas.microsoft.com/office/drawing/2014/main" id="{78D17180-4EC3-2E99-678D-D4BDF5D9A38D}"/>
              </a:ext>
            </a:extLst>
          </p:cNvPr>
          <p:cNvSpPr>
            <a:spLocks noGrp="1"/>
          </p:cNvSpPr>
          <p:nvPr>
            <p:ph type="sldNum" sz="quarter" idx="5"/>
          </p:nvPr>
        </p:nvSpPr>
        <p:spPr/>
        <p:txBody>
          <a:bodyPr/>
          <a:lstStyle/>
          <a:p>
            <a:fld id="{D7F6E855-DD32-4903-AB0F-177C36A40FE4}" type="slidenum">
              <a:rPr lang="en-US" smtClean="0"/>
              <a:t>26</a:t>
            </a:fld>
            <a:endParaRPr lang="en-US"/>
          </a:p>
        </p:txBody>
      </p:sp>
    </p:spTree>
    <p:extLst>
      <p:ext uri="{BB962C8B-B14F-4D97-AF65-F5344CB8AC3E}">
        <p14:creationId xmlns:p14="http://schemas.microsoft.com/office/powerpoint/2010/main" val="17937811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F8E5-95A4-A00A-F313-3F358665ED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00EF40-BD36-F9A3-4AF7-21CB4BC140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50DEC5-C10A-0F6D-144A-0487ADC4906C}"/>
              </a:ext>
            </a:extLst>
          </p:cNvPr>
          <p:cNvSpPr>
            <a:spLocks noGrp="1"/>
          </p:cNvSpPr>
          <p:nvPr>
            <p:ph type="body" idx="1"/>
          </p:nvPr>
        </p:nvSpPr>
        <p:spPr/>
        <p:txBody>
          <a:bodyPr/>
          <a:lstStyle/>
          <a:p>
            <a:r>
              <a:rPr lang="en-US" b="1"/>
              <a:t>The answer to the question from Slide 21 needs to be supported by the data visualized in the previous steps.</a:t>
            </a:r>
          </a:p>
        </p:txBody>
      </p:sp>
      <p:sp>
        <p:nvSpPr>
          <p:cNvPr id="4" name="Slide Number Placeholder 3">
            <a:extLst>
              <a:ext uri="{FF2B5EF4-FFF2-40B4-BE49-F238E27FC236}">
                <a16:creationId xmlns:a16="http://schemas.microsoft.com/office/drawing/2014/main" id="{E78B0D00-B032-12E9-2FCD-9CA3E8793FC9}"/>
              </a:ext>
            </a:extLst>
          </p:cNvPr>
          <p:cNvSpPr>
            <a:spLocks noGrp="1"/>
          </p:cNvSpPr>
          <p:nvPr>
            <p:ph type="sldNum" sz="quarter" idx="5"/>
          </p:nvPr>
        </p:nvSpPr>
        <p:spPr/>
        <p:txBody>
          <a:bodyPr/>
          <a:lstStyle/>
          <a:p>
            <a:fld id="{D7F6E855-DD32-4903-AB0F-177C36A40FE4}" type="slidenum">
              <a:rPr lang="en-US" smtClean="0"/>
              <a:t>27</a:t>
            </a:fld>
            <a:endParaRPr lang="en-US"/>
          </a:p>
        </p:txBody>
      </p:sp>
    </p:spTree>
    <p:extLst>
      <p:ext uri="{BB962C8B-B14F-4D97-AF65-F5344CB8AC3E}">
        <p14:creationId xmlns:p14="http://schemas.microsoft.com/office/powerpoint/2010/main" val="36133996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FD45C-7206-640D-2AE1-450B245E26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A10FB7-4ACC-B0E7-C56E-5C8BE35496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D536C4-21CF-DC21-2002-BF7CFCE3B891}"/>
              </a:ext>
            </a:extLst>
          </p:cNvPr>
          <p:cNvSpPr>
            <a:spLocks noGrp="1"/>
          </p:cNvSpPr>
          <p:nvPr>
            <p:ph type="body" idx="1"/>
          </p:nvPr>
        </p:nvSpPr>
        <p:spPr/>
        <p:txBody>
          <a:bodyPr/>
          <a:lstStyle/>
          <a:p>
            <a:r>
              <a:rPr lang="en-US" b="1"/>
              <a:t>The answer to the question from Slide 21 needs to be supported by the data visualized in the previous steps.</a:t>
            </a:r>
          </a:p>
        </p:txBody>
      </p:sp>
      <p:sp>
        <p:nvSpPr>
          <p:cNvPr id="4" name="Slide Number Placeholder 3">
            <a:extLst>
              <a:ext uri="{FF2B5EF4-FFF2-40B4-BE49-F238E27FC236}">
                <a16:creationId xmlns:a16="http://schemas.microsoft.com/office/drawing/2014/main" id="{24D06862-FE20-02CD-5039-E28F4CECB2E3}"/>
              </a:ext>
            </a:extLst>
          </p:cNvPr>
          <p:cNvSpPr>
            <a:spLocks noGrp="1"/>
          </p:cNvSpPr>
          <p:nvPr>
            <p:ph type="sldNum" sz="quarter" idx="5"/>
          </p:nvPr>
        </p:nvSpPr>
        <p:spPr/>
        <p:txBody>
          <a:bodyPr/>
          <a:lstStyle/>
          <a:p>
            <a:fld id="{D7F6E855-DD32-4903-AB0F-177C36A40FE4}" type="slidenum">
              <a:rPr lang="en-US" smtClean="0"/>
              <a:t>28</a:t>
            </a:fld>
            <a:endParaRPr lang="en-US"/>
          </a:p>
        </p:txBody>
      </p:sp>
    </p:spTree>
    <p:extLst>
      <p:ext uri="{BB962C8B-B14F-4D97-AF65-F5344CB8AC3E}">
        <p14:creationId xmlns:p14="http://schemas.microsoft.com/office/powerpoint/2010/main" val="1814415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4D76F-17E3-577C-3F51-59BE52C16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419827-A8A9-808E-E001-57C4FF51F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1C45F8-D271-218F-29E2-34453DF0795F}"/>
              </a:ext>
            </a:extLst>
          </p:cNvPr>
          <p:cNvSpPr>
            <a:spLocks noGrp="1"/>
          </p:cNvSpPr>
          <p:nvPr>
            <p:ph type="body" idx="1"/>
          </p:nvPr>
        </p:nvSpPr>
        <p:spPr/>
        <p:txBody>
          <a:bodyPr/>
          <a:lstStyle/>
          <a:p>
            <a:r>
              <a:rPr lang="en-US" b="1"/>
              <a:t>The answer to the question from Slide 21 needs to be supported by the data visualized in the previous steps.</a:t>
            </a:r>
          </a:p>
        </p:txBody>
      </p:sp>
      <p:sp>
        <p:nvSpPr>
          <p:cNvPr id="4" name="Slide Number Placeholder 3">
            <a:extLst>
              <a:ext uri="{FF2B5EF4-FFF2-40B4-BE49-F238E27FC236}">
                <a16:creationId xmlns:a16="http://schemas.microsoft.com/office/drawing/2014/main" id="{B70DF58F-7407-CABA-1FD0-1DD59851E4D2}"/>
              </a:ext>
            </a:extLst>
          </p:cNvPr>
          <p:cNvSpPr>
            <a:spLocks noGrp="1"/>
          </p:cNvSpPr>
          <p:nvPr>
            <p:ph type="sldNum" sz="quarter" idx="5"/>
          </p:nvPr>
        </p:nvSpPr>
        <p:spPr/>
        <p:txBody>
          <a:bodyPr/>
          <a:lstStyle/>
          <a:p>
            <a:fld id="{D7F6E855-DD32-4903-AB0F-177C36A40FE4}" type="slidenum">
              <a:rPr lang="en-US" smtClean="0"/>
              <a:t>29</a:t>
            </a:fld>
            <a:endParaRPr lang="en-US"/>
          </a:p>
        </p:txBody>
      </p:sp>
    </p:spTree>
    <p:extLst>
      <p:ext uri="{BB962C8B-B14F-4D97-AF65-F5344CB8AC3E}">
        <p14:creationId xmlns:p14="http://schemas.microsoft.com/office/powerpoint/2010/main" val="20190079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The answer to the question from Slide 21 needs to be supported by the data visualized in the previous steps.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6E855-DD32-4903-AB0F-177C36A40F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5182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2CEEA-14F5-4039-BF7F-6D8CB33FD3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26472FD9-6450-49FE-98AB-30EF2A3783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5CB53678-8A7F-4787-A7FC-F3B1642880A8}"/>
              </a:ext>
            </a:extLst>
          </p:cNvPr>
          <p:cNvSpPr>
            <a:spLocks noGrp="1"/>
          </p:cNvSpPr>
          <p:nvPr>
            <p:ph type="dt" sz="half" idx="10"/>
          </p:nvPr>
        </p:nvSpPr>
        <p:spPr/>
        <p:txBody>
          <a:bodyPr/>
          <a:lstStyle/>
          <a:p>
            <a:fld id="{561F96C2-6BBE-47A1-BB80-63240F6DFA28}" type="datetimeFigureOut">
              <a:rPr lang="en-CA" smtClean="0"/>
              <a:t>12/29/25</a:t>
            </a:fld>
            <a:endParaRPr lang="en-CA"/>
          </a:p>
        </p:txBody>
      </p:sp>
      <p:sp>
        <p:nvSpPr>
          <p:cNvPr id="5" name="Footer Placeholder 4">
            <a:extLst>
              <a:ext uri="{FF2B5EF4-FFF2-40B4-BE49-F238E27FC236}">
                <a16:creationId xmlns:a16="http://schemas.microsoft.com/office/drawing/2014/main" id="{6AFC749A-DC9B-4DB8-82C2-AB8E496F09E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01F4E97-13F0-476B-B232-ADEFF96539FD}"/>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3061062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E055C-A348-4F31-99E5-ED54D2FB039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B5A7F52-4A46-4313-8011-E9BA834EBC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CC6C17-6F44-4D7D-84E8-FCFC45558B38}"/>
              </a:ext>
            </a:extLst>
          </p:cNvPr>
          <p:cNvSpPr>
            <a:spLocks noGrp="1"/>
          </p:cNvSpPr>
          <p:nvPr>
            <p:ph type="dt" sz="half" idx="10"/>
          </p:nvPr>
        </p:nvSpPr>
        <p:spPr/>
        <p:txBody>
          <a:bodyPr/>
          <a:lstStyle/>
          <a:p>
            <a:fld id="{561F96C2-6BBE-47A1-BB80-63240F6DFA28}" type="datetimeFigureOut">
              <a:rPr lang="en-CA" smtClean="0"/>
              <a:t>12/29/25</a:t>
            </a:fld>
            <a:endParaRPr lang="en-CA"/>
          </a:p>
        </p:txBody>
      </p:sp>
      <p:sp>
        <p:nvSpPr>
          <p:cNvPr id="5" name="Footer Placeholder 4">
            <a:extLst>
              <a:ext uri="{FF2B5EF4-FFF2-40B4-BE49-F238E27FC236}">
                <a16:creationId xmlns:a16="http://schemas.microsoft.com/office/drawing/2014/main" id="{4F069471-7764-4766-889B-E41EDEC7E35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8B7BA9F-8EA5-4667-9F7C-4FE6B6DE04D7}"/>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3050671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8E2E2-A787-4D20-8408-B1A8068FD5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A5C08A8D-581D-4585-8E9D-0B0927C2B4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237F8C-662B-422A-B99A-099DED8427AF}"/>
              </a:ext>
            </a:extLst>
          </p:cNvPr>
          <p:cNvSpPr>
            <a:spLocks noGrp="1"/>
          </p:cNvSpPr>
          <p:nvPr>
            <p:ph type="dt" sz="half" idx="10"/>
          </p:nvPr>
        </p:nvSpPr>
        <p:spPr/>
        <p:txBody>
          <a:bodyPr/>
          <a:lstStyle/>
          <a:p>
            <a:fld id="{561F96C2-6BBE-47A1-BB80-63240F6DFA28}" type="datetimeFigureOut">
              <a:rPr lang="en-CA" smtClean="0"/>
              <a:t>12/29/25</a:t>
            </a:fld>
            <a:endParaRPr lang="en-CA"/>
          </a:p>
        </p:txBody>
      </p:sp>
      <p:sp>
        <p:nvSpPr>
          <p:cNvPr id="5" name="Footer Placeholder 4">
            <a:extLst>
              <a:ext uri="{FF2B5EF4-FFF2-40B4-BE49-F238E27FC236}">
                <a16:creationId xmlns:a16="http://schemas.microsoft.com/office/drawing/2014/main" id="{EA9D1F98-B5F7-4DB2-96FB-667E09363F9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3ECFC0D-80E4-46B4-8DD7-A496D87D63CA}"/>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2224911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73E72-B643-4017-9D0F-DC9F65CF839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A9A5EB3-7494-4011-89FC-2362016CF2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6980FCAA-4D75-4A96-9F5F-9B5B8A6727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871CC502-1709-4A66-A072-074A0692C16B}"/>
              </a:ext>
            </a:extLst>
          </p:cNvPr>
          <p:cNvSpPr>
            <a:spLocks noGrp="1"/>
          </p:cNvSpPr>
          <p:nvPr>
            <p:ph type="dt" sz="half" idx="10"/>
          </p:nvPr>
        </p:nvSpPr>
        <p:spPr/>
        <p:txBody>
          <a:bodyPr/>
          <a:lstStyle/>
          <a:p>
            <a:fld id="{561F96C2-6BBE-47A1-BB80-63240F6DFA28}" type="datetimeFigureOut">
              <a:rPr lang="en-CA" smtClean="0"/>
              <a:t>12/29/25</a:t>
            </a:fld>
            <a:endParaRPr lang="en-CA"/>
          </a:p>
        </p:txBody>
      </p:sp>
      <p:sp>
        <p:nvSpPr>
          <p:cNvPr id="6" name="Footer Placeholder 5">
            <a:extLst>
              <a:ext uri="{FF2B5EF4-FFF2-40B4-BE49-F238E27FC236}">
                <a16:creationId xmlns:a16="http://schemas.microsoft.com/office/drawing/2014/main" id="{28F8DFFA-6EBE-4629-B929-1A8DF819E43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86A3D87-3D02-404B-9FBC-4EFF1D799A21}"/>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3951353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A26F1-309F-42BF-A3FD-875119B1C7BA}"/>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E92E5CB-3057-4A87-90BA-3D9777046F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D840FE-1423-4FDB-8E23-BF8BC28FE1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AC83E8E5-70B3-4DB7-A8AD-DBCD770BC0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04497B-0F58-439F-BE06-5231002298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54E28929-2925-471B-A082-57CBEE0E65D9}"/>
              </a:ext>
            </a:extLst>
          </p:cNvPr>
          <p:cNvSpPr>
            <a:spLocks noGrp="1"/>
          </p:cNvSpPr>
          <p:nvPr>
            <p:ph type="dt" sz="half" idx="10"/>
          </p:nvPr>
        </p:nvSpPr>
        <p:spPr/>
        <p:txBody>
          <a:bodyPr/>
          <a:lstStyle/>
          <a:p>
            <a:fld id="{561F96C2-6BBE-47A1-BB80-63240F6DFA28}" type="datetimeFigureOut">
              <a:rPr lang="en-CA" smtClean="0"/>
              <a:t>12/29/25</a:t>
            </a:fld>
            <a:endParaRPr lang="en-CA"/>
          </a:p>
        </p:txBody>
      </p:sp>
      <p:sp>
        <p:nvSpPr>
          <p:cNvPr id="8" name="Footer Placeholder 7">
            <a:extLst>
              <a:ext uri="{FF2B5EF4-FFF2-40B4-BE49-F238E27FC236}">
                <a16:creationId xmlns:a16="http://schemas.microsoft.com/office/drawing/2014/main" id="{531FBBCE-BC08-4EBD-8950-BD9E1509CB5E}"/>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60395179-D392-4C55-81D7-1DBB9C6E20B2}"/>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530851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A3577-CBFC-4C55-BDCD-5F62E3061B0C}"/>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80CEA593-0101-49E9-A39B-40E3C671A216}"/>
              </a:ext>
            </a:extLst>
          </p:cNvPr>
          <p:cNvSpPr>
            <a:spLocks noGrp="1"/>
          </p:cNvSpPr>
          <p:nvPr>
            <p:ph type="dt" sz="half" idx="10"/>
          </p:nvPr>
        </p:nvSpPr>
        <p:spPr/>
        <p:txBody>
          <a:bodyPr/>
          <a:lstStyle/>
          <a:p>
            <a:fld id="{561F96C2-6BBE-47A1-BB80-63240F6DFA28}" type="datetimeFigureOut">
              <a:rPr lang="en-CA" smtClean="0"/>
              <a:t>12/29/25</a:t>
            </a:fld>
            <a:endParaRPr lang="en-CA"/>
          </a:p>
        </p:txBody>
      </p:sp>
      <p:sp>
        <p:nvSpPr>
          <p:cNvPr id="4" name="Footer Placeholder 3">
            <a:extLst>
              <a:ext uri="{FF2B5EF4-FFF2-40B4-BE49-F238E27FC236}">
                <a16:creationId xmlns:a16="http://schemas.microsoft.com/office/drawing/2014/main" id="{4491ED43-2153-4A46-A068-E22848A46FC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4725629E-E5CD-4D28-A9B7-E8BDCECDECF7}"/>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975416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58F396-C65B-4BF9-997E-B896FB3CD2D9}"/>
              </a:ext>
            </a:extLst>
          </p:cNvPr>
          <p:cNvSpPr>
            <a:spLocks noGrp="1"/>
          </p:cNvSpPr>
          <p:nvPr>
            <p:ph type="dt" sz="half" idx="10"/>
          </p:nvPr>
        </p:nvSpPr>
        <p:spPr/>
        <p:txBody>
          <a:bodyPr/>
          <a:lstStyle/>
          <a:p>
            <a:fld id="{561F96C2-6BBE-47A1-BB80-63240F6DFA28}" type="datetimeFigureOut">
              <a:rPr lang="en-CA" smtClean="0"/>
              <a:t>12/29/25</a:t>
            </a:fld>
            <a:endParaRPr lang="en-CA"/>
          </a:p>
        </p:txBody>
      </p:sp>
      <p:sp>
        <p:nvSpPr>
          <p:cNvPr id="3" name="Footer Placeholder 2">
            <a:extLst>
              <a:ext uri="{FF2B5EF4-FFF2-40B4-BE49-F238E27FC236}">
                <a16:creationId xmlns:a16="http://schemas.microsoft.com/office/drawing/2014/main" id="{0850171C-F3A4-49DE-B772-D6B5E6E4A3D1}"/>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056420AF-BED4-48D0-B9D2-EC85E9ED0754}"/>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4100326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FBB1E-1720-4F07-8821-B0CA7AD116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754BB5A3-3B72-430D-88AC-B54C900FB8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6533C3F3-C443-42FA-A041-B5D52CEFF9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9E4C22-7E1C-4AC6-86B9-FD0AC7222858}"/>
              </a:ext>
            </a:extLst>
          </p:cNvPr>
          <p:cNvSpPr>
            <a:spLocks noGrp="1"/>
          </p:cNvSpPr>
          <p:nvPr>
            <p:ph type="dt" sz="half" idx="10"/>
          </p:nvPr>
        </p:nvSpPr>
        <p:spPr/>
        <p:txBody>
          <a:bodyPr/>
          <a:lstStyle/>
          <a:p>
            <a:fld id="{561F96C2-6BBE-47A1-BB80-63240F6DFA28}" type="datetimeFigureOut">
              <a:rPr lang="en-CA" smtClean="0"/>
              <a:t>12/29/25</a:t>
            </a:fld>
            <a:endParaRPr lang="en-CA"/>
          </a:p>
        </p:txBody>
      </p:sp>
      <p:sp>
        <p:nvSpPr>
          <p:cNvPr id="6" name="Footer Placeholder 5">
            <a:extLst>
              <a:ext uri="{FF2B5EF4-FFF2-40B4-BE49-F238E27FC236}">
                <a16:creationId xmlns:a16="http://schemas.microsoft.com/office/drawing/2014/main" id="{9C150A84-5492-4665-A314-A6101A1AE05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6B0D75-2C5F-4F8B-80EC-F6A887B9AD4F}"/>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2969208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6172C-0CDF-4CEE-9EA4-3521F1087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1354010F-6561-46A0-B33C-B04103C6EB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a:p>
        </p:txBody>
      </p:sp>
      <p:sp>
        <p:nvSpPr>
          <p:cNvPr id="4" name="Text Placeholder 3">
            <a:extLst>
              <a:ext uri="{FF2B5EF4-FFF2-40B4-BE49-F238E27FC236}">
                <a16:creationId xmlns:a16="http://schemas.microsoft.com/office/drawing/2014/main" id="{329361BA-A9F1-4ED8-B3DA-18F1BC76D4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60B0A4-6E22-4E98-BC46-4B93BE99381C}"/>
              </a:ext>
            </a:extLst>
          </p:cNvPr>
          <p:cNvSpPr>
            <a:spLocks noGrp="1"/>
          </p:cNvSpPr>
          <p:nvPr>
            <p:ph type="dt" sz="half" idx="10"/>
          </p:nvPr>
        </p:nvSpPr>
        <p:spPr/>
        <p:txBody>
          <a:bodyPr/>
          <a:lstStyle/>
          <a:p>
            <a:fld id="{561F96C2-6BBE-47A1-BB80-63240F6DFA28}" type="datetimeFigureOut">
              <a:rPr lang="en-CA" smtClean="0"/>
              <a:t>12/29/25</a:t>
            </a:fld>
            <a:endParaRPr lang="en-CA"/>
          </a:p>
        </p:txBody>
      </p:sp>
      <p:sp>
        <p:nvSpPr>
          <p:cNvPr id="6" name="Footer Placeholder 5">
            <a:extLst>
              <a:ext uri="{FF2B5EF4-FFF2-40B4-BE49-F238E27FC236}">
                <a16:creationId xmlns:a16="http://schemas.microsoft.com/office/drawing/2014/main" id="{61DF73B5-8A4E-4973-8863-6345571701C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4B338AB-4B96-46FA-92B1-F669BA719DFC}"/>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2511411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E9E9F-A3DB-463E-B387-B0423E47C46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6C560EE-A21B-4824-B3B2-E6895F01BA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75E786A-BA8C-4552-80A8-CB94B52D2D27}"/>
              </a:ext>
            </a:extLst>
          </p:cNvPr>
          <p:cNvSpPr>
            <a:spLocks noGrp="1"/>
          </p:cNvSpPr>
          <p:nvPr>
            <p:ph type="dt" sz="half" idx="10"/>
          </p:nvPr>
        </p:nvSpPr>
        <p:spPr/>
        <p:txBody>
          <a:bodyPr/>
          <a:lstStyle/>
          <a:p>
            <a:fld id="{561F96C2-6BBE-47A1-BB80-63240F6DFA28}" type="datetimeFigureOut">
              <a:rPr lang="en-CA" smtClean="0"/>
              <a:t>12/29/25</a:t>
            </a:fld>
            <a:endParaRPr lang="en-CA"/>
          </a:p>
        </p:txBody>
      </p:sp>
      <p:sp>
        <p:nvSpPr>
          <p:cNvPr id="5" name="Footer Placeholder 4">
            <a:extLst>
              <a:ext uri="{FF2B5EF4-FFF2-40B4-BE49-F238E27FC236}">
                <a16:creationId xmlns:a16="http://schemas.microsoft.com/office/drawing/2014/main" id="{215CC04C-041D-4510-9752-461CE4A4C52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DDDAB5E-0ADA-4B0C-9634-C40DB3F01632}"/>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21761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AD971-8A95-4A3E-A4BB-5750153576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1D58805-47DA-46FB-9913-D5A6F274FE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B021B3F-54EF-48AD-9FC5-C003C1BA780E}"/>
              </a:ext>
            </a:extLst>
          </p:cNvPr>
          <p:cNvSpPr>
            <a:spLocks noGrp="1"/>
          </p:cNvSpPr>
          <p:nvPr>
            <p:ph type="dt" sz="half" idx="10"/>
          </p:nvPr>
        </p:nvSpPr>
        <p:spPr/>
        <p:txBody>
          <a:bodyPr/>
          <a:lstStyle/>
          <a:p>
            <a:fld id="{561F96C2-6BBE-47A1-BB80-63240F6DFA28}" type="datetimeFigureOut">
              <a:rPr lang="en-CA" smtClean="0"/>
              <a:t>12/29/25</a:t>
            </a:fld>
            <a:endParaRPr lang="en-CA"/>
          </a:p>
        </p:txBody>
      </p:sp>
      <p:sp>
        <p:nvSpPr>
          <p:cNvPr id="5" name="Footer Placeholder 4">
            <a:extLst>
              <a:ext uri="{FF2B5EF4-FFF2-40B4-BE49-F238E27FC236}">
                <a16:creationId xmlns:a16="http://schemas.microsoft.com/office/drawing/2014/main" id="{B01D0694-7FD3-4571-84CD-BD17812255C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2C295E5-55A7-488A-A282-FDE13B0C4A5F}"/>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670595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1D4AF1-5A86-450B-9A2A-C8E3B7ECC1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BD83606-9414-4991-933B-1A7EA4AF13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C810FD5-A011-4056-8573-6587EAF4B4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1F96C2-6BBE-47A1-BB80-63240F6DFA28}" type="datetimeFigureOut">
              <a:rPr lang="en-CA" smtClean="0"/>
              <a:t>12/29/25</a:t>
            </a:fld>
            <a:endParaRPr lang="en-CA"/>
          </a:p>
        </p:txBody>
      </p:sp>
      <p:sp>
        <p:nvSpPr>
          <p:cNvPr id="5" name="Footer Placeholder 4">
            <a:extLst>
              <a:ext uri="{FF2B5EF4-FFF2-40B4-BE49-F238E27FC236}">
                <a16:creationId xmlns:a16="http://schemas.microsoft.com/office/drawing/2014/main" id="{19FD1CA2-309F-4AAD-963C-F2E401CE32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1E51A600-2EF9-44B6-BFF8-74E0737392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AD016F-BD21-43F2-BF6D-1C9D9BD53FD2}" type="slidenum">
              <a:rPr lang="en-CA" smtClean="0"/>
              <a:t>‹#›</a:t>
            </a:fld>
            <a:endParaRPr lang="en-CA"/>
          </a:p>
        </p:txBody>
      </p:sp>
    </p:spTree>
    <p:extLst>
      <p:ext uri="{BB962C8B-B14F-4D97-AF65-F5344CB8AC3E}">
        <p14:creationId xmlns:p14="http://schemas.microsoft.com/office/powerpoint/2010/main" val="507864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hyperlink" Target="https://www.vanguardnewsng.com/2025/12/detty-december-a-career-booster-for-artistes-odunfa-damilare-entertainment-executive/"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creativecommons.org/licenses/by-sa/3.0/" TargetMode="External"/><Relationship Id="rId5" Type="http://schemas.openxmlformats.org/officeDocument/2006/relationships/hyperlink" Target="https://lagoscityphotos.blogspot.com/2010/11/three-elders-lagos-white-cap-chiefs.html" TargetMode="Externa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hyperlink" Target="https://creativecommons.org/licenses/by-nc-sa/3.0/" TargetMode="External"/><Relationship Id="rId4" Type="http://schemas.openxmlformats.org/officeDocument/2006/relationships/hyperlink" Target="https://africanarguments.org/2019/05/for-naija-we-dey-kampe-nigeria-pidgin/"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70AEB26-777A-45F9-81E1-8CA71C13C53C}"/>
              </a:ext>
            </a:extLst>
          </p:cNvPr>
          <p:cNvPicPr>
            <a:picLocks noChangeAspect="1"/>
          </p:cNvPicPr>
          <p:nvPr/>
        </p:nvPicPr>
        <p:blipFill rotWithShape="1">
          <a:blip r:embed="rId2">
            <a:alphaModFix amt="50000"/>
          </a:blip>
          <a:srcRect t="1220" b="14510"/>
          <a:stretch/>
        </p:blipFill>
        <p:spPr>
          <a:xfrm>
            <a:off x="20" y="1"/>
            <a:ext cx="12191980" cy="6857999"/>
          </a:xfrm>
          <a:prstGeom prst="rect">
            <a:avLst/>
          </a:prstGeom>
        </p:spPr>
      </p:pic>
      <p:pic>
        <p:nvPicPr>
          <p:cNvPr id="10" name="Picture 9" descr="A group of people on a stage&#10;&#10;AI-generated content may be incorrect.">
            <a:extLst>
              <a:ext uri="{FF2B5EF4-FFF2-40B4-BE49-F238E27FC236}">
                <a16:creationId xmlns:a16="http://schemas.microsoft.com/office/drawing/2014/main" id="{5DF77FDD-C5E6-80CC-B4AB-F9FC27421A61}"/>
              </a:ext>
            </a:extLst>
          </p:cNvPr>
          <p:cNvPicPr>
            <a:picLocks noChangeAspect="1"/>
          </p:cNvPicPr>
          <p:nvPr/>
        </p:nvPicPr>
        <p:blipFill>
          <a:blip r:embed="rId3">
            <a:alphaModFix amt="50000"/>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0" y="-632460"/>
            <a:ext cx="12403393" cy="8263762"/>
          </a:xfrm>
          <a:prstGeom prst="rect">
            <a:avLst/>
          </a:prstGeom>
          <a:effectLst>
            <a:innerShdw blurRad="63500" dist="50800" dir="13500000">
              <a:prstClr val="black">
                <a:alpha val="50000"/>
              </a:prstClr>
            </a:innerShdw>
          </a:effectLst>
        </p:spPr>
      </p:pic>
      <p:sp>
        <p:nvSpPr>
          <p:cNvPr id="2" name="Title 1">
            <a:extLst>
              <a:ext uri="{FF2B5EF4-FFF2-40B4-BE49-F238E27FC236}">
                <a16:creationId xmlns:a16="http://schemas.microsoft.com/office/drawing/2014/main" id="{09EFBD9F-91A1-4DAF-BFC4-2015047C6FAF}"/>
              </a:ext>
            </a:extLst>
          </p:cNvPr>
          <p:cNvSpPr>
            <a:spLocks noGrp="1"/>
          </p:cNvSpPr>
          <p:nvPr>
            <p:ph type="ctrTitle"/>
          </p:nvPr>
        </p:nvSpPr>
        <p:spPr>
          <a:xfrm>
            <a:off x="1934547" y="1122361"/>
            <a:ext cx="8273143" cy="4531989"/>
          </a:xfrm>
        </p:spPr>
        <p:txBody>
          <a:bodyPr>
            <a:normAutofit fontScale="90000"/>
          </a:bodyPr>
          <a:lstStyle/>
          <a:p>
            <a:r>
              <a:rPr lang="en-US" sz="3600" b="1" dirty="0"/>
              <a:t>Title</a:t>
            </a:r>
            <a:br>
              <a:rPr lang="en-US" sz="3600" b="1" dirty="0"/>
            </a:br>
            <a:r>
              <a:rPr lang="en-US" sz="3600" b="1" dirty="0"/>
              <a:t>Detty December: Economic Impact and Public Safety Implications in Lagos</a:t>
            </a:r>
            <a:br>
              <a:rPr lang="en-US" dirty="0"/>
            </a:br>
            <a:br>
              <a:rPr lang="en-CA" dirty="0">
                <a:solidFill>
                  <a:srgbClr val="FFFFFF"/>
                </a:solidFill>
              </a:rPr>
            </a:br>
            <a:r>
              <a:rPr lang="en-CA" dirty="0">
                <a:solidFill>
                  <a:srgbClr val="FFFFFF"/>
                </a:solidFill>
              </a:rPr>
              <a:t> </a:t>
            </a:r>
            <a:br>
              <a:rPr lang="en-CA" dirty="0">
                <a:solidFill>
                  <a:srgbClr val="FFFFFF"/>
                </a:solidFill>
              </a:rPr>
            </a:br>
            <a:r>
              <a:rPr lang="en-US" sz="2200" b="1" dirty="0"/>
              <a:t>Subtitle</a:t>
            </a:r>
            <a:br>
              <a:rPr lang="en-US" sz="2200" b="1" dirty="0"/>
            </a:br>
            <a:r>
              <a:rPr lang="en-US" sz="2200" i="1" dirty="0"/>
              <a:t>Assessing seasonal economic gains, visitor pressure, and infrastructure risk during peak tourism periods.</a:t>
            </a:r>
            <a:br>
              <a:rPr lang="en-US" dirty="0"/>
            </a:br>
            <a:br>
              <a:rPr lang="en-CA" dirty="0">
                <a:solidFill>
                  <a:srgbClr val="FFFFFF"/>
                </a:solidFill>
              </a:rPr>
            </a:br>
            <a:endParaRPr lang="en-CA" dirty="0">
              <a:solidFill>
                <a:srgbClr val="FFFFFF"/>
              </a:solidFill>
            </a:endParaRPr>
          </a:p>
        </p:txBody>
      </p:sp>
      <p:sp>
        <p:nvSpPr>
          <p:cNvPr id="3" name="TextBox 2">
            <a:extLst>
              <a:ext uri="{FF2B5EF4-FFF2-40B4-BE49-F238E27FC236}">
                <a16:creationId xmlns:a16="http://schemas.microsoft.com/office/drawing/2014/main" id="{2B155461-1E50-4610-96D7-BD5DEDC74BED}"/>
              </a:ext>
            </a:extLst>
          </p:cNvPr>
          <p:cNvSpPr txBox="1"/>
          <p:nvPr/>
        </p:nvSpPr>
        <p:spPr>
          <a:xfrm>
            <a:off x="0" y="5886842"/>
            <a:ext cx="2271252" cy="738664"/>
          </a:xfrm>
          <a:prstGeom prst="rect">
            <a:avLst/>
          </a:prstGeom>
          <a:noFill/>
        </p:spPr>
        <p:txBody>
          <a:bodyPr wrap="square" rtlCol="0">
            <a:spAutoFit/>
          </a:bodyPr>
          <a:lstStyle/>
          <a:p>
            <a:r>
              <a:rPr lang="en-US" sz="1400" b="1" dirty="0"/>
              <a:t>Prepared by</a:t>
            </a:r>
          </a:p>
          <a:p>
            <a:r>
              <a:rPr lang="en-US" sz="1400" i="1" dirty="0"/>
              <a:t>Data Analytics Project</a:t>
            </a:r>
            <a:br>
              <a:rPr lang="en-US" sz="1400" dirty="0"/>
            </a:br>
            <a:r>
              <a:rPr lang="en-US" sz="1400" i="1" dirty="0"/>
              <a:t>Bukola Aina</a:t>
            </a:r>
            <a:endParaRPr lang="en-US" sz="1400" dirty="0"/>
          </a:p>
        </p:txBody>
      </p:sp>
      <p:sp>
        <p:nvSpPr>
          <p:cNvPr id="6" name="TextBox 5">
            <a:extLst>
              <a:ext uri="{FF2B5EF4-FFF2-40B4-BE49-F238E27FC236}">
                <a16:creationId xmlns:a16="http://schemas.microsoft.com/office/drawing/2014/main" id="{D2C808FC-2B84-8A42-D02C-0CCE6D928908}"/>
              </a:ext>
            </a:extLst>
          </p:cNvPr>
          <p:cNvSpPr txBox="1"/>
          <p:nvPr/>
        </p:nvSpPr>
        <p:spPr>
          <a:xfrm>
            <a:off x="9147687" y="5979175"/>
            <a:ext cx="2415048" cy="646331"/>
          </a:xfrm>
          <a:prstGeom prst="rect">
            <a:avLst/>
          </a:prstGeom>
          <a:noFill/>
        </p:spPr>
        <p:txBody>
          <a:bodyPr wrap="square">
            <a:spAutoFit/>
          </a:bodyPr>
          <a:lstStyle/>
          <a:p>
            <a:pPr>
              <a:buNone/>
            </a:pPr>
            <a:r>
              <a:rPr lang="en-CA" b="1" dirty="0"/>
              <a:t>Date</a:t>
            </a:r>
          </a:p>
          <a:p>
            <a:pPr>
              <a:buNone/>
            </a:pPr>
            <a:r>
              <a:rPr lang="en-CA" i="1" dirty="0"/>
              <a:t>December, 2025</a:t>
            </a:r>
            <a:endParaRPr lang="en-CA" dirty="0"/>
          </a:p>
        </p:txBody>
      </p:sp>
    </p:spTree>
    <p:extLst>
      <p:ext uri="{BB962C8B-B14F-4D97-AF65-F5344CB8AC3E}">
        <p14:creationId xmlns:p14="http://schemas.microsoft.com/office/powerpoint/2010/main" val="264232886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70AEB26-777A-45F9-81E1-8CA71C13C53C}"/>
              </a:ext>
            </a:extLst>
          </p:cNvPr>
          <p:cNvPicPr>
            <a:picLocks noChangeAspect="1"/>
          </p:cNvPicPr>
          <p:nvPr/>
        </p:nvPicPr>
        <p:blipFill rotWithShape="1">
          <a:blip r:embed="rId3">
            <a:alphaModFix amt="50000"/>
          </a:blip>
          <a:srcRect t="1220" b="14510"/>
          <a:stretch/>
        </p:blipFill>
        <p:spPr>
          <a:xfrm>
            <a:off x="20" y="1"/>
            <a:ext cx="12191980" cy="6857999"/>
          </a:xfrm>
          <a:prstGeom prst="rect">
            <a:avLst/>
          </a:prstGeom>
        </p:spPr>
      </p:pic>
      <p:pic>
        <p:nvPicPr>
          <p:cNvPr id="4" name="Picture 3" descr="Statues of statues on a concrete pedestal&#10;&#10;AI-generated content may be incorrect.">
            <a:extLst>
              <a:ext uri="{FF2B5EF4-FFF2-40B4-BE49-F238E27FC236}">
                <a16:creationId xmlns:a16="http://schemas.microsoft.com/office/drawing/2014/main" id="{5FD08133-F559-3807-38C6-6091B7DBAC6A}"/>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0" y="0"/>
            <a:ext cx="12191980" cy="8790783"/>
          </a:xfrm>
          <a:prstGeom prst="rect">
            <a:avLst/>
          </a:prstGeom>
        </p:spPr>
      </p:pic>
      <p:sp>
        <p:nvSpPr>
          <p:cNvPr id="6" name="TextBox 5">
            <a:extLst>
              <a:ext uri="{FF2B5EF4-FFF2-40B4-BE49-F238E27FC236}">
                <a16:creationId xmlns:a16="http://schemas.microsoft.com/office/drawing/2014/main" id="{9F609BCC-F07B-A5A7-1AAA-6042AC16C152}"/>
              </a:ext>
            </a:extLst>
          </p:cNvPr>
          <p:cNvSpPr txBox="1"/>
          <p:nvPr/>
        </p:nvSpPr>
        <p:spPr>
          <a:xfrm>
            <a:off x="0" y="4267201"/>
            <a:ext cx="12191980" cy="230832"/>
          </a:xfrm>
          <a:prstGeom prst="rect">
            <a:avLst/>
          </a:prstGeom>
          <a:noFill/>
        </p:spPr>
        <p:txBody>
          <a:bodyPr wrap="square" rtlCol="0">
            <a:spAutoFit/>
          </a:bodyPr>
          <a:lstStyle/>
          <a:p>
            <a:r>
              <a:rPr lang="en-CA" sz="900">
                <a:hlinkClick r:id="rId5" tooltip="https://lagoscityphotos.blogspot.com/2010/11/three-elders-lagos-white-cap-chiefs.html"/>
              </a:rPr>
              <a:t>This Photo</a:t>
            </a:r>
            <a:r>
              <a:rPr lang="en-CA" sz="900"/>
              <a:t> by Unknown Author is licensed under </a:t>
            </a:r>
            <a:r>
              <a:rPr lang="en-CA" sz="900">
                <a:hlinkClick r:id="rId6" tooltip="https://creativecommons.org/licenses/by-sa/3.0/"/>
              </a:rPr>
              <a:t>CC BY-SA</a:t>
            </a:r>
            <a:endParaRPr lang="en-CA" sz="900"/>
          </a:p>
        </p:txBody>
      </p:sp>
      <p:sp>
        <p:nvSpPr>
          <p:cNvPr id="2" name="Title 1">
            <a:extLst>
              <a:ext uri="{FF2B5EF4-FFF2-40B4-BE49-F238E27FC236}">
                <a16:creationId xmlns:a16="http://schemas.microsoft.com/office/drawing/2014/main" id="{09EFBD9F-91A1-4DAF-BFC4-2015047C6FAF}"/>
              </a:ext>
            </a:extLst>
          </p:cNvPr>
          <p:cNvSpPr>
            <a:spLocks noGrp="1"/>
          </p:cNvSpPr>
          <p:nvPr>
            <p:ph type="ctrTitle"/>
          </p:nvPr>
        </p:nvSpPr>
        <p:spPr>
          <a:xfrm>
            <a:off x="1934547" y="1122361"/>
            <a:ext cx="8273143" cy="4531989"/>
          </a:xfrm>
        </p:spPr>
        <p:txBody>
          <a:bodyPr>
            <a:normAutofit/>
          </a:bodyPr>
          <a:lstStyle/>
          <a:p>
            <a:pPr algn="l"/>
            <a:r>
              <a:rPr lang="en-CA" b="1" dirty="0">
                <a:solidFill>
                  <a:schemeClr val="bg1"/>
                </a:solidFill>
              </a:rPr>
              <a:t>1 – </a:t>
            </a:r>
            <a:br>
              <a:rPr lang="en-CA" b="1" dirty="0">
                <a:solidFill>
                  <a:schemeClr val="bg1"/>
                </a:solidFill>
              </a:rPr>
            </a:br>
            <a:r>
              <a:rPr lang="en-CA" b="1" dirty="0">
                <a:solidFill>
                  <a:schemeClr val="bg1"/>
                </a:solidFill>
              </a:rPr>
              <a:t>Business Understanding –High Level</a:t>
            </a:r>
          </a:p>
        </p:txBody>
      </p:sp>
    </p:spTree>
    <p:extLst>
      <p:ext uri="{BB962C8B-B14F-4D97-AF65-F5344CB8AC3E}">
        <p14:creationId xmlns:p14="http://schemas.microsoft.com/office/powerpoint/2010/main" val="378258785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B6775E-69FA-44AD-80AF-EFF23856271D}"/>
              </a:ext>
            </a:extLst>
          </p:cNvPr>
          <p:cNvSpPr>
            <a:spLocks noGrp="1"/>
          </p:cNvSpPr>
          <p:nvPr>
            <p:ph type="title"/>
          </p:nvPr>
        </p:nvSpPr>
        <p:spPr>
          <a:xfrm>
            <a:off x="1171074" y="1396686"/>
            <a:ext cx="3240506" cy="4064628"/>
          </a:xfrm>
        </p:spPr>
        <p:txBody>
          <a:bodyPr>
            <a:normAutofit/>
          </a:bodyPr>
          <a:lstStyle/>
          <a:p>
            <a:r>
              <a:rPr lang="en-CA">
                <a:solidFill>
                  <a:srgbClr val="FFFFFF"/>
                </a:solidFill>
              </a:rPr>
              <a:t>Case Study</a:t>
            </a:r>
          </a:p>
        </p:txBody>
      </p:sp>
      <p:sp>
        <p:nvSpPr>
          <p:cNvPr id="30" name="Arc 29">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2" name="Oval 31">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89BA04D-9308-46A3-B4F0-CBC3E675253D}"/>
              </a:ext>
            </a:extLst>
          </p:cNvPr>
          <p:cNvSpPr>
            <a:spLocks noGrp="1"/>
          </p:cNvSpPr>
          <p:nvPr>
            <p:ph idx="1"/>
          </p:nvPr>
        </p:nvSpPr>
        <p:spPr>
          <a:xfrm>
            <a:off x="5370153" y="1526033"/>
            <a:ext cx="5536397" cy="3935281"/>
          </a:xfrm>
        </p:spPr>
        <p:txBody>
          <a:bodyPr>
            <a:normAutofit/>
          </a:bodyPr>
          <a:lstStyle/>
          <a:p>
            <a:pPr marL="0" indent="0">
              <a:buNone/>
            </a:pPr>
            <a:r>
              <a:rPr lang="en-US" dirty="0"/>
              <a:t>Detty December in Lagos State: An Economic Impact and Sustainability Analysis of a Seasonal Tourism Engine</a:t>
            </a:r>
            <a:endParaRPr lang="en-US" b="1" i="0" cap="all" dirty="0">
              <a:effectLst/>
              <a:latin typeface="Open Sans"/>
            </a:endParaRPr>
          </a:p>
        </p:txBody>
      </p:sp>
    </p:spTree>
    <p:extLst>
      <p:ext uri="{BB962C8B-B14F-4D97-AF65-F5344CB8AC3E}">
        <p14:creationId xmlns:p14="http://schemas.microsoft.com/office/powerpoint/2010/main" val="2608331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762000" y="1138036"/>
            <a:ext cx="4085665" cy="1402470"/>
          </a:xfrm>
        </p:spPr>
        <p:txBody>
          <a:bodyPr anchor="t">
            <a:normAutofit/>
          </a:bodyPr>
          <a:lstStyle/>
          <a:p>
            <a:r>
              <a:rPr lang="en-CA" sz="3200"/>
              <a:t>Introduction </a:t>
            </a:r>
          </a:p>
        </p:txBody>
      </p:sp>
      <p:cxnSp>
        <p:nvCxnSpPr>
          <p:cNvPr id="25" name="Straight Connector 24">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837927C-870D-4714-836F-D3A19DC6FC25}"/>
              </a:ext>
            </a:extLst>
          </p:cNvPr>
          <p:cNvSpPr>
            <a:spLocks noGrp="1"/>
          </p:cNvSpPr>
          <p:nvPr>
            <p:ph idx="1"/>
          </p:nvPr>
        </p:nvSpPr>
        <p:spPr>
          <a:xfrm>
            <a:off x="762000" y="2551176"/>
            <a:ext cx="4085665" cy="3591207"/>
          </a:xfrm>
        </p:spPr>
        <p:txBody>
          <a:bodyPr>
            <a:normAutofit/>
          </a:bodyPr>
          <a:lstStyle/>
          <a:p>
            <a:r>
              <a:rPr lang="en-US" sz="800"/>
              <a:t>Detty December has emerged as a major seasonal tourism and entertainment phenomenon in Lagos State, attracting large volumes of domestic and international visitors during the month of December. The influx is driven by concerts, nightlife, festivals, and social events, generating significant economic activity across hospitality, entertainment, aviation, and related sectors. As a result, Detty December has become an important contributor to short-term revenue generation and employment opportunities within the state.</a:t>
            </a:r>
          </a:p>
          <a:p>
            <a:r>
              <a:rPr lang="en-US" sz="800"/>
              <a:t>However, the economic benefits associated with Detty December are highly concentrated within a narrow time window, leading to sharp increases in population movement, road usage, and public space congestion. This sudden surge places considerable pressure on transport infrastructure and emergency response systems that are largely designed for average, year-round demand rather than peak seasonal loads. Recent incidents involving road traffic accidents and delayed emergency response highlight the real-world risks associated with this imbalance.</a:t>
            </a:r>
          </a:p>
          <a:p>
            <a:r>
              <a:rPr lang="en-US" sz="800"/>
              <a:t>This project examines the economic impact of Detty December alongside its implications for infrastructure strain and public safety. Using a data-driven approach, the analysis estimates peak-season revenue, identifies the sectors that benefit most from the event, and evaluates how concentrated economic activity during December compares to non-peak periods. By linking economic intensity with seasonal visitor pressure, the study aims to provide evidence-based insights that can support proactive transport planning, emergency service deployment, and policy interventions designed to reduce preventable risk while sustaining economic gains.</a:t>
            </a:r>
          </a:p>
        </p:txBody>
      </p:sp>
      <p:pic>
        <p:nvPicPr>
          <p:cNvPr id="16" name="Picture 15" descr="Back view of an airplane">
            <a:extLst>
              <a:ext uri="{FF2B5EF4-FFF2-40B4-BE49-F238E27FC236}">
                <a16:creationId xmlns:a16="http://schemas.microsoft.com/office/drawing/2014/main" id="{A24BA933-D5AA-986D-49C9-1A7B4FD8EF0A}"/>
              </a:ext>
            </a:extLst>
          </p:cNvPr>
          <p:cNvPicPr>
            <a:picLocks noChangeAspect="1"/>
          </p:cNvPicPr>
          <p:nvPr/>
        </p:nvPicPr>
        <p:blipFill>
          <a:blip r:embed="rId2"/>
          <a:srcRect l="12241" r="24093" b="-1"/>
          <a:stretch>
            <a:fillRect/>
          </a:stretch>
        </p:blipFill>
        <p:spPr>
          <a:xfrm>
            <a:off x="5650992" y="10"/>
            <a:ext cx="6541008" cy="6857990"/>
          </a:xfrm>
          <a:prstGeom prst="rect">
            <a:avLst/>
          </a:prstGeom>
        </p:spPr>
      </p:pic>
    </p:spTree>
    <p:extLst>
      <p:ext uri="{BB962C8B-B14F-4D97-AF65-F5344CB8AC3E}">
        <p14:creationId xmlns:p14="http://schemas.microsoft.com/office/powerpoint/2010/main" val="3589654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45D489D-16E1-484D-867B-144368D74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9A496F5-B01E-4BF8-9D1E-C4E53B6F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2257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c 22">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2906963" y="1348064"/>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838200" y="643467"/>
            <a:ext cx="2951205" cy="5571066"/>
          </a:xfrm>
        </p:spPr>
        <p:txBody>
          <a:bodyPr>
            <a:normAutofit/>
          </a:bodyPr>
          <a:lstStyle/>
          <a:p>
            <a:r>
              <a:rPr lang="en-CA">
                <a:solidFill>
                  <a:srgbClr val="FFFFFF"/>
                </a:solidFill>
              </a:rPr>
              <a:t>5W 1H Analysis</a:t>
            </a:r>
            <a:br>
              <a:rPr lang="en-CA">
                <a:solidFill>
                  <a:srgbClr val="FFFFFF"/>
                </a:solidFill>
              </a:rPr>
            </a:br>
            <a:r>
              <a:rPr lang="en-CA">
                <a:solidFill>
                  <a:srgbClr val="FFFFFF"/>
                </a:solidFill>
              </a:rPr>
              <a:t>1 – </a:t>
            </a:r>
            <a:r>
              <a:rPr lang="en-US">
                <a:solidFill>
                  <a:srgbClr val="FFFFFF"/>
                </a:solidFill>
              </a:rPr>
              <a:t>Who</a:t>
            </a:r>
            <a:endParaRPr lang="en-CA">
              <a:solidFill>
                <a:srgbClr val="FFFFFF"/>
              </a:solidFill>
            </a:endParaRP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1825066791"/>
              </p:ext>
            </p:extLst>
          </p:nvPr>
        </p:nvGraphicFramePr>
        <p:xfrm>
          <a:off x="5237018" y="1059879"/>
          <a:ext cx="6303730" cy="4748470"/>
        </p:xfrm>
        <a:graphic>
          <a:graphicData uri="http://schemas.openxmlformats.org/drawingml/2006/table">
            <a:tbl>
              <a:tblPr firstRow="1" bandRow="1">
                <a:tableStyleId>{5C22544A-7EE6-4342-B048-85BDC9FD1C3A}</a:tableStyleId>
              </a:tblPr>
              <a:tblGrid>
                <a:gridCol w="628011">
                  <a:extLst>
                    <a:ext uri="{9D8B030D-6E8A-4147-A177-3AD203B41FA5}">
                      <a16:colId xmlns:a16="http://schemas.microsoft.com/office/drawing/2014/main" val="132850126"/>
                    </a:ext>
                  </a:extLst>
                </a:gridCol>
                <a:gridCol w="1149712">
                  <a:extLst>
                    <a:ext uri="{9D8B030D-6E8A-4147-A177-3AD203B41FA5}">
                      <a16:colId xmlns:a16="http://schemas.microsoft.com/office/drawing/2014/main" val="2577973472"/>
                    </a:ext>
                  </a:extLst>
                </a:gridCol>
                <a:gridCol w="4526007">
                  <a:extLst>
                    <a:ext uri="{9D8B030D-6E8A-4147-A177-3AD203B41FA5}">
                      <a16:colId xmlns:a16="http://schemas.microsoft.com/office/drawing/2014/main" val="3264490754"/>
                    </a:ext>
                  </a:extLst>
                </a:gridCol>
              </a:tblGrid>
              <a:tr h="311840">
                <a:tc>
                  <a:txBody>
                    <a:bodyPr/>
                    <a:lstStyle/>
                    <a:p>
                      <a:r>
                        <a:rPr lang="en-US" sz="1400"/>
                        <a:t>#</a:t>
                      </a:r>
                    </a:p>
                  </a:txBody>
                  <a:tcPr marL="70873" marR="70873" marT="35436" marB="35436"/>
                </a:tc>
                <a:tc>
                  <a:txBody>
                    <a:bodyPr/>
                    <a:lstStyle/>
                    <a:p>
                      <a:r>
                        <a:rPr lang="en-US" sz="1400"/>
                        <a:t>Question</a:t>
                      </a:r>
                    </a:p>
                  </a:txBody>
                  <a:tcPr marL="70873" marR="70873" marT="35436" marB="35436"/>
                </a:tc>
                <a:tc>
                  <a:txBody>
                    <a:bodyPr/>
                    <a:lstStyle/>
                    <a:p>
                      <a:r>
                        <a:rPr lang="en-US" sz="1400"/>
                        <a:t>Answer</a:t>
                      </a:r>
                    </a:p>
                  </a:txBody>
                  <a:tcPr marL="70873" marR="70873" marT="35436" marB="35436"/>
                </a:tc>
                <a:extLst>
                  <a:ext uri="{0D108BD9-81ED-4DB2-BD59-A6C34878D82A}">
                    <a16:rowId xmlns:a16="http://schemas.microsoft.com/office/drawing/2014/main" val="3234149977"/>
                  </a:ext>
                </a:extLst>
              </a:tr>
              <a:tr h="1162312">
                <a:tc>
                  <a:txBody>
                    <a:bodyPr/>
                    <a:lstStyle/>
                    <a:p>
                      <a:r>
                        <a:rPr lang="en-US" sz="1400"/>
                        <a:t>Q1.1</a:t>
                      </a:r>
                    </a:p>
                  </a:txBody>
                  <a:tcPr marL="70873" marR="70873" marT="35436" marB="35436"/>
                </a:tc>
                <a:tc>
                  <a:txBody>
                    <a:bodyPr/>
                    <a:lstStyle/>
                    <a:p>
                      <a:r>
                        <a:rPr lang="en-US" sz="1400"/>
                        <a:t>Who is involved?</a:t>
                      </a:r>
                    </a:p>
                  </a:txBody>
                  <a:tcPr marL="70873" marR="70873" marT="35436" marB="35436"/>
                </a:tc>
                <a:tc>
                  <a:txBody>
                    <a:bodyPr/>
                    <a:lstStyle/>
                    <a:p>
                      <a:r>
                        <a:rPr lang="en-US" sz="1400"/>
                        <a:t>Lagos State Government and regulatory agencies</a:t>
                      </a:r>
                    </a:p>
                    <a:p>
                      <a:r>
                        <a:rPr lang="en-US" sz="1400"/>
                        <a:t>Hospitality operators (hotels, short-let providers)</a:t>
                      </a:r>
                    </a:p>
                    <a:p>
                      <a:r>
                        <a:rPr lang="en-US" sz="1400"/>
                        <a:t>Airlines and aviation authorities</a:t>
                      </a:r>
                    </a:p>
                    <a:p>
                      <a:r>
                        <a:rPr lang="en-US" sz="1400"/>
                        <a:t>Event organizers and entertainment businesses</a:t>
                      </a:r>
                    </a:p>
                    <a:p>
                      <a:r>
                        <a:rPr lang="en-US" sz="1400"/>
                        <a:t>Local service providers (transport, security, vendors)</a:t>
                      </a:r>
                    </a:p>
                  </a:txBody>
                  <a:tcPr marL="70873" marR="70873" marT="35436" marB="35436"/>
                </a:tc>
                <a:extLst>
                  <a:ext uri="{0D108BD9-81ED-4DB2-BD59-A6C34878D82A}">
                    <a16:rowId xmlns:a16="http://schemas.microsoft.com/office/drawing/2014/main" val="1285076396"/>
                  </a:ext>
                </a:extLst>
              </a:tr>
              <a:tr h="949694">
                <a:tc>
                  <a:txBody>
                    <a:bodyPr/>
                    <a:lstStyle/>
                    <a:p>
                      <a:r>
                        <a:rPr lang="en-US" sz="1400"/>
                        <a:t>Q1.2</a:t>
                      </a:r>
                    </a:p>
                  </a:txBody>
                  <a:tcPr marL="70873" marR="70873" marT="35436" marB="35436"/>
                </a:tc>
                <a:tc>
                  <a:txBody>
                    <a:bodyPr/>
                    <a:lstStyle/>
                    <a:p>
                      <a:r>
                        <a:rPr lang="en-US" sz="1400"/>
                        <a:t>Who is affected?</a:t>
                      </a:r>
                    </a:p>
                  </a:txBody>
                  <a:tcPr marL="70873" marR="70873" marT="35436" marB="35436"/>
                </a:tc>
                <a:tc>
                  <a:txBody>
                    <a:bodyPr/>
                    <a:lstStyle/>
                    <a:p>
                      <a:r>
                        <a:rPr lang="en-US" sz="1400"/>
                        <a:t>Lagos residents (traffic, housing pressure, cost of living)</a:t>
                      </a:r>
                    </a:p>
                    <a:p>
                      <a:r>
                        <a:rPr lang="en-US" sz="1400"/>
                        <a:t>Local businesses dependent on seasonal demand</a:t>
                      </a:r>
                    </a:p>
                    <a:p>
                      <a:r>
                        <a:rPr lang="en-US" sz="1400"/>
                        <a:t>Infrastructure providers (transport, power, security)</a:t>
                      </a:r>
                    </a:p>
                    <a:p>
                      <a:r>
                        <a:rPr lang="en-US" sz="1400"/>
                        <a:t>Visitors (pricing, congestion, service quality)</a:t>
                      </a:r>
                    </a:p>
                  </a:txBody>
                  <a:tcPr marL="70873" marR="70873" marT="35436" marB="35436"/>
                </a:tc>
                <a:extLst>
                  <a:ext uri="{0D108BD9-81ED-4DB2-BD59-A6C34878D82A}">
                    <a16:rowId xmlns:a16="http://schemas.microsoft.com/office/drawing/2014/main" val="560721380"/>
                  </a:ext>
                </a:extLst>
              </a:tr>
              <a:tr h="11623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Q1.3</a:t>
                      </a:r>
                    </a:p>
                  </a:txBody>
                  <a:tcPr marL="70873" marR="70873" marT="35436" marB="35436"/>
                </a:tc>
                <a:tc>
                  <a:txBody>
                    <a:bodyPr/>
                    <a:lstStyle/>
                    <a:p>
                      <a:r>
                        <a:rPr lang="en-US" sz="1400"/>
                        <a:t>Who will benefit?</a:t>
                      </a:r>
                    </a:p>
                  </a:txBody>
                  <a:tcPr marL="70873" marR="70873" marT="35436" marB="35436"/>
                </a:tc>
                <a:tc>
                  <a:txBody>
                    <a:bodyPr/>
                    <a:lstStyle/>
                    <a:p>
                      <a:r>
                        <a:rPr lang="en-US" sz="1400"/>
                        <a:t>Hospitality and accommodation providers</a:t>
                      </a:r>
                    </a:p>
                    <a:p>
                      <a:r>
                        <a:rPr lang="en-US" sz="1400"/>
                        <a:t>Event and entertainment operators</a:t>
                      </a:r>
                    </a:p>
                    <a:p>
                      <a:r>
                        <a:rPr lang="en-US" sz="1400"/>
                        <a:t>Government through tourism-related revenue</a:t>
                      </a:r>
                    </a:p>
                    <a:p>
                      <a:r>
                        <a:rPr lang="en-US" sz="1400"/>
                        <a:t>Informal and temporary workers benefiting from increased demand</a:t>
                      </a:r>
                    </a:p>
                  </a:txBody>
                  <a:tcPr marL="70873" marR="70873" marT="35436" marB="35436"/>
                </a:tc>
                <a:extLst>
                  <a:ext uri="{0D108BD9-81ED-4DB2-BD59-A6C34878D82A}">
                    <a16:rowId xmlns:a16="http://schemas.microsoft.com/office/drawing/2014/main" val="1901711666"/>
                  </a:ext>
                </a:extLst>
              </a:tr>
              <a:tr h="11623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Q1.4</a:t>
                      </a:r>
                    </a:p>
                  </a:txBody>
                  <a:tcPr marL="70873" marR="70873" marT="35436" marB="3543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Who will be harmed?</a:t>
                      </a:r>
                    </a:p>
                  </a:txBody>
                  <a:tcPr marL="70873" marR="70873" marT="35436" marB="35436"/>
                </a:tc>
                <a:tc>
                  <a:txBody>
                    <a:bodyPr/>
                    <a:lstStyle/>
                    <a:p>
                      <a:r>
                        <a:rPr lang="en-US" sz="1400"/>
                        <a:t>Residents facing congestion, rent inflation, and service strain</a:t>
                      </a:r>
                    </a:p>
                    <a:p>
                      <a:r>
                        <a:rPr lang="en-US" sz="1400"/>
                        <a:t>Small businesses unable to scale for peak demand</a:t>
                      </a:r>
                    </a:p>
                    <a:p>
                      <a:r>
                        <a:rPr lang="en-US" sz="1400"/>
                        <a:t>Infrastructure systems operating beyond capacity during peak periods</a:t>
                      </a:r>
                    </a:p>
                  </a:txBody>
                  <a:tcPr marL="70873" marR="70873" marT="35436" marB="35436"/>
                </a:tc>
                <a:extLst>
                  <a:ext uri="{0D108BD9-81ED-4DB2-BD59-A6C34878D82A}">
                    <a16:rowId xmlns:a16="http://schemas.microsoft.com/office/drawing/2014/main" val="1747657050"/>
                  </a:ext>
                </a:extLst>
              </a:tr>
            </a:tbl>
          </a:graphicData>
        </a:graphic>
      </p:graphicFrame>
    </p:spTree>
    <p:extLst>
      <p:ext uri="{BB962C8B-B14F-4D97-AF65-F5344CB8AC3E}">
        <p14:creationId xmlns:p14="http://schemas.microsoft.com/office/powerpoint/2010/main" val="1924877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545D489D-16E1-484D-867B-144368D74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9A496F5-B01E-4BF8-9D1E-C4E53B6F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2257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c 22">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2906963" y="1348064"/>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838200" y="643467"/>
            <a:ext cx="2951205" cy="5571066"/>
          </a:xfrm>
        </p:spPr>
        <p:txBody>
          <a:bodyPr>
            <a:normAutofit/>
          </a:bodyPr>
          <a:lstStyle/>
          <a:p>
            <a:r>
              <a:rPr lang="en-CA">
                <a:solidFill>
                  <a:srgbClr val="FFFFFF"/>
                </a:solidFill>
              </a:rPr>
              <a:t>5W 1H Analysis</a:t>
            </a:r>
            <a:br>
              <a:rPr lang="en-CA">
                <a:solidFill>
                  <a:srgbClr val="FFFFFF"/>
                </a:solidFill>
              </a:rPr>
            </a:br>
            <a:r>
              <a:rPr lang="en-CA">
                <a:solidFill>
                  <a:srgbClr val="FFFFFF"/>
                </a:solidFill>
              </a:rPr>
              <a:t>2 – </a:t>
            </a:r>
            <a:r>
              <a:rPr lang="en-US">
                <a:solidFill>
                  <a:srgbClr val="FFFFFF"/>
                </a:solidFill>
              </a:rPr>
              <a:t>What</a:t>
            </a:r>
            <a:endParaRPr lang="en-CA">
              <a:solidFill>
                <a:srgbClr val="FFFFFF"/>
              </a:solidFill>
            </a:endParaRP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330638550"/>
              </p:ext>
            </p:extLst>
          </p:nvPr>
        </p:nvGraphicFramePr>
        <p:xfrm>
          <a:off x="5237018" y="1333477"/>
          <a:ext cx="6303731" cy="4201272"/>
        </p:xfrm>
        <a:graphic>
          <a:graphicData uri="http://schemas.openxmlformats.org/drawingml/2006/table">
            <a:tbl>
              <a:tblPr firstRow="1" bandRow="1">
                <a:tableStyleId>{5C22544A-7EE6-4342-B048-85BDC9FD1C3A}</a:tableStyleId>
              </a:tblPr>
              <a:tblGrid>
                <a:gridCol w="581687">
                  <a:extLst>
                    <a:ext uri="{9D8B030D-6E8A-4147-A177-3AD203B41FA5}">
                      <a16:colId xmlns:a16="http://schemas.microsoft.com/office/drawing/2014/main" val="132850126"/>
                    </a:ext>
                  </a:extLst>
                </a:gridCol>
                <a:gridCol w="1703120">
                  <a:extLst>
                    <a:ext uri="{9D8B030D-6E8A-4147-A177-3AD203B41FA5}">
                      <a16:colId xmlns:a16="http://schemas.microsoft.com/office/drawing/2014/main" val="2577973472"/>
                    </a:ext>
                  </a:extLst>
                </a:gridCol>
                <a:gridCol w="4018924">
                  <a:extLst>
                    <a:ext uri="{9D8B030D-6E8A-4147-A177-3AD203B41FA5}">
                      <a16:colId xmlns:a16="http://schemas.microsoft.com/office/drawing/2014/main" val="3264490754"/>
                    </a:ext>
                  </a:extLst>
                </a:gridCol>
              </a:tblGrid>
              <a:tr h="288838">
                <a:tc>
                  <a:txBody>
                    <a:bodyPr/>
                    <a:lstStyle/>
                    <a:p>
                      <a:r>
                        <a:rPr lang="en-US" sz="1300"/>
                        <a:t>#</a:t>
                      </a:r>
                    </a:p>
                  </a:txBody>
                  <a:tcPr marL="65645" marR="65645" marT="32822" marB="32822"/>
                </a:tc>
                <a:tc>
                  <a:txBody>
                    <a:bodyPr/>
                    <a:lstStyle/>
                    <a:p>
                      <a:r>
                        <a:rPr lang="en-US" sz="1300"/>
                        <a:t>Question</a:t>
                      </a:r>
                    </a:p>
                  </a:txBody>
                  <a:tcPr marL="65645" marR="65645" marT="32822" marB="32822"/>
                </a:tc>
                <a:tc>
                  <a:txBody>
                    <a:bodyPr/>
                    <a:lstStyle/>
                    <a:p>
                      <a:r>
                        <a:rPr lang="en-US" sz="1300"/>
                        <a:t>Answer</a:t>
                      </a:r>
                    </a:p>
                  </a:txBody>
                  <a:tcPr marL="65645" marR="65645" marT="32822" marB="32822"/>
                </a:tc>
                <a:extLst>
                  <a:ext uri="{0D108BD9-81ED-4DB2-BD59-A6C34878D82A}">
                    <a16:rowId xmlns:a16="http://schemas.microsoft.com/office/drawing/2014/main" val="3234149977"/>
                  </a:ext>
                </a:extLst>
              </a:tr>
              <a:tr h="879641">
                <a:tc>
                  <a:txBody>
                    <a:bodyPr/>
                    <a:lstStyle/>
                    <a:p>
                      <a:r>
                        <a:rPr lang="en-US" sz="1300"/>
                        <a:t>Q2.1</a:t>
                      </a:r>
                    </a:p>
                  </a:txBody>
                  <a:tcPr marL="65645" marR="65645" marT="32822" marB="32822"/>
                </a:tc>
                <a:tc>
                  <a:txBody>
                    <a:bodyPr/>
                    <a:lstStyle/>
                    <a:p>
                      <a:r>
                        <a:rPr lang="en-US" sz="1300"/>
                        <a:t>What is your topic narrowed down in a simple phrase/sentence?</a:t>
                      </a:r>
                    </a:p>
                  </a:txBody>
                  <a:tcPr marL="65645" marR="65645" marT="32822" marB="32822"/>
                </a:tc>
                <a:tc>
                  <a:txBody>
                    <a:bodyPr/>
                    <a:lstStyle/>
                    <a:p>
                      <a:r>
                        <a:rPr lang="en-US" sz="1300"/>
                        <a:t>An economic impact and sustainability analysis of Detty December as a seasonal revenue driver in Lagos State.</a:t>
                      </a:r>
                    </a:p>
                  </a:txBody>
                  <a:tcPr marL="65645" marR="65645" marT="32822" marB="32822"/>
                </a:tc>
                <a:extLst>
                  <a:ext uri="{0D108BD9-81ED-4DB2-BD59-A6C34878D82A}">
                    <a16:rowId xmlns:a16="http://schemas.microsoft.com/office/drawing/2014/main" val="1285076396"/>
                  </a:ext>
                </a:extLst>
              </a:tr>
              <a:tr h="1273511">
                <a:tc>
                  <a:txBody>
                    <a:bodyPr/>
                    <a:lstStyle/>
                    <a:p>
                      <a:r>
                        <a:rPr lang="en-US" sz="1300"/>
                        <a:t>Q2.2</a:t>
                      </a:r>
                    </a:p>
                  </a:txBody>
                  <a:tcPr marL="65645" marR="65645" marT="32822" marB="32822"/>
                </a:tc>
                <a:tc>
                  <a:txBody>
                    <a:bodyPr/>
                    <a:lstStyle/>
                    <a:p>
                      <a:r>
                        <a:rPr lang="en-US" sz="1300"/>
                        <a:t>What does your topic involve? (i.e. What are the different parts to it?)</a:t>
                      </a:r>
                    </a:p>
                  </a:txBody>
                  <a:tcPr marL="65645" marR="65645" marT="32822" marB="32822"/>
                </a:tc>
                <a:tc>
                  <a:txBody>
                    <a:bodyPr/>
                    <a:lstStyle/>
                    <a:p>
                      <a:r>
                        <a:rPr lang="en-US" sz="1300"/>
                        <a:t>Visitor inflow (aviation activity)</a:t>
                      </a:r>
                    </a:p>
                    <a:p>
                      <a:r>
                        <a:rPr lang="en-US" sz="1300"/>
                        <a:t>Accommodation demand (hotels and short-stay rentals)</a:t>
                      </a:r>
                    </a:p>
                    <a:p>
                      <a:r>
                        <a:rPr lang="en-US" sz="1300"/>
                        <a:t>Events and entertainment activity</a:t>
                      </a:r>
                    </a:p>
                    <a:p>
                      <a:r>
                        <a:rPr lang="en-US" sz="1300"/>
                        <a:t>Revenue concentration and seasonality</a:t>
                      </a:r>
                    </a:p>
                    <a:p>
                      <a:r>
                        <a:rPr lang="en-US" sz="1300"/>
                        <a:t>Infrastructure and operational constraints</a:t>
                      </a:r>
                    </a:p>
                  </a:txBody>
                  <a:tcPr marL="65645" marR="65645" marT="32822" marB="32822"/>
                </a:tc>
                <a:extLst>
                  <a:ext uri="{0D108BD9-81ED-4DB2-BD59-A6C34878D82A}">
                    <a16:rowId xmlns:a16="http://schemas.microsoft.com/office/drawing/2014/main" val="560721380"/>
                  </a:ext>
                </a:extLst>
              </a:tr>
              <a:tr h="879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Q2.3</a:t>
                      </a:r>
                    </a:p>
                  </a:txBody>
                  <a:tcPr marL="65645" marR="65645" marT="32822" marB="32822"/>
                </a:tc>
                <a:tc>
                  <a:txBody>
                    <a:bodyPr/>
                    <a:lstStyle/>
                    <a:p>
                      <a:r>
                        <a:rPr lang="en-US" sz="1300"/>
                        <a:t>What is it similar to / different from?</a:t>
                      </a:r>
                    </a:p>
                  </a:txBody>
                  <a:tcPr marL="65645" marR="65645" marT="32822" marB="32822"/>
                </a:tc>
                <a:tc>
                  <a:txBody>
                    <a:bodyPr/>
                    <a:lstStyle/>
                    <a:p>
                      <a:r>
                        <a:rPr lang="en-US" sz="1300"/>
                        <a:t>Similar to seasonal tourism economies (e.g., holiday travel peaks)</a:t>
                      </a:r>
                    </a:p>
                    <a:p>
                      <a:r>
                        <a:rPr lang="en-US" sz="1300"/>
                        <a:t>Different due to its heavy concentration in a short time window and limited infrastructure planning</a:t>
                      </a:r>
                    </a:p>
                  </a:txBody>
                  <a:tcPr marL="65645" marR="65645" marT="32822" marB="32822"/>
                </a:tc>
                <a:extLst>
                  <a:ext uri="{0D108BD9-81ED-4DB2-BD59-A6C34878D82A}">
                    <a16:rowId xmlns:a16="http://schemas.microsoft.com/office/drawing/2014/main" val="1901711666"/>
                  </a:ext>
                </a:extLst>
              </a:tr>
              <a:tr h="8796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Q2.4</a:t>
                      </a:r>
                    </a:p>
                  </a:txBody>
                  <a:tcPr marL="65645" marR="65645" marT="32822" marB="3282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a:t>What might be affected/changed by your topic?</a:t>
                      </a:r>
                    </a:p>
                  </a:txBody>
                  <a:tcPr marL="65645" marR="65645" marT="32822" marB="32822"/>
                </a:tc>
                <a:tc>
                  <a:txBody>
                    <a:bodyPr/>
                    <a:lstStyle/>
                    <a:p>
                      <a:r>
                        <a:rPr lang="en-US" sz="1300"/>
                        <a:t>Tourism policy and planning decisions</a:t>
                      </a:r>
                    </a:p>
                    <a:p>
                      <a:r>
                        <a:rPr lang="en-US" sz="1300"/>
                        <a:t>Infrastructure investment priorities</a:t>
                      </a:r>
                    </a:p>
                    <a:p>
                      <a:r>
                        <a:rPr lang="en-US" sz="1300"/>
                        <a:t>Revenue optimization strategies</a:t>
                      </a:r>
                    </a:p>
                    <a:p>
                      <a:r>
                        <a:rPr lang="en-US" sz="1300"/>
                        <a:t>Long-term sustainability of seasonal tourism growth</a:t>
                      </a:r>
                    </a:p>
                  </a:txBody>
                  <a:tcPr marL="65645" marR="65645" marT="32822" marB="32822"/>
                </a:tc>
                <a:extLst>
                  <a:ext uri="{0D108BD9-81ED-4DB2-BD59-A6C34878D82A}">
                    <a16:rowId xmlns:a16="http://schemas.microsoft.com/office/drawing/2014/main" val="3127282056"/>
                  </a:ext>
                </a:extLst>
              </a:tr>
            </a:tbl>
          </a:graphicData>
        </a:graphic>
      </p:graphicFrame>
    </p:spTree>
    <p:extLst>
      <p:ext uri="{BB962C8B-B14F-4D97-AF65-F5344CB8AC3E}">
        <p14:creationId xmlns:p14="http://schemas.microsoft.com/office/powerpoint/2010/main" val="30187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545D489D-16E1-484D-867B-144368D74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9A496F5-B01E-4BF8-9D1E-C4E53B6F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2257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c 22">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2906963" y="1348064"/>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838200" y="643467"/>
            <a:ext cx="2951205" cy="5571066"/>
          </a:xfrm>
        </p:spPr>
        <p:txBody>
          <a:bodyPr>
            <a:normAutofit/>
          </a:bodyPr>
          <a:lstStyle/>
          <a:p>
            <a:r>
              <a:rPr lang="en-CA">
                <a:solidFill>
                  <a:srgbClr val="FFFFFF"/>
                </a:solidFill>
              </a:rPr>
              <a:t>5W 1H Analysis</a:t>
            </a:r>
            <a:br>
              <a:rPr lang="en-CA">
                <a:solidFill>
                  <a:srgbClr val="FFFFFF"/>
                </a:solidFill>
              </a:rPr>
            </a:br>
            <a:r>
              <a:rPr lang="en-CA">
                <a:solidFill>
                  <a:srgbClr val="FFFFFF"/>
                </a:solidFill>
              </a:rPr>
              <a:t>3 –</a:t>
            </a:r>
            <a:r>
              <a:rPr lang="en-US">
                <a:solidFill>
                  <a:srgbClr val="FFFFFF"/>
                </a:solidFill>
              </a:rPr>
              <a:t>When</a:t>
            </a:r>
            <a:endParaRPr lang="en-CA">
              <a:solidFill>
                <a:srgbClr val="FFFFFF"/>
              </a:solidFill>
            </a:endParaRP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3356978995"/>
              </p:ext>
            </p:extLst>
          </p:nvPr>
        </p:nvGraphicFramePr>
        <p:xfrm>
          <a:off x="5237018" y="2298109"/>
          <a:ext cx="6303731" cy="2272009"/>
        </p:xfrm>
        <a:graphic>
          <a:graphicData uri="http://schemas.openxmlformats.org/drawingml/2006/table">
            <a:tbl>
              <a:tblPr firstRow="1" bandRow="1">
                <a:noFill/>
                <a:tableStyleId>{5C22544A-7EE6-4342-B048-85BDC9FD1C3A}</a:tableStyleId>
              </a:tblPr>
              <a:tblGrid>
                <a:gridCol w="578345">
                  <a:extLst>
                    <a:ext uri="{9D8B030D-6E8A-4147-A177-3AD203B41FA5}">
                      <a16:colId xmlns:a16="http://schemas.microsoft.com/office/drawing/2014/main" val="132850126"/>
                    </a:ext>
                  </a:extLst>
                </a:gridCol>
                <a:gridCol w="1669997">
                  <a:extLst>
                    <a:ext uri="{9D8B030D-6E8A-4147-A177-3AD203B41FA5}">
                      <a16:colId xmlns:a16="http://schemas.microsoft.com/office/drawing/2014/main" val="2577973472"/>
                    </a:ext>
                  </a:extLst>
                </a:gridCol>
                <a:gridCol w="4055389">
                  <a:extLst>
                    <a:ext uri="{9D8B030D-6E8A-4147-A177-3AD203B41FA5}">
                      <a16:colId xmlns:a16="http://schemas.microsoft.com/office/drawing/2014/main" val="3264490754"/>
                    </a:ext>
                  </a:extLst>
                </a:gridCol>
              </a:tblGrid>
              <a:tr h="371562">
                <a:tc>
                  <a:txBody>
                    <a:bodyPr/>
                    <a:lstStyle/>
                    <a:p>
                      <a:r>
                        <a:rPr lang="en-US" sz="1600" b="1" cap="none" spc="30">
                          <a:solidFill>
                            <a:schemeClr val="tx1"/>
                          </a:solidFill>
                        </a:rPr>
                        <a:t>#</a:t>
                      </a:r>
                    </a:p>
                  </a:txBody>
                  <a:tcPr marL="0" marR="9137" marT="45684" marB="45684" anchor="ctr">
                    <a:lnL w="12700" cmpd="sng">
                      <a:noFill/>
                    </a:lnL>
                    <a:lnR w="12700" cmpd="sng">
                      <a:noFill/>
                    </a:lnR>
                    <a:lnT w="19050" cap="flat" cmpd="sng" algn="ctr">
                      <a:solidFill>
                        <a:schemeClr val="accent1"/>
                      </a:solidFill>
                      <a:prstDash val="solid"/>
                    </a:lnT>
                    <a:lnB w="38100" cmpd="sng">
                      <a:noFill/>
                    </a:lnB>
                    <a:noFill/>
                  </a:tcPr>
                </a:tc>
                <a:tc>
                  <a:txBody>
                    <a:bodyPr/>
                    <a:lstStyle/>
                    <a:p>
                      <a:r>
                        <a:rPr lang="en-US" sz="1600" b="1" cap="none" spc="30">
                          <a:solidFill>
                            <a:schemeClr val="tx1"/>
                          </a:solidFill>
                        </a:rPr>
                        <a:t>Question</a:t>
                      </a:r>
                    </a:p>
                  </a:txBody>
                  <a:tcPr marL="0" marR="9137" marT="45684" marB="45684" anchor="ctr">
                    <a:lnL w="12700" cmpd="sng">
                      <a:noFill/>
                    </a:lnL>
                    <a:lnR w="12700" cmpd="sng">
                      <a:noFill/>
                    </a:lnR>
                    <a:lnT w="19050" cap="flat" cmpd="sng" algn="ctr">
                      <a:solidFill>
                        <a:schemeClr val="accent1"/>
                      </a:solidFill>
                      <a:prstDash val="solid"/>
                    </a:lnT>
                    <a:lnB w="38100" cmpd="sng">
                      <a:noFill/>
                    </a:lnB>
                    <a:noFill/>
                  </a:tcPr>
                </a:tc>
                <a:tc>
                  <a:txBody>
                    <a:bodyPr/>
                    <a:lstStyle/>
                    <a:p>
                      <a:r>
                        <a:rPr lang="en-US" sz="1600" b="1" cap="none" spc="30">
                          <a:solidFill>
                            <a:schemeClr val="tx1"/>
                          </a:solidFill>
                        </a:rPr>
                        <a:t>Answer</a:t>
                      </a:r>
                    </a:p>
                  </a:txBody>
                  <a:tcPr marL="0" marR="9137" marT="45684" marB="45684" anchor="ctr">
                    <a:lnL w="12700" cmpd="sng">
                      <a:noFill/>
                    </a:lnL>
                    <a:lnR w="12700" cmpd="sng">
                      <a:noFill/>
                    </a:lnR>
                    <a:lnT w="19050" cap="flat" cmpd="sng" algn="ctr">
                      <a:solidFill>
                        <a:schemeClr val="accent1"/>
                      </a:solidFill>
                      <a:prstDash val="solid"/>
                    </a:lnT>
                    <a:lnB w="38100" cmpd="sng">
                      <a:noFill/>
                    </a:lnB>
                    <a:noFill/>
                  </a:tcPr>
                </a:tc>
                <a:extLst>
                  <a:ext uri="{0D108BD9-81ED-4DB2-BD59-A6C34878D82A}">
                    <a16:rowId xmlns:a16="http://schemas.microsoft.com/office/drawing/2014/main" val="3234149977"/>
                  </a:ext>
                </a:extLst>
              </a:tr>
              <a:tr h="1041591">
                <a:tc>
                  <a:txBody>
                    <a:bodyPr/>
                    <a:lstStyle/>
                    <a:p>
                      <a:r>
                        <a:rPr lang="en-US" sz="1200" cap="none" spc="0">
                          <a:solidFill>
                            <a:schemeClr val="tx1"/>
                          </a:solidFill>
                        </a:rPr>
                        <a:t>Q3.1</a:t>
                      </a:r>
                    </a:p>
                  </a:txBody>
                  <a:tcPr marL="0" marR="91368" marT="45684" marB="45684">
                    <a:lnL w="12700" cmpd="sng">
                      <a:noFill/>
                      <a:prstDash val="solid"/>
                    </a:lnL>
                    <a:lnR w="12700" cmpd="sng">
                      <a:noFill/>
                      <a:prstDash val="solid"/>
                    </a:lnR>
                    <a:lnT w="38100" cmpd="sng">
                      <a:noFill/>
                    </a:lnT>
                    <a:lnB w="9525" cap="flat" cmpd="sng" algn="ctr">
                      <a:solidFill>
                        <a:schemeClr val="accent1"/>
                      </a:solidFill>
                      <a:prstDash val="solid"/>
                    </a:lnB>
                    <a:noFill/>
                  </a:tcPr>
                </a:tc>
                <a:tc>
                  <a:txBody>
                    <a:bodyPr/>
                    <a:lstStyle/>
                    <a:p>
                      <a:r>
                        <a:rPr lang="en-US" sz="1200" cap="none" spc="0">
                          <a:solidFill>
                            <a:schemeClr val="tx1"/>
                          </a:solidFill>
                        </a:rPr>
                        <a:t>When does this take place? When did this take place? When will it take place? When should this take place?</a:t>
                      </a:r>
                    </a:p>
                  </a:txBody>
                  <a:tcPr marL="0" marR="91368" marT="45684" marB="45684">
                    <a:lnL w="12700" cmpd="sng">
                      <a:noFill/>
                      <a:prstDash val="solid"/>
                    </a:lnL>
                    <a:lnR w="12700" cmpd="sng">
                      <a:noFill/>
                      <a:prstDash val="solid"/>
                    </a:lnR>
                    <a:lnT w="38100" cmpd="sng">
                      <a:noFill/>
                    </a:lnT>
                    <a:lnB w="9525" cap="flat" cmpd="sng" algn="ctr">
                      <a:solidFill>
                        <a:schemeClr val="accent1"/>
                      </a:solidFill>
                      <a:prstDash val="solid"/>
                    </a:lnB>
                    <a:noFill/>
                  </a:tcPr>
                </a:tc>
                <a:tc>
                  <a:txBody>
                    <a:bodyPr/>
                    <a:lstStyle/>
                    <a:p>
                      <a:r>
                        <a:rPr lang="en-US" sz="1200" cap="none" spc="0">
                          <a:solidFill>
                            <a:schemeClr val="tx1"/>
                          </a:solidFill>
                        </a:rPr>
                        <a:t>Takes place annually, with peak activity in December</a:t>
                      </a:r>
                    </a:p>
                    <a:p>
                      <a:r>
                        <a:rPr lang="en-US" sz="1200" cap="none" spc="0">
                          <a:solidFill>
                            <a:schemeClr val="tx1"/>
                          </a:solidFill>
                        </a:rPr>
                        <a:t>Has occurred consistently over recent years</a:t>
                      </a:r>
                    </a:p>
                    <a:p>
                      <a:r>
                        <a:rPr lang="en-US" sz="1200" cap="none" spc="0">
                          <a:solidFill>
                            <a:schemeClr val="tx1"/>
                          </a:solidFill>
                        </a:rPr>
                        <a:t>Expected to continue annually</a:t>
                      </a:r>
                    </a:p>
                    <a:p>
                      <a:r>
                        <a:rPr lang="en-US" sz="1200" cap="none" spc="0">
                          <a:solidFill>
                            <a:schemeClr val="tx1"/>
                          </a:solidFill>
                        </a:rPr>
                        <a:t>Requires planning well before the December period for sustainability</a:t>
                      </a:r>
                    </a:p>
                  </a:txBody>
                  <a:tcPr marL="0" marR="91368" marT="45684" marB="45684">
                    <a:lnL w="12700" cmpd="sng">
                      <a:noFill/>
                      <a:prstDash val="solid"/>
                    </a:lnL>
                    <a:lnR w="12700" cmpd="sng">
                      <a:noFill/>
                      <a:prstDash val="solid"/>
                    </a:lnR>
                    <a:lnT w="38100" cmpd="sng">
                      <a:noFill/>
                    </a:lnT>
                    <a:lnB w="9525" cap="flat" cmpd="sng" algn="ctr">
                      <a:solidFill>
                        <a:schemeClr val="accent1"/>
                      </a:solidFill>
                      <a:prstDash val="solid"/>
                    </a:lnB>
                    <a:noFill/>
                  </a:tcPr>
                </a:tc>
                <a:extLst>
                  <a:ext uri="{0D108BD9-81ED-4DB2-BD59-A6C34878D82A}">
                    <a16:rowId xmlns:a16="http://schemas.microsoft.com/office/drawing/2014/main" val="1285076396"/>
                  </a:ext>
                </a:extLst>
              </a:tr>
              <a:tr h="858856">
                <a:tc>
                  <a:txBody>
                    <a:bodyPr/>
                    <a:lstStyle/>
                    <a:p>
                      <a:r>
                        <a:rPr lang="en-US" sz="1200" cap="none" spc="0">
                          <a:solidFill>
                            <a:schemeClr val="tx1"/>
                          </a:solidFill>
                        </a:rPr>
                        <a:t>Q3.2</a:t>
                      </a:r>
                    </a:p>
                  </a:txBody>
                  <a:tcPr marL="45684" marR="91368" marT="45684" marB="45684">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cap="none" spc="0">
                          <a:solidFill>
                            <a:schemeClr val="tx1"/>
                          </a:solidFill>
                        </a:rPr>
                        <a:t>Does when this takes place affect the topic?</a:t>
                      </a:r>
                    </a:p>
                  </a:txBody>
                  <a:tcPr marL="45684" marR="91368" marT="45684" marB="45684">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tc>
                  <a:txBody>
                    <a:bodyPr/>
                    <a:lstStyle/>
                    <a:p>
                      <a:r>
                        <a:rPr lang="en-US" sz="1200" cap="none" spc="0">
                          <a:solidFill>
                            <a:schemeClr val="tx1"/>
                          </a:solidFill>
                        </a:rPr>
                        <a:t>Yes. The concentration of activity in December creates extreme seasonality, amplifying revenue but also increasing congestion, cost pressures, and infrastructure strain.</a:t>
                      </a:r>
                    </a:p>
                  </a:txBody>
                  <a:tcPr marL="45684" marR="91368" marT="45684" marB="45684">
                    <a:lnL w="12700" cmpd="sng">
                      <a:noFill/>
                      <a:prstDash val="solid"/>
                    </a:lnL>
                    <a:lnR w="12700" cmpd="sng">
                      <a:noFill/>
                      <a:prstDash val="solid"/>
                    </a:lnR>
                    <a:lnT w="9525" cap="flat" cmpd="sng" algn="ctr">
                      <a:solidFill>
                        <a:schemeClr val="accent1"/>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560721380"/>
                  </a:ext>
                </a:extLst>
              </a:tr>
            </a:tbl>
          </a:graphicData>
        </a:graphic>
      </p:graphicFrame>
    </p:spTree>
    <p:extLst>
      <p:ext uri="{BB962C8B-B14F-4D97-AF65-F5344CB8AC3E}">
        <p14:creationId xmlns:p14="http://schemas.microsoft.com/office/powerpoint/2010/main" val="64293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545D489D-16E1-484D-867B-144368D74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9A496F5-B01E-4BF8-9D1E-C4E53B6F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2257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c 22">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2906963" y="1348064"/>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838200" y="643467"/>
            <a:ext cx="2951205" cy="5571066"/>
          </a:xfrm>
        </p:spPr>
        <p:txBody>
          <a:bodyPr>
            <a:normAutofit/>
          </a:bodyPr>
          <a:lstStyle/>
          <a:p>
            <a:r>
              <a:rPr lang="en-CA">
                <a:solidFill>
                  <a:srgbClr val="FFFFFF"/>
                </a:solidFill>
              </a:rPr>
              <a:t>5W 1H Analysis</a:t>
            </a:r>
            <a:br>
              <a:rPr lang="en-CA">
                <a:solidFill>
                  <a:srgbClr val="FFFFFF"/>
                </a:solidFill>
              </a:rPr>
            </a:br>
            <a:r>
              <a:rPr lang="en-CA">
                <a:solidFill>
                  <a:srgbClr val="FFFFFF"/>
                </a:solidFill>
              </a:rPr>
              <a:t>4 – </a:t>
            </a:r>
            <a:r>
              <a:rPr lang="en-US">
                <a:solidFill>
                  <a:srgbClr val="FFFFFF"/>
                </a:solidFill>
              </a:rPr>
              <a:t>Where</a:t>
            </a:r>
            <a:endParaRPr lang="en-CA">
              <a:solidFill>
                <a:srgbClr val="FFFFFF"/>
              </a:solidFill>
            </a:endParaRP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1294806071"/>
              </p:ext>
            </p:extLst>
          </p:nvPr>
        </p:nvGraphicFramePr>
        <p:xfrm>
          <a:off x="5237018" y="1762291"/>
          <a:ext cx="6303731" cy="3343644"/>
        </p:xfrm>
        <a:graphic>
          <a:graphicData uri="http://schemas.openxmlformats.org/drawingml/2006/table">
            <a:tbl>
              <a:tblPr firstRow="1" bandRow="1">
                <a:tableStyleId>{8EC20E35-A176-4012-BC5E-935CFFF8708E}</a:tableStyleId>
              </a:tblPr>
              <a:tblGrid>
                <a:gridCol w="685843">
                  <a:extLst>
                    <a:ext uri="{9D8B030D-6E8A-4147-A177-3AD203B41FA5}">
                      <a16:colId xmlns:a16="http://schemas.microsoft.com/office/drawing/2014/main" val="132850126"/>
                    </a:ext>
                  </a:extLst>
                </a:gridCol>
                <a:gridCol w="1470584">
                  <a:extLst>
                    <a:ext uri="{9D8B030D-6E8A-4147-A177-3AD203B41FA5}">
                      <a16:colId xmlns:a16="http://schemas.microsoft.com/office/drawing/2014/main" val="2577973472"/>
                    </a:ext>
                  </a:extLst>
                </a:gridCol>
                <a:gridCol w="4147304">
                  <a:extLst>
                    <a:ext uri="{9D8B030D-6E8A-4147-A177-3AD203B41FA5}">
                      <a16:colId xmlns:a16="http://schemas.microsoft.com/office/drawing/2014/main" val="3264490754"/>
                    </a:ext>
                  </a:extLst>
                </a:gridCol>
              </a:tblGrid>
              <a:tr h="340557">
                <a:tc>
                  <a:txBody>
                    <a:bodyPr/>
                    <a:lstStyle/>
                    <a:p>
                      <a:r>
                        <a:rPr lang="en-US" sz="1500"/>
                        <a:t>#</a:t>
                      </a:r>
                    </a:p>
                  </a:txBody>
                  <a:tcPr marL="77399" marR="77399" marT="38700" marB="38700"/>
                </a:tc>
                <a:tc>
                  <a:txBody>
                    <a:bodyPr/>
                    <a:lstStyle/>
                    <a:p>
                      <a:r>
                        <a:rPr lang="en-US" sz="1500"/>
                        <a:t>Question</a:t>
                      </a:r>
                    </a:p>
                  </a:txBody>
                  <a:tcPr marL="77399" marR="77399" marT="38700" marB="38700"/>
                </a:tc>
                <a:tc>
                  <a:txBody>
                    <a:bodyPr/>
                    <a:lstStyle/>
                    <a:p>
                      <a:r>
                        <a:rPr lang="en-US" sz="1500"/>
                        <a:t>Answer</a:t>
                      </a:r>
                    </a:p>
                  </a:txBody>
                  <a:tcPr marL="77399" marR="77399" marT="38700" marB="38700"/>
                </a:tc>
                <a:extLst>
                  <a:ext uri="{0D108BD9-81ED-4DB2-BD59-A6C34878D82A}">
                    <a16:rowId xmlns:a16="http://schemas.microsoft.com/office/drawing/2014/main" val="3234149977"/>
                  </a:ext>
                </a:extLst>
              </a:tr>
              <a:tr h="1733741">
                <a:tc>
                  <a:txBody>
                    <a:bodyPr/>
                    <a:lstStyle/>
                    <a:p>
                      <a:r>
                        <a:rPr lang="en-US" sz="1500"/>
                        <a:t>Q4.1</a:t>
                      </a:r>
                    </a:p>
                  </a:txBody>
                  <a:tcPr marL="77399" marR="77399" marT="38700" marB="38700"/>
                </a:tc>
                <a:tc>
                  <a:txBody>
                    <a:bodyPr/>
                    <a:lstStyle/>
                    <a:p>
                      <a:r>
                        <a:rPr lang="en-US" sz="1500"/>
                        <a:t>Where does this take place? (Where did it …. Where will it … Where should it ….?)</a:t>
                      </a:r>
                    </a:p>
                  </a:txBody>
                  <a:tcPr marL="77399" marR="77399" marT="38700" marB="38700"/>
                </a:tc>
                <a:tc>
                  <a:txBody>
                    <a:bodyPr/>
                    <a:lstStyle/>
                    <a:p>
                      <a:r>
                        <a:rPr lang="en-US" sz="1500"/>
                        <a:t>Primarily in Lagos State, Nigeria</a:t>
                      </a:r>
                    </a:p>
                    <a:p>
                      <a:r>
                        <a:rPr lang="en-US" sz="1500"/>
                        <a:t>Concentrated around major entertainment, hospitality, and transport hubs</a:t>
                      </a:r>
                    </a:p>
                    <a:p>
                      <a:r>
                        <a:rPr lang="en-US" sz="1500"/>
                        <a:t>Future expansion could include other cities to reduce pressure on Lagos</a:t>
                      </a:r>
                    </a:p>
                  </a:txBody>
                  <a:tcPr marL="77399" marR="77399" marT="38700" marB="38700"/>
                </a:tc>
                <a:extLst>
                  <a:ext uri="{0D108BD9-81ED-4DB2-BD59-A6C34878D82A}">
                    <a16:rowId xmlns:a16="http://schemas.microsoft.com/office/drawing/2014/main" val="1285076396"/>
                  </a:ext>
                </a:extLst>
              </a:tr>
              <a:tr h="1269346">
                <a:tc>
                  <a:txBody>
                    <a:bodyPr/>
                    <a:lstStyle/>
                    <a:p>
                      <a:r>
                        <a:rPr lang="en-US" sz="1500"/>
                        <a:t>Q4.2</a:t>
                      </a:r>
                    </a:p>
                  </a:txBody>
                  <a:tcPr marL="77399" marR="77399" marT="38700" marB="387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a:t>Does it matter where it takes place? Is it affected by location?</a:t>
                      </a:r>
                    </a:p>
                  </a:txBody>
                  <a:tcPr marL="77399" marR="77399" marT="38700" marB="38700"/>
                </a:tc>
                <a:tc>
                  <a:txBody>
                    <a:bodyPr/>
                    <a:lstStyle/>
                    <a:p>
                      <a:r>
                        <a:rPr lang="en-US" sz="1500"/>
                        <a:t>Yes. Lagos’ infrastructure capacity, population density, and role as Nigeria’s primary international gateway significantly influence both the scale of revenue and the associated challenges.</a:t>
                      </a:r>
                    </a:p>
                  </a:txBody>
                  <a:tcPr marL="77399" marR="77399" marT="38700" marB="38700"/>
                </a:tc>
                <a:extLst>
                  <a:ext uri="{0D108BD9-81ED-4DB2-BD59-A6C34878D82A}">
                    <a16:rowId xmlns:a16="http://schemas.microsoft.com/office/drawing/2014/main" val="560721380"/>
                  </a:ext>
                </a:extLst>
              </a:tr>
            </a:tbl>
          </a:graphicData>
        </a:graphic>
      </p:graphicFrame>
    </p:spTree>
    <p:extLst>
      <p:ext uri="{BB962C8B-B14F-4D97-AF65-F5344CB8AC3E}">
        <p14:creationId xmlns:p14="http://schemas.microsoft.com/office/powerpoint/2010/main" val="3558917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545D489D-16E1-484D-867B-144368D74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9A496F5-B01E-4BF8-9D1E-C4E53B6F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2257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c 22">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2906963" y="1348064"/>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838200" y="643467"/>
            <a:ext cx="2951205" cy="5571066"/>
          </a:xfrm>
        </p:spPr>
        <p:txBody>
          <a:bodyPr>
            <a:normAutofit/>
          </a:bodyPr>
          <a:lstStyle/>
          <a:p>
            <a:r>
              <a:rPr lang="en-CA">
                <a:solidFill>
                  <a:srgbClr val="FFFFFF"/>
                </a:solidFill>
              </a:rPr>
              <a:t>5W 1H Analysis</a:t>
            </a:r>
            <a:br>
              <a:rPr lang="en-CA">
                <a:solidFill>
                  <a:srgbClr val="FFFFFF"/>
                </a:solidFill>
              </a:rPr>
            </a:br>
            <a:r>
              <a:rPr lang="en-CA">
                <a:solidFill>
                  <a:srgbClr val="FFFFFF"/>
                </a:solidFill>
              </a:rPr>
              <a:t>5 – </a:t>
            </a:r>
            <a:r>
              <a:rPr lang="en-US">
                <a:solidFill>
                  <a:srgbClr val="FFFFFF"/>
                </a:solidFill>
              </a:rPr>
              <a:t>Why</a:t>
            </a:r>
            <a:endParaRPr lang="en-CA">
              <a:solidFill>
                <a:srgbClr val="FFFFFF"/>
              </a:solidFill>
            </a:endParaRP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104591"/>
              </p:ext>
            </p:extLst>
          </p:nvPr>
        </p:nvGraphicFramePr>
        <p:xfrm>
          <a:off x="5237018" y="2404571"/>
          <a:ext cx="6303731" cy="2059084"/>
        </p:xfrm>
        <a:graphic>
          <a:graphicData uri="http://schemas.openxmlformats.org/drawingml/2006/table">
            <a:tbl>
              <a:tblPr firstRow="1" bandRow="1">
                <a:noFill/>
                <a:tableStyleId>{5C22544A-7EE6-4342-B048-85BDC9FD1C3A}</a:tableStyleId>
              </a:tblPr>
              <a:tblGrid>
                <a:gridCol w="446431">
                  <a:extLst>
                    <a:ext uri="{9D8B030D-6E8A-4147-A177-3AD203B41FA5}">
                      <a16:colId xmlns:a16="http://schemas.microsoft.com/office/drawing/2014/main" val="132850126"/>
                    </a:ext>
                  </a:extLst>
                </a:gridCol>
                <a:gridCol w="1663205">
                  <a:extLst>
                    <a:ext uri="{9D8B030D-6E8A-4147-A177-3AD203B41FA5}">
                      <a16:colId xmlns:a16="http://schemas.microsoft.com/office/drawing/2014/main" val="2577973472"/>
                    </a:ext>
                  </a:extLst>
                </a:gridCol>
                <a:gridCol w="4194095">
                  <a:extLst>
                    <a:ext uri="{9D8B030D-6E8A-4147-A177-3AD203B41FA5}">
                      <a16:colId xmlns:a16="http://schemas.microsoft.com/office/drawing/2014/main" val="3264490754"/>
                    </a:ext>
                  </a:extLst>
                </a:gridCol>
              </a:tblGrid>
              <a:tr h="364126">
                <a:tc>
                  <a:txBody>
                    <a:bodyPr/>
                    <a:lstStyle/>
                    <a:p>
                      <a:r>
                        <a:rPr lang="en-US" sz="1100" b="1" cap="none" spc="0">
                          <a:solidFill>
                            <a:schemeClr val="tx1"/>
                          </a:solidFill>
                        </a:rPr>
                        <a:t>#</a:t>
                      </a:r>
                    </a:p>
                  </a:txBody>
                  <a:tcPr marL="0" marR="48335" marT="19334" marB="145006">
                    <a:lnL w="12700" cmpd="sng">
                      <a:noFill/>
                    </a:lnL>
                    <a:lnR w="12700" cmpd="sng">
                      <a:noFill/>
                    </a:lnR>
                    <a:lnT w="28575" cap="flat" cmpd="sng" algn="ctr">
                      <a:solidFill>
                        <a:schemeClr val="tx1"/>
                      </a:solidFill>
                      <a:prstDash val="solid"/>
                    </a:lnT>
                    <a:lnB w="38100" cmpd="sng">
                      <a:noFill/>
                    </a:lnB>
                    <a:noFill/>
                  </a:tcPr>
                </a:tc>
                <a:tc>
                  <a:txBody>
                    <a:bodyPr/>
                    <a:lstStyle/>
                    <a:p>
                      <a:r>
                        <a:rPr lang="en-US" sz="1100" b="1" cap="none" spc="0">
                          <a:solidFill>
                            <a:schemeClr val="tx1"/>
                          </a:solidFill>
                        </a:rPr>
                        <a:t>Question</a:t>
                      </a:r>
                    </a:p>
                  </a:txBody>
                  <a:tcPr marL="0" marR="48335" marT="19334" marB="145006">
                    <a:lnL w="12700" cmpd="sng">
                      <a:noFill/>
                    </a:lnL>
                    <a:lnR w="12700" cmpd="sng">
                      <a:noFill/>
                    </a:lnR>
                    <a:lnT w="28575" cap="flat" cmpd="sng" algn="ctr">
                      <a:solidFill>
                        <a:schemeClr val="tx1"/>
                      </a:solidFill>
                      <a:prstDash val="solid"/>
                    </a:lnT>
                    <a:lnB w="38100" cmpd="sng">
                      <a:noFill/>
                    </a:lnB>
                    <a:noFill/>
                  </a:tcPr>
                </a:tc>
                <a:tc>
                  <a:txBody>
                    <a:bodyPr/>
                    <a:lstStyle/>
                    <a:p>
                      <a:r>
                        <a:rPr lang="en-US" sz="1100" b="1" cap="none" spc="0">
                          <a:solidFill>
                            <a:schemeClr val="tx1"/>
                          </a:solidFill>
                        </a:rPr>
                        <a:t>Answer</a:t>
                      </a:r>
                    </a:p>
                  </a:txBody>
                  <a:tcPr marL="0" marR="48335" marT="19334" marB="145006">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3234149977"/>
                  </a:ext>
                </a:extLst>
              </a:tr>
              <a:tr h="847479">
                <a:tc>
                  <a:txBody>
                    <a:bodyPr/>
                    <a:lstStyle/>
                    <a:p>
                      <a:r>
                        <a:rPr lang="en-US" sz="1100" cap="none" spc="0">
                          <a:solidFill>
                            <a:schemeClr val="tx1"/>
                          </a:solidFill>
                        </a:rPr>
                        <a:t>Q5.1</a:t>
                      </a:r>
                    </a:p>
                  </a:txBody>
                  <a:tcPr marL="0" marR="48335" marT="19334" marB="145006">
                    <a:lnL w="12700" cmpd="sng">
                      <a:noFill/>
                      <a:prstDash val="solid"/>
                    </a:lnL>
                    <a:lnR w="12700" cmpd="sng">
                      <a:noFill/>
                      <a:prstDash val="solid"/>
                    </a:lnR>
                    <a:lnT w="38100" cmpd="sng">
                      <a:noFill/>
                    </a:lnT>
                    <a:lnB w="6350" cap="flat" cmpd="sng" algn="ctr">
                      <a:solidFill>
                        <a:schemeClr val="tx1"/>
                      </a:solidFill>
                      <a:prstDash val="solid"/>
                    </a:lnB>
                    <a:noFill/>
                  </a:tcPr>
                </a:tc>
                <a:tc>
                  <a:txBody>
                    <a:bodyPr/>
                    <a:lstStyle/>
                    <a:p>
                      <a:r>
                        <a:rPr lang="en-US" sz="1100" cap="none" spc="0">
                          <a:solidFill>
                            <a:schemeClr val="tx1"/>
                          </a:solidFill>
                        </a:rPr>
                        <a:t>Why is this topic important? Why does it matter?</a:t>
                      </a:r>
                    </a:p>
                  </a:txBody>
                  <a:tcPr marL="0" marR="48335" marT="19334" marB="145006">
                    <a:lnL w="12700" cmpd="sng">
                      <a:noFill/>
                      <a:prstDash val="solid"/>
                    </a:lnL>
                    <a:lnR w="12700" cmpd="sng">
                      <a:noFill/>
                      <a:prstDash val="solid"/>
                    </a:lnR>
                    <a:lnT w="38100" cmpd="sng">
                      <a:noFill/>
                    </a:lnT>
                    <a:lnB w="6350" cap="flat" cmpd="sng" algn="ctr">
                      <a:solidFill>
                        <a:schemeClr val="tx1"/>
                      </a:solidFill>
                      <a:prstDash val="solid"/>
                    </a:lnB>
                    <a:noFill/>
                  </a:tcPr>
                </a:tc>
                <a:tc>
                  <a:txBody>
                    <a:bodyPr/>
                    <a:lstStyle/>
                    <a:p>
                      <a:r>
                        <a:rPr lang="en-US" sz="1100" cap="none" spc="0">
                          <a:solidFill>
                            <a:schemeClr val="tx1"/>
                          </a:solidFill>
                        </a:rPr>
                        <a:t>Detty December generates substantial economic activity</a:t>
                      </a:r>
                    </a:p>
                    <a:p>
                      <a:r>
                        <a:rPr lang="en-US" sz="1100" cap="none" spc="0">
                          <a:solidFill>
                            <a:schemeClr val="tx1"/>
                          </a:solidFill>
                        </a:rPr>
                        <a:t>Lack of data-driven analysis limits effective planning</a:t>
                      </a:r>
                    </a:p>
                    <a:p>
                      <a:r>
                        <a:rPr lang="en-US" sz="1100" cap="none" spc="0">
                          <a:solidFill>
                            <a:schemeClr val="tx1"/>
                          </a:solidFill>
                        </a:rPr>
                        <a:t>Understanding its impact supports sustainable economic growth and investment decisions</a:t>
                      </a:r>
                    </a:p>
                  </a:txBody>
                  <a:tcPr marL="0" marR="48335" marT="19334" marB="145006">
                    <a:lnL w="12700" cmpd="sng">
                      <a:noFill/>
                      <a:prstDash val="solid"/>
                    </a:lnL>
                    <a:lnR w="12700" cmpd="sng">
                      <a:noFill/>
                      <a:prstDash val="solid"/>
                    </a:lnR>
                    <a:lnT w="38100" cmpd="sng">
                      <a:noFill/>
                    </a:lnT>
                    <a:lnB w="6350" cap="flat" cmpd="sng" algn="ctr">
                      <a:solidFill>
                        <a:schemeClr val="tx1"/>
                      </a:solidFill>
                      <a:prstDash val="solid"/>
                    </a:lnB>
                    <a:noFill/>
                  </a:tcPr>
                </a:tc>
                <a:extLst>
                  <a:ext uri="{0D108BD9-81ED-4DB2-BD59-A6C34878D82A}">
                    <a16:rowId xmlns:a16="http://schemas.microsoft.com/office/drawing/2014/main" val="1285076396"/>
                  </a:ext>
                </a:extLst>
              </a:tr>
              <a:tr h="847479">
                <a:tc>
                  <a:txBody>
                    <a:bodyPr/>
                    <a:lstStyle/>
                    <a:p>
                      <a:r>
                        <a:rPr lang="en-US" sz="1100" cap="none" spc="0">
                          <a:solidFill>
                            <a:schemeClr val="tx1"/>
                          </a:solidFill>
                        </a:rPr>
                        <a:t>Q5.2</a:t>
                      </a:r>
                    </a:p>
                  </a:txBody>
                  <a:tcPr marL="0" marR="48335" marT="19334" marB="145006">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cap="none" spc="0">
                          <a:solidFill>
                            <a:schemeClr val="tx1"/>
                          </a:solidFill>
                        </a:rPr>
                        <a:t>Why do certain things happen? (What are some causes and effects within the topic?)</a:t>
                      </a:r>
                    </a:p>
                  </a:txBody>
                  <a:tcPr marL="0" marR="48335" marT="19334" marB="145006">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tc>
                  <a:txBody>
                    <a:bodyPr/>
                    <a:lstStyle/>
                    <a:p>
                      <a:r>
                        <a:rPr lang="en-US" sz="1100" cap="none" spc="0">
                          <a:solidFill>
                            <a:schemeClr val="tx1"/>
                          </a:solidFill>
                        </a:rPr>
                        <a:t>Concentrated events attract visitors → increased spending</a:t>
                      </a:r>
                    </a:p>
                    <a:p>
                      <a:r>
                        <a:rPr lang="en-US" sz="1100" cap="none" spc="0">
                          <a:solidFill>
                            <a:schemeClr val="tx1"/>
                          </a:solidFill>
                        </a:rPr>
                        <a:t>Limited infrastructure capacity → congestion and service strain</a:t>
                      </a:r>
                    </a:p>
                    <a:p>
                      <a:r>
                        <a:rPr lang="en-US" sz="1100" cap="none" spc="0">
                          <a:solidFill>
                            <a:schemeClr val="tx1"/>
                          </a:solidFill>
                        </a:rPr>
                        <a:t>Seasonal demand spikes → short-term revenue growth but long-term sustainability risks</a:t>
                      </a:r>
                    </a:p>
                  </a:txBody>
                  <a:tcPr marL="0" marR="48335" marT="19334" marB="145006">
                    <a:lnL w="12700" cmpd="sng">
                      <a:noFill/>
                      <a:prstDash val="solid"/>
                    </a:lnL>
                    <a:lnR w="12700" cmpd="sng">
                      <a:noFill/>
                      <a:prstDash val="solid"/>
                    </a:lnR>
                    <a:lnT w="635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560721380"/>
                  </a:ext>
                </a:extLst>
              </a:tr>
            </a:tbl>
          </a:graphicData>
        </a:graphic>
      </p:graphicFrame>
    </p:spTree>
    <p:extLst>
      <p:ext uri="{BB962C8B-B14F-4D97-AF65-F5344CB8AC3E}">
        <p14:creationId xmlns:p14="http://schemas.microsoft.com/office/powerpoint/2010/main" val="1885209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545D489D-16E1-484D-867B-144368D74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9A496F5-B01E-4BF8-9D1E-C4E53B6F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2257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c 22">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2906963" y="1348064"/>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838200" y="643467"/>
            <a:ext cx="2951205" cy="5571066"/>
          </a:xfrm>
        </p:spPr>
        <p:txBody>
          <a:bodyPr>
            <a:normAutofit/>
          </a:bodyPr>
          <a:lstStyle/>
          <a:p>
            <a:r>
              <a:rPr lang="en-CA">
                <a:solidFill>
                  <a:srgbClr val="FFFFFF"/>
                </a:solidFill>
              </a:rPr>
              <a:t>5W 1H Analysis</a:t>
            </a:r>
            <a:br>
              <a:rPr lang="en-CA">
                <a:solidFill>
                  <a:srgbClr val="FFFFFF"/>
                </a:solidFill>
              </a:rPr>
            </a:br>
            <a:r>
              <a:rPr lang="en-CA">
                <a:solidFill>
                  <a:srgbClr val="FFFFFF"/>
                </a:solidFill>
              </a:rPr>
              <a:t>6 – </a:t>
            </a:r>
            <a:r>
              <a:rPr lang="en-US">
                <a:solidFill>
                  <a:srgbClr val="FFFFFF"/>
                </a:solidFill>
              </a:rPr>
              <a:t>How</a:t>
            </a:r>
            <a:endParaRPr lang="en-CA">
              <a:solidFill>
                <a:srgbClr val="FFFFFF"/>
              </a:solidFill>
            </a:endParaRP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3449907870"/>
              </p:ext>
            </p:extLst>
          </p:nvPr>
        </p:nvGraphicFramePr>
        <p:xfrm>
          <a:off x="5237018" y="1326387"/>
          <a:ext cx="6303730" cy="4217864"/>
        </p:xfrm>
        <a:graphic>
          <a:graphicData uri="http://schemas.openxmlformats.org/drawingml/2006/table">
            <a:tbl>
              <a:tblPr firstRow="1" bandRow="1">
                <a:tableStyleId>{5C22544A-7EE6-4342-B048-85BDC9FD1C3A}</a:tableStyleId>
              </a:tblPr>
              <a:tblGrid>
                <a:gridCol w="659958">
                  <a:extLst>
                    <a:ext uri="{9D8B030D-6E8A-4147-A177-3AD203B41FA5}">
                      <a16:colId xmlns:a16="http://schemas.microsoft.com/office/drawing/2014/main" val="132850126"/>
                    </a:ext>
                  </a:extLst>
                </a:gridCol>
                <a:gridCol w="1425425">
                  <a:extLst>
                    <a:ext uri="{9D8B030D-6E8A-4147-A177-3AD203B41FA5}">
                      <a16:colId xmlns:a16="http://schemas.microsoft.com/office/drawing/2014/main" val="2577973472"/>
                    </a:ext>
                  </a:extLst>
                </a:gridCol>
                <a:gridCol w="4218347">
                  <a:extLst>
                    <a:ext uri="{9D8B030D-6E8A-4147-A177-3AD203B41FA5}">
                      <a16:colId xmlns:a16="http://schemas.microsoft.com/office/drawing/2014/main" val="3264490754"/>
                    </a:ext>
                  </a:extLst>
                </a:gridCol>
              </a:tblGrid>
              <a:tr h="327703">
                <a:tc>
                  <a:txBody>
                    <a:bodyPr/>
                    <a:lstStyle/>
                    <a:p>
                      <a:r>
                        <a:rPr lang="en-US" sz="1500"/>
                        <a:t>#</a:t>
                      </a:r>
                    </a:p>
                  </a:txBody>
                  <a:tcPr marL="74478" marR="74478" marT="37239" marB="37239"/>
                </a:tc>
                <a:tc>
                  <a:txBody>
                    <a:bodyPr/>
                    <a:lstStyle/>
                    <a:p>
                      <a:r>
                        <a:rPr lang="en-US" sz="1500"/>
                        <a:t>Question</a:t>
                      </a:r>
                    </a:p>
                  </a:txBody>
                  <a:tcPr marL="74478" marR="74478" marT="37239" marB="37239"/>
                </a:tc>
                <a:tc>
                  <a:txBody>
                    <a:bodyPr/>
                    <a:lstStyle/>
                    <a:p>
                      <a:r>
                        <a:rPr lang="en-US" sz="1500"/>
                        <a:t>Answer</a:t>
                      </a:r>
                    </a:p>
                  </a:txBody>
                  <a:tcPr marL="74478" marR="74478" marT="37239" marB="37239"/>
                </a:tc>
                <a:extLst>
                  <a:ext uri="{0D108BD9-81ED-4DB2-BD59-A6C34878D82A}">
                    <a16:rowId xmlns:a16="http://schemas.microsoft.com/office/drawing/2014/main" val="3234149977"/>
                  </a:ext>
                </a:extLst>
              </a:tr>
              <a:tr h="1444872">
                <a:tc>
                  <a:txBody>
                    <a:bodyPr/>
                    <a:lstStyle/>
                    <a:p>
                      <a:r>
                        <a:rPr lang="en-US" sz="1500"/>
                        <a:t>Q6.1</a:t>
                      </a:r>
                    </a:p>
                  </a:txBody>
                  <a:tcPr marL="74478" marR="74478" marT="37239" marB="37239"/>
                </a:tc>
                <a:tc>
                  <a:txBody>
                    <a:bodyPr/>
                    <a:lstStyle/>
                    <a:p>
                      <a:r>
                        <a:rPr lang="en-US" sz="1500"/>
                        <a:t>How does this topic work? How does it function? How does it do what it does?</a:t>
                      </a:r>
                    </a:p>
                  </a:txBody>
                  <a:tcPr marL="74478" marR="74478" marT="37239" marB="37239"/>
                </a:tc>
                <a:tc>
                  <a:txBody>
                    <a:bodyPr/>
                    <a:lstStyle/>
                    <a:p>
                      <a:r>
                        <a:rPr lang="en-US" sz="1500"/>
                        <a:t>Events and entertainment attract visitors</a:t>
                      </a:r>
                    </a:p>
                    <a:p>
                      <a:r>
                        <a:rPr lang="en-US" sz="1500"/>
                        <a:t>Visitors increase demand for flights and accommodation</a:t>
                      </a:r>
                    </a:p>
                    <a:p>
                      <a:r>
                        <a:rPr lang="en-US" sz="1500"/>
                        <a:t>Increased demand drives revenue across key sectors within a short period</a:t>
                      </a:r>
                    </a:p>
                  </a:txBody>
                  <a:tcPr marL="74478" marR="74478" marT="37239" marB="37239"/>
                </a:tc>
                <a:extLst>
                  <a:ext uri="{0D108BD9-81ED-4DB2-BD59-A6C34878D82A}">
                    <a16:rowId xmlns:a16="http://schemas.microsoft.com/office/drawing/2014/main" val="1285076396"/>
                  </a:ext>
                </a:extLst>
              </a:tr>
              <a:tr h="998005">
                <a:tc>
                  <a:txBody>
                    <a:bodyPr/>
                    <a:lstStyle/>
                    <a:p>
                      <a:r>
                        <a:rPr lang="en-US" sz="1500"/>
                        <a:t>Q6.2</a:t>
                      </a:r>
                    </a:p>
                  </a:txBody>
                  <a:tcPr marL="74478" marR="74478" marT="37239" marB="37239"/>
                </a:tc>
                <a:tc>
                  <a:txBody>
                    <a:bodyPr/>
                    <a:lstStyle/>
                    <a:p>
                      <a:r>
                        <a:rPr lang="en-US" sz="1500"/>
                        <a:t>How did it come to be?</a:t>
                      </a:r>
                    </a:p>
                  </a:txBody>
                  <a:tcPr marL="74478" marR="74478" marT="37239" marB="37239"/>
                </a:tc>
                <a:tc>
                  <a:txBody>
                    <a:bodyPr/>
                    <a:lstStyle/>
                    <a:p>
                      <a:r>
                        <a:rPr lang="en-US" sz="1500"/>
                        <a:t>Growth in Nigeria’s entertainment industry</a:t>
                      </a:r>
                    </a:p>
                    <a:p>
                      <a:r>
                        <a:rPr lang="en-US" sz="1500"/>
                        <a:t>Increased diaspora travel during holiday periods</a:t>
                      </a:r>
                    </a:p>
                    <a:p>
                      <a:r>
                        <a:rPr lang="en-US" sz="1500"/>
                        <a:t>Lagos’ positioning as a cultural and economic hub</a:t>
                      </a:r>
                    </a:p>
                  </a:txBody>
                  <a:tcPr marL="74478" marR="74478" marT="37239" marB="37239"/>
                </a:tc>
                <a:extLst>
                  <a:ext uri="{0D108BD9-81ED-4DB2-BD59-A6C34878D82A}">
                    <a16:rowId xmlns:a16="http://schemas.microsoft.com/office/drawing/2014/main" val="560721380"/>
                  </a:ext>
                </a:extLst>
              </a:tr>
              <a:tr h="1444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a:t>Q6.3</a:t>
                      </a:r>
                    </a:p>
                  </a:txBody>
                  <a:tcPr marL="74478" marR="74478" marT="37239" marB="37239"/>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a:t>How are those involved affected?</a:t>
                      </a:r>
                    </a:p>
                  </a:txBody>
                  <a:tcPr marL="74478" marR="74478" marT="37239" marB="37239"/>
                </a:tc>
                <a:tc>
                  <a:txBody>
                    <a:bodyPr/>
                    <a:lstStyle/>
                    <a:p>
                      <a:r>
                        <a:rPr lang="en-US" sz="1500"/>
                        <a:t>Businesses experience revenue spikes and capacity pressure</a:t>
                      </a:r>
                    </a:p>
                    <a:p>
                      <a:r>
                        <a:rPr lang="en-US" sz="1500"/>
                        <a:t>Government gains tourism revenue but faces infrastructure strain(like traffic congestion)</a:t>
                      </a:r>
                    </a:p>
                    <a:p>
                      <a:r>
                        <a:rPr lang="en-US" sz="1500"/>
                        <a:t>Residents experience both economic opportunities and quality-of-life challenges</a:t>
                      </a:r>
                    </a:p>
                  </a:txBody>
                  <a:tcPr marL="74478" marR="74478" marT="37239" marB="37239"/>
                </a:tc>
                <a:extLst>
                  <a:ext uri="{0D108BD9-81ED-4DB2-BD59-A6C34878D82A}">
                    <a16:rowId xmlns:a16="http://schemas.microsoft.com/office/drawing/2014/main" val="1901711666"/>
                  </a:ext>
                </a:extLst>
              </a:tr>
            </a:tbl>
          </a:graphicData>
        </a:graphic>
      </p:graphicFrame>
    </p:spTree>
    <p:extLst>
      <p:ext uri="{BB962C8B-B14F-4D97-AF65-F5344CB8AC3E}">
        <p14:creationId xmlns:p14="http://schemas.microsoft.com/office/powerpoint/2010/main" val="3911118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347D6575-0B06-40B2-9D0F-298202F6B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Arc 26">
            <a:extLst>
              <a:ext uri="{FF2B5EF4-FFF2-40B4-BE49-F238E27FC236}">
                <a16:creationId xmlns:a16="http://schemas.microsoft.com/office/drawing/2014/main" id="{E2B33195-5BCA-4BB7-A82D-673952268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604789">
            <a:off x="675639" y="775849"/>
            <a:ext cx="2987899" cy="2987899"/>
          </a:xfrm>
          <a:prstGeom prst="arc">
            <a:avLst>
              <a:gd name="adj1" fmla="val 14455503"/>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9EFBD9F-91A1-4DAF-BFC4-2015047C6FAF}"/>
              </a:ext>
            </a:extLst>
          </p:cNvPr>
          <p:cNvSpPr>
            <a:spLocks noGrp="1"/>
          </p:cNvSpPr>
          <p:nvPr>
            <p:ph type="ctrTitle"/>
          </p:nvPr>
        </p:nvSpPr>
        <p:spPr>
          <a:xfrm>
            <a:off x="892818" y="1370171"/>
            <a:ext cx="5085580" cy="2387600"/>
          </a:xfrm>
        </p:spPr>
        <p:txBody>
          <a:bodyPr>
            <a:normAutofit/>
          </a:bodyPr>
          <a:lstStyle/>
          <a:p>
            <a:pPr algn="l"/>
            <a:r>
              <a:rPr lang="en-CA" sz="4700">
                <a:solidFill>
                  <a:schemeClr val="bg1"/>
                </a:solidFill>
              </a:rPr>
              <a:t>2 – </a:t>
            </a:r>
            <a:br>
              <a:rPr lang="en-CA" sz="4700">
                <a:solidFill>
                  <a:schemeClr val="bg1"/>
                </a:solidFill>
              </a:rPr>
            </a:br>
            <a:r>
              <a:rPr lang="en-CA" sz="4700">
                <a:solidFill>
                  <a:schemeClr val="bg1"/>
                </a:solidFill>
              </a:rPr>
              <a:t>Data Understanding – High Level</a:t>
            </a:r>
          </a:p>
        </p:txBody>
      </p:sp>
      <p:sp>
        <p:nvSpPr>
          <p:cNvPr id="29" name="Oval 28">
            <a:extLst>
              <a:ext uri="{FF2B5EF4-FFF2-40B4-BE49-F238E27FC236}">
                <a16:creationId xmlns:a16="http://schemas.microsoft.com/office/drawing/2014/main" id="{CF8AD9F3-9AF6-494F-83A3-2F67756393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9802" y="832686"/>
            <a:ext cx="1104943" cy="107496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70AEB26-777A-45F9-81E1-8CA71C13C53C}"/>
              </a:ext>
            </a:extLst>
          </p:cNvPr>
          <p:cNvPicPr>
            <a:picLocks noChangeAspect="1"/>
          </p:cNvPicPr>
          <p:nvPr/>
        </p:nvPicPr>
        <p:blipFill rotWithShape="1">
          <a:blip r:embed="rId2"/>
          <a:srcRect l="8136" r="25115" b="2"/>
          <a:stretch>
            <a:fillRect/>
          </a:stretch>
        </p:blipFill>
        <p:spPr>
          <a:xfrm>
            <a:off x="6520859" y="795510"/>
            <a:ext cx="5137520" cy="5137520"/>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
        <p:nvSpPr>
          <p:cNvPr id="31" name="Rectangle 30">
            <a:extLst>
              <a:ext uri="{FF2B5EF4-FFF2-40B4-BE49-F238E27FC236}">
                <a16:creationId xmlns:a16="http://schemas.microsoft.com/office/drawing/2014/main" id="{0DA5DB8B-7E5C-4ABC-8069-A9A8806F3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82154" y="4925384"/>
            <a:ext cx="876704" cy="876704"/>
          </a:xfrm>
          <a:prstGeom prst="rect">
            <a:avLst/>
          </a:prstGeom>
          <a:noFill/>
          <a:ln w="127000">
            <a:solidFill>
              <a:schemeClr val="accent4"/>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494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D5D06-B9CE-450A-80AA-75CAB667EA99}"/>
              </a:ext>
            </a:extLst>
          </p:cNvPr>
          <p:cNvSpPr>
            <a:spLocks noGrp="1"/>
          </p:cNvSpPr>
          <p:nvPr>
            <p:ph type="title"/>
          </p:nvPr>
        </p:nvSpPr>
        <p:spPr>
          <a:xfrm>
            <a:off x="838200" y="140785"/>
            <a:ext cx="7583129" cy="459299"/>
          </a:xfrm>
        </p:spPr>
        <p:txBody>
          <a:bodyPr>
            <a:normAutofit fontScale="90000"/>
          </a:bodyPr>
          <a:lstStyle/>
          <a:p>
            <a:r>
              <a:rPr lang="en-US" dirty="0"/>
              <a:t>Data Modeling – Conceptual model</a:t>
            </a:r>
            <a:endParaRPr lang="en-CA" dirty="0"/>
          </a:p>
        </p:txBody>
      </p:sp>
      <p:sp>
        <p:nvSpPr>
          <p:cNvPr id="3" name="Content Placeholder 2">
            <a:extLst>
              <a:ext uri="{FF2B5EF4-FFF2-40B4-BE49-F238E27FC236}">
                <a16:creationId xmlns:a16="http://schemas.microsoft.com/office/drawing/2014/main" id="{71012DFB-C024-4793-A594-17D76E5B3183}"/>
              </a:ext>
            </a:extLst>
          </p:cNvPr>
          <p:cNvSpPr>
            <a:spLocks noGrp="1"/>
          </p:cNvSpPr>
          <p:nvPr>
            <p:ph idx="1"/>
          </p:nvPr>
        </p:nvSpPr>
        <p:spPr>
          <a:xfrm>
            <a:off x="838200" y="831716"/>
            <a:ext cx="10515600" cy="5345247"/>
          </a:xfrm>
        </p:spPr>
        <p:txBody>
          <a:bodyPr/>
          <a:lstStyle/>
          <a:p>
            <a:endParaRPr lang="en-CA" b="1" dirty="0"/>
          </a:p>
        </p:txBody>
      </p:sp>
      <p:sp>
        <p:nvSpPr>
          <p:cNvPr id="4" name="Flowchart: Alternate Process 3">
            <a:extLst>
              <a:ext uri="{FF2B5EF4-FFF2-40B4-BE49-F238E27FC236}">
                <a16:creationId xmlns:a16="http://schemas.microsoft.com/office/drawing/2014/main" id="{8B2EC9E0-6A36-4A80-B984-0FB53A9749ED}"/>
              </a:ext>
            </a:extLst>
          </p:cNvPr>
          <p:cNvSpPr/>
          <p:nvPr/>
        </p:nvSpPr>
        <p:spPr>
          <a:xfrm>
            <a:off x="1909690" y="2335237"/>
            <a:ext cx="45719" cy="4571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Flowchart: Alternate Process 4">
            <a:extLst>
              <a:ext uri="{FF2B5EF4-FFF2-40B4-BE49-F238E27FC236}">
                <a16:creationId xmlns:a16="http://schemas.microsoft.com/office/drawing/2014/main" id="{A6D33AB2-08ED-4402-8B05-917C1567AFBF}"/>
              </a:ext>
            </a:extLst>
          </p:cNvPr>
          <p:cNvSpPr/>
          <p:nvPr/>
        </p:nvSpPr>
        <p:spPr>
          <a:xfrm>
            <a:off x="9006972" y="3156998"/>
            <a:ext cx="2128916" cy="3060442"/>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00" b="1" dirty="0">
                <a:solidFill>
                  <a:schemeClr val="accent5">
                    <a:lumMod val="50000"/>
                  </a:schemeClr>
                </a:solidFill>
              </a:rPr>
              <a:t>SUSTAINABILITY &amp; POLICY IMPLICATIONS</a:t>
            </a:r>
          </a:p>
          <a:p>
            <a:pPr algn="ctr"/>
            <a:endParaRPr lang="en-US" sz="1400" b="1" dirty="0">
              <a:solidFill>
                <a:schemeClr val="accent5">
                  <a:lumMod val="50000"/>
                </a:schemeClr>
              </a:solidFill>
            </a:endParaRPr>
          </a:p>
          <a:p>
            <a:pPr marL="171450" indent="-171450">
              <a:buFont typeface="Arial" panose="020B0604020202020204" pitchFamily="34" charset="0"/>
              <a:buChar char="•"/>
            </a:pPr>
            <a:r>
              <a:rPr lang="en-US" sz="1200" dirty="0">
                <a:solidFill>
                  <a:schemeClr val="tx1"/>
                </a:solidFill>
              </a:rPr>
              <a:t>Need for data-driven tourism planning</a:t>
            </a:r>
          </a:p>
          <a:p>
            <a:pPr marL="171450" indent="-171450">
              <a:buFont typeface="Arial" panose="020B0604020202020204" pitchFamily="34" charset="0"/>
              <a:buChar char="•"/>
            </a:pPr>
            <a:r>
              <a:rPr lang="en-US" sz="1200" dirty="0">
                <a:solidFill>
                  <a:schemeClr val="tx1"/>
                </a:solidFill>
              </a:rPr>
              <a:t>Revenue diversification beyond December</a:t>
            </a:r>
          </a:p>
          <a:p>
            <a:pPr marL="171450" indent="-171450">
              <a:buFont typeface="Arial" panose="020B0604020202020204" pitchFamily="34" charset="0"/>
              <a:buChar char="•"/>
            </a:pPr>
            <a:r>
              <a:rPr lang="en-US" sz="1200" dirty="0">
                <a:solidFill>
                  <a:schemeClr val="tx1"/>
                </a:solidFill>
              </a:rPr>
              <a:t>Infrastructure investment prioritization</a:t>
            </a:r>
          </a:p>
          <a:p>
            <a:pPr marL="171450" indent="-171450">
              <a:buFont typeface="Arial" panose="020B0604020202020204" pitchFamily="34" charset="0"/>
              <a:buChar char="•"/>
            </a:pPr>
            <a:r>
              <a:rPr lang="en-US" sz="1200" dirty="0">
                <a:solidFill>
                  <a:schemeClr val="tx1"/>
                </a:solidFill>
              </a:rPr>
              <a:t>Long-term tourism and economic strategy</a:t>
            </a:r>
          </a:p>
          <a:p>
            <a:pPr marL="171450" indent="-171450">
              <a:buFont typeface="Arial" panose="020B0604020202020204" pitchFamily="34" charset="0"/>
              <a:buChar char="•"/>
            </a:pPr>
            <a:r>
              <a:rPr lang="en-US" sz="1200" dirty="0">
                <a:solidFill>
                  <a:schemeClr val="tx1"/>
                </a:solidFill>
              </a:rPr>
              <a:t>Improved data collection and tourism performance measurement</a:t>
            </a:r>
            <a:endParaRPr lang="en-CA" sz="1200" dirty="0">
              <a:solidFill>
                <a:schemeClr val="tx1"/>
              </a:solidFill>
            </a:endParaRPr>
          </a:p>
        </p:txBody>
      </p:sp>
      <p:sp>
        <p:nvSpPr>
          <p:cNvPr id="6" name="Flowchart: Alternate Process 5">
            <a:extLst>
              <a:ext uri="{FF2B5EF4-FFF2-40B4-BE49-F238E27FC236}">
                <a16:creationId xmlns:a16="http://schemas.microsoft.com/office/drawing/2014/main" id="{6109D5AA-3C89-4523-80D7-F576E3BBAAAD}"/>
              </a:ext>
            </a:extLst>
          </p:cNvPr>
          <p:cNvSpPr/>
          <p:nvPr/>
        </p:nvSpPr>
        <p:spPr>
          <a:xfrm>
            <a:off x="5759978" y="3939843"/>
            <a:ext cx="2473423" cy="2318073"/>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lumMod val="75000"/>
                  </a:schemeClr>
                </a:solidFill>
              </a:rPr>
              <a:t>SOCIAL IMPACT</a:t>
            </a:r>
          </a:p>
          <a:p>
            <a:pPr marL="285750" indent="-285750">
              <a:buFont typeface="Arial" panose="020B0604020202020204" pitchFamily="34" charset="0"/>
              <a:buChar char="•"/>
            </a:pPr>
            <a:r>
              <a:rPr lang="en-CA" sz="1400" dirty="0">
                <a:solidFill>
                  <a:schemeClr val="tx1"/>
                </a:solidFill>
              </a:rPr>
              <a:t>Short-term employment opportunities</a:t>
            </a:r>
          </a:p>
          <a:p>
            <a:pPr marL="285750" indent="-285750">
              <a:buFont typeface="Arial" panose="020B0604020202020204" pitchFamily="34" charset="0"/>
              <a:buChar char="•"/>
            </a:pPr>
            <a:r>
              <a:rPr lang="en-CA" sz="1400" dirty="0">
                <a:solidFill>
                  <a:schemeClr val="tx1"/>
                </a:solidFill>
              </a:rPr>
              <a:t>Cost-of-living pressure for residents</a:t>
            </a:r>
          </a:p>
          <a:p>
            <a:pPr marL="285750" indent="-285750">
              <a:buFont typeface="Arial" panose="020B0604020202020204" pitchFamily="34" charset="0"/>
              <a:buChar char="•"/>
            </a:pPr>
            <a:r>
              <a:rPr lang="en-CA" sz="1400" dirty="0">
                <a:solidFill>
                  <a:schemeClr val="tx1"/>
                </a:solidFill>
              </a:rPr>
              <a:t>Service quality strain</a:t>
            </a:r>
          </a:p>
          <a:p>
            <a:pPr marL="285750" indent="-285750">
              <a:buFont typeface="Arial" panose="020B0604020202020204" pitchFamily="34" charset="0"/>
              <a:buChar char="•"/>
            </a:pPr>
            <a:r>
              <a:rPr lang="en-US" sz="1400" dirty="0">
                <a:solidFill>
                  <a:schemeClr val="tx1"/>
                </a:solidFill>
              </a:rPr>
              <a:t>Displacement or inconvenience during peak season</a:t>
            </a:r>
            <a:endParaRPr lang="en-US" sz="1400" b="1" dirty="0">
              <a:solidFill>
                <a:schemeClr val="tx1"/>
              </a:solidFill>
            </a:endParaRPr>
          </a:p>
        </p:txBody>
      </p:sp>
      <p:sp>
        <p:nvSpPr>
          <p:cNvPr id="7" name="Flowchart: Alternate Process 6">
            <a:extLst>
              <a:ext uri="{FF2B5EF4-FFF2-40B4-BE49-F238E27FC236}">
                <a16:creationId xmlns:a16="http://schemas.microsoft.com/office/drawing/2014/main" id="{B8742267-80CA-42E0-8943-C11C04B3219B}"/>
              </a:ext>
            </a:extLst>
          </p:cNvPr>
          <p:cNvSpPr/>
          <p:nvPr/>
        </p:nvSpPr>
        <p:spPr>
          <a:xfrm>
            <a:off x="2573724" y="4367604"/>
            <a:ext cx="2473423" cy="1775704"/>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lumMod val="75000"/>
                  </a:schemeClr>
                </a:solidFill>
              </a:rPr>
              <a:t>EVENTS &amp; ACTIVITIES</a:t>
            </a:r>
          </a:p>
          <a:p>
            <a:pPr marL="171450" indent="-171450">
              <a:buFont typeface="Arial" panose="020B0604020202020204" pitchFamily="34" charset="0"/>
              <a:buChar char="•"/>
            </a:pPr>
            <a:r>
              <a:rPr lang="en-US" sz="1200" dirty="0">
                <a:solidFill>
                  <a:schemeClr val="tx1"/>
                </a:solidFill>
              </a:rPr>
              <a:t>Large-scale concerts and festivals</a:t>
            </a:r>
          </a:p>
          <a:p>
            <a:pPr marL="171450" indent="-171450">
              <a:buFont typeface="Arial" panose="020B0604020202020204" pitchFamily="34" charset="0"/>
              <a:buChar char="•"/>
            </a:pPr>
            <a:r>
              <a:rPr lang="en-US" sz="1200" dirty="0">
                <a:solidFill>
                  <a:schemeClr val="tx1"/>
                </a:solidFill>
              </a:rPr>
              <a:t>Nightlife and entertainment events</a:t>
            </a:r>
          </a:p>
          <a:p>
            <a:pPr marL="171450" indent="-171450">
              <a:buFont typeface="Arial" panose="020B0604020202020204" pitchFamily="34" charset="0"/>
              <a:buChar char="•"/>
            </a:pPr>
            <a:r>
              <a:rPr lang="en-US" sz="1200" dirty="0">
                <a:solidFill>
                  <a:schemeClr val="tx1"/>
                </a:solidFill>
              </a:rPr>
              <a:t>Cultural and social gatherings</a:t>
            </a:r>
          </a:p>
          <a:p>
            <a:pPr marL="171450" indent="-171450">
              <a:buFont typeface="Arial" panose="020B0604020202020204" pitchFamily="34" charset="0"/>
              <a:buChar char="•"/>
            </a:pPr>
            <a:r>
              <a:rPr lang="en-US" sz="1200" dirty="0">
                <a:solidFill>
                  <a:schemeClr val="tx1"/>
                </a:solidFill>
              </a:rPr>
              <a:t>Brand activations and pop-up experiences</a:t>
            </a:r>
          </a:p>
        </p:txBody>
      </p:sp>
      <p:sp>
        <p:nvSpPr>
          <p:cNvPr id="8" name="Flowchart: Alternate Process 7">
            <a:extLst>
              <a:ext uri="{FF2B5EF4-FFF2-40B4-BE49-F238E27FC236}">
                <a16:creationId xmlns:a16="http://schemas.microsoft.com/office/drawing/2014/main" id="{9C9CE162-39A3-45FE-9EB0-B16C5782D506}"/>
              </a:ext>
            </a:extLst>
          </p:cNvPr>
          <p:cNvSpPr/>
          <p:nvPr/>
        </p:nvSpPr>
        <p:spPr>
          <a:xfrm>
            <a:off x="2876163" y="876349"/>
            <a:ext cx="1997906" cy="2635069"/>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lumMod val="75000"/>
                  </a:schemeClr>
                </a:solidFill>
              </a:rPr>
              <a:t>KEY STAKEHOLDERS</a:t>
            </a:r>
          </a:p>
          <a:p>
            <a:pPr marL="285750" indent="-285750" algn="ctr">
              <a:buFont typeface="Arial" panose="020B0604020202020204" pitchFamily="34" charset="0"/>
              <a:buChar char="•"/>
            </a:pPr>
            <a:endParaRPr lang="en-US" sz="1400" b="1" dirty="0">
              <a:solidFill>
                <a:schemeClr val="tx1"/>
              </a:solidFill>
            </a:endParaRPr>
          </a:p>
          <a:p>
            <a:pPr marL="171450" indent="-171450">
              <a:buFont typeface="Arial" panose="020B0604020202020204" pitchFamily="34" charset="0"/>
              <a:buChar char="•"/>
            </a:pPr>
            <a:r>
              <a:rPr lang="en-US" sz="1200" dirty="0">
                <a:solidFill>
                  <a:schemeClr val="tx1"/>
                </a:solidFill>
              </a:rPr>
              <a:t>Lagos State Government</a:t>
            </a:r>
          </a:p>
          <a:p>
            <a:pPr marL="171450" indent="-171450">
              <a:buFont typeface="Arial" panose="020B0604020202020204" pitchFamily="34" charset="0"/>
              <a:buChar char="•"/>
            </a:pPr>
            <a:r>
              <a:rPr lang="en-US" sz="1200" dirty="0">
                <a:solidFill>
                  <a:schemeClr val="tx1"/>
                </a:solidFill>
              </a:rPr>
              <a:t>Hospitality and short-stay operators</a:t>
            </a:r>
          </a:p>
          <a:p>
            <a:pPr marL="171450" indent="-171450">
              <a:buFont typeface="Arial" panose="020B0604020202020204" pitchFamily="34" charset="0"/>
              <a:buChar char="•"/>
            </a:pPr>
            <a:r>
              <a:rPr lang="en-US" sz="1200" dirty="0">
                <a:solidFill>
                  <a:schemeClr val="tx1"/>
                </a:solidFill>
              </a:rPr>
              <a:t>Airlines and aviation regulators</a:t>
            </a:r>
          </a:p>
          <a:p>
            <a:pPr marL="171450" indent="-171450">
              <a:buFont typeface="Arial" panose="020B0604020202020204" pitchFamily="34" charset="0"/>
              <a:buChar char="•"/>
            </a:pPr>
            <a:r>
              <a:rPr lang="en-US" sz="1200" dirty="0">
                <a:solidFill>
                  <a:schemeClr val="tx1"/>
                </a:solidFill>
              </a:rPr>
              <a:t>Event organizers and promoters</a:t>
            </a:r>
          </a:p>
          <a:p>
            <a:pPr marL="171450" indent="-171450">
              <a:buFont typeface="Arial" panose="020B0604020202020204" pitchFamily="34" charset="0"/>
              <a:buChar char="•"/>
            </a:pPr>
            <a:r>
              <a:rPr lang="en-US" sz="1200" dirty="0">
                <a:solidFill>
                  <a:schemeClr val="tx1"/>
                </a:solidFill>
              </a:rPr>
              <a:t>Local service providers</a:t>
            </a:r>
          </a:p>
          <a:p>
            <a:pPr marL="171450" indent="-171450">
              <a:buFont typeface="Arial" panose="020B0604020202020204" pitchFamily="34" charset="0"/>
              <a:buChar char="•"/>
            </a:pPr>
            <a:r>
              <a:rPr lang="en-US" sz="1200" dirty="0">
                <a:solidFill>
                  <a:schemeClr val="tx1"/>
                </a:solidFill>
              </a:rPr>
              <a:t>Local residents and domestic/international visitors</a:t>
            </a:r>
            <a:endParaRPr lang="en-CA" sz="1200" b="1" dirty="0">
              <a:solidFill>
                <a:schemeClr val="tx1"/>
              </a:solidFill>
            </a:endParaRPr>
          </a:p>
        </p:txBody>
      </p:sp>
      <p:sp>
        <p:nvSpPr>
          <p:cNvPr id="10" name="Flowchart: Alternate Process 9">
            <a:extLst>
              <a:ext uri="{FF2B5EF4-FFF2-40B4-BE49-F238E27FC236}">
                <a16:creationId xmlns:a16="http://schemas.microsoft.com/office/drawing/2014/main" id="{23912A9B-5DF7-4E0E-BE3F-957D8810B32A}"/>
              </a:ext>
            </a:extLst>
          </p:cNvPr>
          <p:cNvSpPr/>
          <p:nvPr/>
        </p:nvSpPr>
        <p:spPr>
          <a:xfrm>
            <a:off x="875273" y="3088408"/>
            <a:ext cx="1482995" cy="116217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00" b="1" dirty="0">
                <a:solidFill>
                  <a:schemeClr val="tx1"/>
                </a:solidFill>
              </a:rPr>
              <a:t>DETTY DECEMBER MOVEMENT</a:t>
            </a:r>
          </a:p>
        </p:txBody>
      </p:sp>
      <p:sp>
        <p:nvSpPr>
          <p:cNvPr id="11" name="Flowchart: Alternate Process 10">
            <a:extLst>
              <a:ext uri="{FF2B5EF4-FFF2-40B4-BE49-F238E27FC236}">
                <a16:creationId xmlns:a16="http://schemas.microsoft.com/office/drawing/2014/main" id="{1EEFB691-3752-40A5-A2C6-5177FB37BE25}"/>
              </a:ext>
            </a:extLst>
          </p:cNvPr>
          <p:cNvSpPr/>
          <p:nvPr/>
        </p:nvSpPr>
        <p:spPr>
          <a:xfrm>
            <a:off x="8903568" y="214995"/>
            <a:ext cx="2450232" cy="2676578"/>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00" b="1" dirty="0">
                <a:solidFill>
                  <a:schemeClr val="accent5">
                    <a:lumMod val="75000"/>
                  </a:schemeClr>
                </a:solidFill>
              </a:rPr>
              <a:t>INFRASTRUCTURE &amp; OPERATIONAL IMPACT</a:t>
            </a:r>
          </a:p>
          <a:p>
            <a:pPr marL="285750" indent="-285750">
              <a:buFont typeface="Arial" panose="020B0604020202020204" pitchFamily="34" charset="0"/>
              <a:buChar char="•"/>
            </a:pPr>
            <a:r>
              <a:rPr lang="en-US" sz="1400" dirty="0">
                <a:solidFill>
                  <a:schemeClr val="tx1"/>
                </a:solidFill>
              </a:rPr>
              <a:t>Transport congestion (road and air)</a:t>
            </a:r>
          </a:p>
          <a:p>
            <a:pPr marL="285750" indent="-285750">
              <a:buFont typeface="Arial" panose="020B0604020202020204" pitchFamily="34" charset="0"/>
              <a:buChar char="•"/>
            </a:pPr>
            <a:r>
              <a:rPr lang="en-US" sz="1400" dirty="0">
                <a:solidFill>
                  <a:schemeClr val="tx1"/>
                </a:solidFill>
              </a:rPr>
              <a:t>Pressure on power and public services</a:t>
            </a:r>
          </a:p>
          <a:p>
            <a:pPr marL="285750" indent="-285750">
              <a:buFont typeface="Arial" panose="020B0604020202020204" pitchFamily="34" charset="0"/>
              <a:buChar char="•"/>
            </a:pPr>
            <a:r>
              <a:rPr lang="en-US" sz="1400" dirty="0">
                <a:solidFill>
                  <a:schemeClr val="tx1"/>
                </a:solidFill>
              </a:rPr>
              <a:t>Short-term housing and rental price inflation</a:t>
            </a:r>
          </a:p>
          <a:p>
            <a:pPr marL="285750" indent="-285750">
              <a:buFont typeface="Arial" panose="020B0604020202020204" pitchFamily="34" charset="0"/>
              <a:buChar char="•"/>
            </a:pPr>
            <a:r>
              <a:rPr lang="en-US" sz="1400" dirty="0">
                <a:solidFill>
                  <a:schemeClr val="tx1"/>
                </a:solidFill>
              </a:rPr>
              <a:t>Increased security and crowd-management demands</a:t>
            </a:r>
          </a:p>
        </p:txBody>
      </p:sp>
      <p:sp>
        <p:nvSpPr>
          <p:cNvPr id="12" name="Flowchart: Alternate Process 11">
            <a:extLst>
              <a:ext uri="{FF2B5EF4-FFF2-40B4-BE49-F238E27FC236}">
                <a16:creationId xmlns:a16="http://schemas.microsoft.com/office/drawing/2014/main" id="{A60F70C5-0084-465A-850E-0853EDBD12B5}"/>
              </a:ext>
            </a:extLst>
          </p:cNvPr>
          <p:cNvSpPr/>
          <p:nvPr/>
        </p:nvSpPr>
        <p:spPr>
          <a:xfrm>
            <a:off x="6063311" y="600084"/>
            <a:ext cx="2170089" cy="2866701"/>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lumMod val="75000"/>
                  </a:schemeClr>
                </a:solidFill>
              </a:rPr>
              <a:t>ECONOMIC IMPACT</a:t>
            </a:r>
          </a:p>
          <a:p>
            <a:pPr marL="285750" indent="-285750" algn="ctr">
              <a:buFont typeface="Arial" panose="020B0604020202020204" pitchFamily="34" charset="0"/>
              <a:buChar char="•"/>
            </a:pPr>
            <a:endParaRPr lang="en-US" sz="1400" b="1" dirty="0">
              <a:solidFill>
                <a:schemeClr val="tx1"/>
              </a:solidFill>
            </a:endParaRPr>
          </a:p>
          <a:p>
            <a:pPr marL="171450" indent="-171450">
              <a:buFont typeface="Arial" panose="020B0604020202020204" pitchFamily="34" charset="0"/>
              <a:buChar char="•"/>
            </a:pPr>
            <a:r>
              <a:rPr lang="en-US" sz="1200" dirty="0">
                <a:solidFill>
                  <a:schemeClr val="tx1"/>
                </a:solidFill>
              </a:rPr>
              <a:t>Increased tourism and hospitality revenue</a:t>
            </a:r>
          </a:p>
          <a:p>
            <a:pPr marL="171450" indent="-171450">
              <a:buFont typeface="Arial" panose="020B0604020202020204" pitchFamily="34" charset="0"/>
              <a:buChar char="•"/>
            </a:pPr>
            <a:r>
              <a:rPr lang="en-US" sz="1200" dirty="0">
                <a:solidFill>
                  <a:schemeClr val="tx1"/>
                </a:solidFill>
              </a:rPr>
              <a:t>Hotel and short-stay accommodation income</a:t>
            </a:r>
          </a:p>
          <a:p>
            <a:pPr marL="171450" indent="-171450">
              <a:buFont typeface="Arial" panose="020B0604020202020204" pitchFamily="34" charset="0"/>
              <a:buChar char="•"/>
            </a:pPr>
            <a:r>
              <a:rPr lang="en-US" sz="1200" dirty="0">
                <a:solidFill>
                  <a:schemeClr val="tx1"/>
                </a:solidFill>
              </a:rPr>
              <a:t>Event and entertainment earnings</a:t>
            </a:r>
          </a:p>
          <a:p>
            <a:pPr marL="171450" indent="-171450">
              <a:buFont typeface="Arial" panose="020B0604020202020204" pitchFamily="34" charset="0"/>
              <a:buChar char="•"/>
            </a:pPr>
            <a:r>
              <a:rPr lang="en-US" sz="1200" dirty="0">
                <a:solidFill>
                  <a:schemeClr val="tx1"/>
                </a:solidFill>
              </a:rPr>
              <a:t>Temporary employment creation</a:t>
            </a:r>
          </a:p>
          <a:p>
            <a:pPr marL="171450" indent="-171450">
              <a:buFont typeface="Arial" panose="020B0604020202020204" pitchFamily="34" charset="0"/>
              <a:buChar char="•"/>
            </a:pPr>
            <a:r>
              <a:rPr lang="en-US" sz="1200" dirty="0">
                <a:solidFill>
                  <a:schemeClr val="tx1"/>
                </a:solidFill>
              </a:rPr>
              <a:t>Government tourism-related revenue</a:t>
            </a:r>
          </a:p>
          <a:p>
            <a:pPr marL="171450" indent="-171450">
              <a:buFont typeface="Arial" panose="020B0604020202020204" pitchFamily="34" charset="0"/>
              <a:buChar char="•"/>
            </a:pPr>
            <a:r>
              <a:rPr lang="en-US" sz="1200" dirty="0">
                <a:solidFill>
                  <a:schemeClr val="tx1"/>
                </a:solidFill>
              </a:rPr>
              <a:t> Seasonal revenue concentration (December vs non-December)</a:t>
            </a:r>
          </a:p>
        </p:txBody>
      </p:sp>
      <p:sp>
        <p:nvSpPr>
          <p:cNvPr id="13" name="Arrow: Right 12">
            <a:extLst>
              <a:ext uri="{FF2B5EF4-FFF2-40B4-BE49-F238E27FC236}">
                <a16:creationId xmlns:a16="http://schemas.microsoft.com/office/drawing/2014/main" id="{FB605C85-5650-45C3-AF8D-9F54A9AB4C73}"/>
              </a:ext>
            </a:extLst>
          </p:cNvPr>
          <p:cNvSpPr/>
          <p:nvPr/>
        </p:nvSpPr>
        <p:spPr>
          <a:xfrm rot="19748773">
            <a:off x="2300451" y="3080091"/>
            <a:ext cx="590939" cy="2069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GOALS</a:t>
            </a:r>
          </a:p>
          <a:p>
            <a:pPr marL="285750" indent="-285750">
              <a:buFont typeface="Arial" panose="020B0604020202020204" pitchFamily="34" charset="0"/>
              <a:buChar char="•"/>
            </a:pPr>
            <a:r>
              <a:rPr lang="en-US" sz="1800" dirty="0"/>
              <a:t>INCREASE PIPELINE CAPACITY</a:t>
            </a:r>
            <a:endParaRPr lang="en-CA" sz="1800" dirty="0"/>
          </a:p>
        </p:txBody>
      </p:sp>
      <p:sp>
        <p:nvSpPr>
          <p:cNvPr id="15" name="Arrow: Right 14">
            <a:extLst>
              <a:ext uri="{FF2B5EF4-FFF2-40B4-BE49-F238E27FC236}">
                <a16:creationId xmlns:a16="http://schemas.microsoft.com/office/drawing/2014/main" id="{5842589E-6C2F-44FA-AB23-D70093A6C8C8}"/>
              </a:ext>
            </a:extLst>
          </p:cNvPr>
          <p:cNvSpPr/>
          <p:nvPr/>
        </p:nvSpPr>
        <p:spPr>
          <a:xfrm rot="2354962">
            <a:off x="1595107" y="4621079"/>
            <a:ext cx="1117209" cy="1684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Arrow: Right 16">
            <a:extLst>
              <a:ext uri="{FF2B5EF4-FFF2-40B4-BE49-F238E27FC236}">
                <a16:creationId xmlns:a16="http://schemas.microsoft.com/office/drawing/2014/main" id="{3E48C1FF-E6AD-4719-8006-848A63B6B719}"/>
              </a:ext>
            </a:extLst>
          </p:cNvPr>
          <p:cNvSpPr/>
          <p:nvPr/>
        </p:nvSpPr>
        <p:spPr>
          <a:xfrm flipV="1">
            <a:off x="4828279" y="2500408"/>
            <a:ext cx="1267721" cy="2213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Arrow: Right 17">
            <a:extLst>
              <a:ext uri="{FF2B5EF4-FFF2-40B4-BE49-F238E27FC236}">
                <a16:creationId xmlns:a16="http://schemas.microsoft.com/office/drawing/2014/main" id="{79448DED-C182-4B97-AC41-7A68F55287C6}"/>
              </a:ext>
            </a:extLst>
          </p:cNvPr>
          <p:cNvSpPr/>
          <p:nvPr/>
        </p:nvSpPr>
        <p:spPr>
          <a:xfrm>
            <a:off x="8091168" y="2163747"/>
            <a:ext cx="1036860" cy="2172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Arrow: Right 18">
            <a:extLst>
              <a:ext uri="{FF2B5EF4-FFF2-40B4-BE49-F238E27FC236}">
                <a16:creationId xmlns:a16="http://schemas.microsoft.com/office/drawing/2014/main" id="{19863845-3230-4263-AA8A-387D7B7D4ABF}"/>
              </a:ext>
            </a:extLst>
          </p:cNvPr>
          <p:cNvSpPr/>
          <p:nvPr/>
        </p:nvSpPr>
        <p:spPr>
          <a:xfrm rot="2238577" flipV="1">
            <a:off x="8107080" y="3226617"/>
            <a:ext cx="883491" cy="1335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Arrow: Down 19">
            <a:extLst>
              <a:ext uri="{FF2B5EF4-FFF2-40B4-BE49-F238E27FC236}">
                <a16:creationId xmlns:a16="http://schemas.microsoft.com/office/drawing/2014/main" id="{9F065D53-AC34-4C84-8F47-0258DDDE36BE}"/>
              </a:ext>
            </a:extLst>
          </p:cNvPr>
          <p:cNvSpPr/>
          <p:nvPr/>
        </p:nvSpPr>
        <p:spPr>
          <a:xfrm>
            <a:off x="6807880" y="3466785"/>
            <a:ext cx="265281" cy="6128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046633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8" name="Group 37">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39"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2" name="Group 41">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43" name="Freeform: Shape 42">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4" name="Freeform: Shape 43">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5" name="Freeform: Shape 44">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6" name="Freeform: Shape 45">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7" name="Freeform: Shape 46">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8" name="Freeform: Shape 47">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9" name="Freeform: Shape 48">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346DC28-0045-5C14-1DB5-9F1EFF8ED009}"/>
              </a:ext>
            </a:extLst>
          </p:cNvPr>
          <p:cNvSpPr>
            <a:spLocks noGrp="1"/>
          </p:cNvSpPr>
          <p:nvPr>
            <p:ph type="title"/>
          </p:nvPr>
        </p:nvSpPr>
        <p:spPr>
          <a:xfrm>
            <a:off x="786385" y="841248"/>
            <a:ext cx="3515244" cy="5340097"/>
          </a:xfrm>
        </p:spPr>
        <p:txBody>
          <a:bodyPr anchor="ctr">
            <a:normAutofit/>
          </a:bodyPr>
          <a:lstStyle/>
          <a:p>
            <a:r>
              <a:rPr lang="en-CA" sz="4800" dirty="0">
                <a:solidFill>
                  <a:schemeClr val="bg1"/>
                </a:solidFill>
              </a:rPr>
              <a:t>Data Dictionary</a:t>
            </a:r>
          </a:p>
        </p:txBody>
      </p:sp>
      <p:graphicFrame>
        <p:nvGraphicFramePr>
          <p:cNvPr id="4" name="Content Placeholder 3">
            <a:extLst>
              <a:ext uri="{FF2B5EF4-FFF2-40B4-BE49-F238E27FC236}">
                <a16:creationId xmlns:a16="http://schemas.microsoft.com/office/drawing/2014/main" id="{972600CA-66D1-2A71-18E2-7AD837620B24}"/>
              </a:ext>
            </a:extLst>
          </p:cNvPr>
          <p:cNvGraphicFramePr>
            <a:graphicFrameLocks noGrp="1"/>
          </p:cNvGraphicFramePr>
          <p:nvPr>
            <p:ph idx="1"/>
            <p:extLst>
              <p:ext uri="{D42A27DB-BD31-4B8C-83A1-F6EECF244321}">
                <p14:modId xmlns:p14="http://schemas.microsoft.com/office/powerpoint/2010/main" val="3717349036"/>
              </p:ext>
            </p:extLst>
          </p:nvPr>
        </p:nvGraphicFramePr>
        <p:xfrm>
          <a:off x="4985885" y="323176"/>
          <a:ext cx="6419729" cy="6534832"/>
        </p:xfrm>
        <a:graphic>
          <a:graphicData uri="http://schemas.openxmlformats.org/drawingml/2006/table">
            <a:tbl>
              <a:tblPr firstRow="1" bandRow="1">
                <a:tableStyleId>{8EC20E35-A176-4012-BC5E-935CFFF8708E}</a:tableStyleId>
              </a:tblPr>
              <a:tblGrid>
                <a:gridCol w="443213">
                  <a:extLst>
                    <a:ext uri="{9D8B030D-6E8A-4147-A177-3AD203B41FA5}">
                      <a16:colId xmlns:a16="http://schemas.microsoft.com/office/drawing/2014/main" val="3495575149"/>
                    </a:ext>
                  </a:extLst>
                </a:gridCol>
                <a:gridCol w="1575891">
                  <a:extLst>
                    <a:ext uri="{9D8B030D-6E8A-4147-A177-3AD203B41FA5}">
                      <a16:colId xmlns:a16="http://schemas.microsoft.com/office/drawing/2014/main" val="1032984968"/>
                    </a:ext>
                  </a:extLst>
                </a:gridCol>
                <a:gridCol w="4400625">
                  <a:extLst>
                    <a:ext uri="{9D8B030D-6E8A-4147-A177-3AD203B41FA5}">
                      <a16:colId xmlns:a16="http://schemas.microsoft.com/office/drawing/2014/main" val="2954670652"/>
                    </a:ext>
                  </a:extLst>
                </a:gridCol>
              </a:tblGrid>
              <a:tr h="203984">
                <a:tc>
                  <a:txBody>
                    <a:bodyPr/>
                    <a:lstStyle/>
                    <a:p>
                      <a:pPr algn="l" fontAlgn="ctr">
                        <a:buNone/>
                      </a:pPr>
                      <a:r>
                        <a:rPr lang="en-CA" sz="900" b="0" u="none" strike="noStrike">
                          <a:effectLst/>
                        </a:rPr>
                        <a:t>No</a:t>
                      </a:r>
                      <a:endParaRPr lang="en-CA" sz="900" b="0"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0" u="none" strike="noStrike">
                          <a:effectLst/>
                        </a:rPr>
                        <a:t>Topic / Column Name</a:t>
                      </a:r>
                      <a:endParaRPr lang="en-CA" sz="900" b="0"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0" u="none" strike="noStrike">
                          <a:effectLst/>
                        </a:rPr>
                        <a:t>Definition</a:t>
                      </a:r>
                      <a:endParaRPr lang="en-CA"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335760435"/>
                  </a:ext>
                </a:extLst>
              </a:tr>
              <a:tr h="344682">
                <a:tc>
                  <a:txBody>
                    <a:bodyPr/>
                    <a:lstStyle/>
                    <a:p>
                      <a:pPr algn="l" fontAlgn="ctr">
                        <a:buNone/>
                      </a:pPr>
                      <a:r>
                        <a:rPr lang="en-CA" sz="900" b="1" u="none" strike="noStrike">
                          <a:effectLst/>
                        </a:rPr>
                        <a:t>1</a:t>
                      </a:r>
                      <a:endParaRPr lang="en-CA" sz="900" b="1"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Detty_December</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Seasonal tourism and entertainment period occurring annually in December in Lagos State, characterized by high visitor inflows and concentrated economic activity.</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519733662"/>
                  </a:ext>
                </a:extLst>
              </a:tr>
              <a:tr h="344682">
                <a:tc>
                  <a:txBody>
                    <a:bodyPr/>
                    <a:lstStyle/>
                    <a:p>
                      <a:pPr algn="l" fontAlgn="ctr">
                        <a:buNone/>
                      </a:pPr>
                      <a:r>
                        <a:rPr lang="en-CA" sz="900" b="0" u="none" strike="noStrike">
                          <a:effectLst/>
                        </a:rPr>
                        <a:t>2</a:t>
                      </a:r>
                      <a:endParaRPr lang="en-CA" sz="900" b="0"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Economic_Impact</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The measurable monetary effect of Detty December across hospitality, events, and related sectors.</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1481555088"/>
                  </a:ext>
                </a:extLst>
              </a:tr>
              <a:tr h="344682">
                <a:tc>
                  <a:txBody>
                    <a:bodyPr/>
                    <a:lstStyle/>
                    <a:p>
                      <a:pPr algn="l" fontAlgn="ctr">
                        <a:buNone/>
                      </a:pPr>
                      <a:r>
                        <a:rPr lang="en-CA" sz="900" b="1" u="none" strike="noStrike">
                          <a:effectLst/>
                        </a:rPr>
                        <a:t>3</a:t>
                      </a:r>
                      <a:endParaRPr lang="en-CA" sz="900" b="1"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a:effectLst/>
                        </a:rPr>
                        <a:t>Sector</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Classification of economic activity (e.g., Hospitality – Hotels, Hospitality – Short-Stay, Events &amp; Entertainment, Aviation).</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2582320020"/>
                  </a:ext>
                </a:extLst>
              </a:tr>
              <a:tr h="344682">
                <a:tc>
                  <a:txBody>
                    <a:bodyPr/>
                    <a:lstStyle/>
                    <a:p>
                      <a:pPr algn="l" fontAlgn="ctr">
                        <a:buNone/>
                      </a:pPr>
                      <a:r>
                        <a:rPr lang="en-CA" sz="900" b="1" u="none" strike="noStrike">
                          <a:effectLst/>
                        </a:rPr>
                        <a:t>4</a:t>
                      </a:r>
                      <a:endParaRPr lang="en-CA" sz="900" b="1"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Revenue_NGN</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Estimated monetary value of revenue generated during the period, expressed in Nigerian Naira.</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2473771355"/>
                  </a:ext>
                </a:extLst>
              </a:tr>
              <a:tr h="344682">
                <a:tc>
                  <a:txBody>
                    <a:bodyPr/>
                    <a:lstStyle/>
                    <a:p>
                      <a:pPr algn="l" fontAlgn="ctr">
                        <a:buNone/>
                      </a:pPr>
                      <a:r>
                        <a:rPr lang="en-CA" sz="900" b="1" u="none" strike="noStrike">
                          <a:effectLst/>
                        </a:rPr>
                        <a:t>5</a:t>
                      </a:r>
                      <a:endParaRPr lang="en-CA" sz="900" b="1"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Revenue_USD</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Revenue converted from NGN to USD using average exchange rates for comparison purposes.</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3401752659"/>
                  </a:ext>
                </a:extLst>
              </a:tr>
              <a:tr h="344682">
                <a:tc>
                  <a:txBody>
                    <a:bodyPr/>
                    <a:lstStyle/>
                    <a:p>
                      <a:pPr algn="l" fontAlgn="ctr">
                        <a:buNone/>
                      </a:pPr>
                      <a:r>
                        <a:rPr lang="en-CA" sz="900" b="1" u="none" strike="noStrike">
                          <a:effectLst/>
                        </a:rPr>
                        <a:t>6</a:t>
                      </a:r>
                      <a:endParaRPr lang="en-CA" sz="900" b="1"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Season_Flag</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Indicator identifying whether a record belongs to the peak season (December) or non-peak period.</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306737446"/>
                  </a:ext>
                </a:extLst>
              </a:tr>
              <a:tr h="344682">
                <a:tc>
                  <a:txBody>
                    <a:bodyPr/>
                    <a:lstStyle/>
                    <a:p>
                      <a:pPr algn="l" fontAlgn="ctr">
                        <a:buNone/>
                      </a:pPr>
                      <a:r>
                        <a:rPr lang="en-CA" sz="900" b="1" u="none" strike="noStrike">
                          <a:effectLst/>
                        </a:rPr>
                        <a:t>7</a:t>
                      </a:r>
                      <a:endParaRPr lang="en-CA" sz="900" b="1"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Visitor_Flow</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Estimated number of domestic and international visitors entering Lagos during the Detty December period.</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2964571709"/>
                  </a:ext>
                </a:extLst>
              </a:tr>
              <a:tr h="203984">
                <a:tc>
                  <a:txBody>
                    <a:bodyPr/>
                    <a:lstStyle/>
                    <a:p>
                      <a:pPr algn="l" fontAlgn="ctr">
                        <a:buNone/>
                      </a:pPr>
                      <a:r>
                        <a:rPr lang="en-CA" sz="900" b="1" u="none" strike="noStrike">
                          <a:effectLst/>
                        </a:rPr>
                        <a:t>8</a:t>
                      </a:r>
                      <a:endParaRPr lang="en-CA" sz="900" b="1"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Visitor_Type</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Classification of visitors as Domestic or International.</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1209380954"/>
                  </a:ext>
                </a:extLst>
              </a:tr>
              <a:tr h="344682">
                <a:tc>
                  <a:txBody>
                    <a:bodyPr/>
                    <a:lstStyle/>
                    <a:p>
                      <a:pPr algn="l" fontAlgn="ctr">
                        <a:buNone/>
                      </a:pPr>
                      <a:r>
                        <a:rPr lang="en-CA" sz="900" b="0" u="none" strike="noStrike">
                          <a:effectLst/>
                        </a:rPr>
                        <a:t>9</a:t>
                      </a:r>
                      <a:endParaRPr lang="en-CA" sz="900" b="0"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Revenue_Per_Visitor</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Calculated metric representing total revenue divided by estimated visitor count, used as an efficiency indicator.</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1755301411"/>
                  </a:ext>
                </a:extLst>
              </a:tr>
              <a:tr h="344682">
                <a:tc>
                  <a:txBody>
                    <a:bodyPr/>
                    <a:lstStyle/>
                    <a:p>
                      <a:pPr algn="l" fontAlgn="ctr">
                        <a:buNone/>
                      </a:pPr>
                      <a:r>
                        <a:rPr lang="en-CA" sz="900" b="0" u="none" strike="noStrike">
                          <a:effectLst/>
                        </a:rPr>
                        <a:t>10</a:t>
                      </a:r>
                      <a:endParaRPr lang="en-CA" sz="900" b="0"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Event_Activity</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Organized concerts, festivals, nightlife, and cultural gatherings driving demand during Detty December.</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1301885124"/>
                  </a:ext>
                </a:extLst>
              </a:tr>
              <a:tr h="203984">
                <a:tc>
                  <a:txBody>
                    <a:bodyPr/>
                    <a:lstStyle/>
                    <a:p>
                      <a:pPr algn="l" fontAlgn="ctr">
                        <a:buNone/>
                      </a:pPr>
                      <a:r>
                        <a:rPr lang="en-CA" sz="900" b="0" u="none" strike="noStrike">
                          <a:effectLst/>
                        </a:rPr>
                        <a:t>11</a:t>
                      </a:r>
                      <a:endParaRPr lang="en-CA" sz="900" b="0"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Hospitality_Occupancy</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Measure of hotel or short-stay accommodation utilization during the peak period.</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2237950204"/>
                  </a:ext>
                </a:extLst>
              </a:tr>
              <a:tr h="344682">
                <a:tc>
                  <a:txBody>
                    <a:bodyPr/>
                    <a:lstStyle/>
                    <a:p>
                      <a:pPr algn="l" fontAlgn="ctr">
                        <a:buNone/>
                      </a:pPr>
                      <a:r>
                        <a:rPr lang="en-CA" sz="900" b="0" u="none" strike="noStrike">
                          <a:effectLst/>
                        </a:rPr>
                        <a:t>12</a:t>
                      </a:r>
                      <a:endParaRPr lang="en-CA" sz="900" b="0"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Short_Stay_Rentals</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Temporary accommodation options such as serviced apartments and short-let properties.</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73448946"/>
                  </a:ext>
                </a:extLst>
              </a:tr>
              <a:tr h="344682">
                <a:tc>
                  <a:txBody>
                    <a:bodyPr/>
                    <a:lstStyle/>
                    <a:p>
                      <a:pPr algn="l" fontAlgn="ctr">
                        <a:buNone/>
                      </a:pPr>
                      <a:r>
                        <a:rPr lang="en-CA" sz="900" b="0" u="none" strike="noStrike">
                          <a:effectLst/>
                        </a:rPr>
                        <a:t>13</a:t>
                      </a:r>
                      <a:endParaRPr lang="en-CA" sz="900" b="0"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Aviation_Inflow</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Proxy indicator representing visitor arrivals through air transport during the study period.</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4024786508"/>
                  </a:ext>
                </a:extLst>
              </a:tr>
              <a:tr h="344682">
                <a:tc>
                  <a:txBody>
                    <a:bodyPr/>
                    <a:lstStyle/>
                    <a:p>
                      <a:pPr algn="l" fontAlgn="ctr">
                        <a:buNone/>
                      </a:pPr>
                      <a:r>
                        <a:rPr lang="en-CA" sz="900" b="0" u="none" strike="noStrike">
                          <a:effectLst/>
                        </a:rPr>
                        <a:t>14</a:t>
                      </a:r>
                      <a:endParaRPr lang="en-CA" sz="900" b="0"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Infrastructure_Impact</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Operational strain on transport, housing, power, and security systems caused by peak demand.</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232763041"/>
                  </a:ext>
                </a:extLst>
              </a:tr>
              <a:tr h="344682">
                <a:tc>
                  <a:txBody>
                    <a:bodyPr/>
                    <a:lstStyle/>
                    <a:p>
                      <a:pPr algn="l" fontAlgn="ctr">
                        <a:buNone/>
                      </a:pPr>
                      <a:r>
                        <a:rPr lang="en-CA" sz="900" b="0" u="none" strike="noStrike">
                          <a:effectLst/>
                        </a:rPr>
                        <a:t>15</a:t>
                      </a:r>
                      <a:endParaRPr lang="en-CA" sz="900" b="0"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Social_Impact</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Effects on employment, cost of living, service quality, and resident experience during Detty December.</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1959461383"/>
                  </a:ext>
                </a:extLst>
              </a:tr>
              <a:tr h="344682">
                <a:tc>
                  <a:txBody>
                    <a:bodyPr/>
                    <a:lstStyle/>
                    <a:p>
                      <a:pPr algn="l" fontAlgn="ctr">
                        <a:buNone/>
                      </a:pPr>
                      <a:r>
                        <a:rPr lang="en-CA" sz="900" b="0" u="none" strike="noStrike">
                          <a:effectLst/>
                        </a:rPr>
                        <a:t>16</a:t>
                      </a:r>
                      <a:endParaRPr lang="en-CA" sz="900" b="0"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a:effectLst/>
                        </a:rPr>
                        <a:t>Sustainability</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Ability of Detty December–driven economic activity to be maintained without excessive strain or long-term negative effects.</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1062602965"/>
                  </a:ext>
                </a:extLst>
              </a:tr>
              <a:tr h="344682">
                <a:tc>
                  <a:txBody>
                    <a:bodyPr/>
                    <a:lstStyle/>
                    <a:p>
                      <a:pPr algn="l" fontAlgn="ctr">
                        <a:buNone/>
                      </a:pPr>
                      <a:r>
                        <a:rPr lang="en-CA" sz="900" b="0" u="none" strike="noStrike">
                          <a:effectLst/>
                        </a:rPr>
                        <a:t>17</a:t>
                      </a:r>
                      <a:endParaRPr lang="en-CA" sz="900" b="0"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Policy_Implications</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Insights informing tourism planning, infrastructure investment, and economic strategy decisions.</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3080912784"/>
                  </a:ext>
                </a:extLst>
              </a:tr>
              <a:tr h="344682">
                <a:tc>
                  <a:txBody>
                    <a:bodyPr/>
                    <a:lstStyle/>
                    <a:p>
                      <a:pPr algn="l" fontAlgn="ctr">
                        <a:buNone/>
                      </a:pPr>
                      <a:r>
                        <a:rPr lang="en-CA" sz="900" b="0" u="none" strike="noStrike">
                          <a:effectLst/>
                        </a:rPr>
                        <a:t>18</a:t>
                      </a:r>
                      <a:endParaRPr lang="en-CA" sz="900" b="0"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Source_Tier</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dirty="0">
                          <a:effectLst/>
                        </a:rPr>
                        <a:t>Classification of data sources based on credibility (Tier 1: Government, Tier 2: Reputable Media, Tier 3: Industry Proxies).</a:t>
                      </a:r>
                      <a:endParaRPr lang="en-US" sz="900" b="0" i="0" u="none" strike="noStrike" dirty="0">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3569322071"/>
                  </a:ext>
                </a:extLst>
              </a:tr>
              <a:tr h="203984">
                <a:tc>
                  <a:txBody>
                    <a:bodyPr/>
                    <a:lstStyle/>
                    <a:p>
                      <a:pPr algn="l" fontAlgn="ctr">
                        <a:buNone/>
                      </a:pPr>
                      <a:r>
                        <a:rPr lang="en-CA" sz="900" b="0" u="none" strike="noStrike">
                          <a:effectLst/>
                        </a:rPr>
                        <a:t>19</a:t>
                      </a:r>
                      <a:endParaRPr lang="en-CA" sz="900" b="0"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Assumption_Flag</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a:effectLst/>
                        </a:rPr>
                        <a:t>Indicator specifying whether a value is Reported, Estimated, or Proxy-Derived.</a:t>
                      </a:r>
                      <a:endParaRPr lang="en-US" sz="900" b="0" i="0" u="none" strike="noStrike">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2895905217"/>
                  </a:ext>
                </a:extLst>
              </a:tr>
              <a:tr h="203984">
                <a:tc>
                  <a:txBody>
                    <a:bodyPr/>
                    <a:lstStyle/>
                    <a:p>
                      <a:pPr algn="l" fontAlgn="ctr">
                        <a:buNone/>
                      </a:pPr>
                      <a:r>
                        <a:rPr lang="en-CA" sz="900" b="0" u="none" strike="noStrike">
                          <a:effectLst/>
                        </a:rPr>
                        <a:t>20</a:t>
                      </a:r>
                      <a:endParaRPr lang="en-CA" sz="900" b="0" i="0" u="none" strike="noStrike">
                        <a:effectLst/>
                        <a:latin typeface="Arial" panose="020B0604020202020204" pitchFamily="34" charset="0"/>
                      </a:endParaRPr>
                    </a:p>
                  </a:txBody>
                  <a:tcPr marL="28102" marR="28102" marT="14051" marB="14051" anchor="ctr"/>
                </a:tc>
                <a:tc>
                  <a:txBody>
                    <a:bodyPr/>
                    <a:lstStyle/>
                    <a:p>
                      <a:pPr algn="l" fontAlgn="ctr">
                        <a:buNone/>
                      </a:pPr>
                      <a:r>
                        <a:rPr lang="en-CA" sz="900" b="1" u="none" strike="noStrike" dirty="0" err="1">
                          <a:effectLst/>
                        </a:rPr>
                        <a:t>Confidence_Level</a:t>
                      </a:r>
                      <a:endParaRPr lang="en-CA" sz="900" b="1" i="0" u="none" strike="noStrike" dirty="0">
                        <a:effectLst/>
                        <a:latin typeface="Arial" panose="020B0604020202020204" pitchFamily="34" charset="0"/>
                      </a:endParaRPr>
                    </a:p>
                  </a:txBody>
                  <a:tcPr marL="28102" marR="28102" marT="14051" marB="14051" anchor="ctr"/>
                </a:tc>
                <a:tc>
                  <a:txBody>
                    <a:bodyPr/>
                    <a:lstStyle/>
                    <a:p>
                      <a:pPr algn="l" fontAlgn="ctr">
                        <a:buNone/>
                      </a:pPr>
                      <a:r>
                        <a:rPr lang="en-US" sz="900" b="0" u="none" strike="noStrike" dirty="0">
                          <a:effectLst/>
                        </a:rPr>
                        <a:t>Qualitative assessment of data reliability (High, Medium, Low).</a:t>
                      </a:r>
                      <a:endParaRPr lang="en-US" sz="900" b="0" i="0" u="none" strike="noStrike" dirty="0">
                        <a:effectLst/>
                        <a:latin typeface="Arial" panose="020B0604020202020204" pitchFamily="34" charset="0"/>
                      </a:endParaRPr>
                    </a:p>
                  </a:txBody>
                  <a:tcPr marL="28102" marR="28102" marT="14051" marB="14051" anchor="ctr"/>
                </a:tc>
                <a:extLst>
                  <a:ext uri="{0D108BD9-81ED-4DB2-BD59-A6C34878D82A}">
                    <a16:rowId xmlns:a16="http://schemas.microsoft.com/office/drawing/2014/main" val="1311839566"/>
                  </a:ext>
                </a:extLst>
              </a:tr>
            </a:tbl>
          </a:graphicData>
        </a:graphic>
      </p:graphicFrame>
    </p:spTree>
    <p:extLst>
      <p:ext uri="{BB962C8B-B14F-4D97-AF65-F5344CB8AC3E}">
        <p14:creationId xmlns:p14="http://schemas.microsoft.com/office/powerpoint/2010/main" val="2047078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47D6575-0B06-40B2-9D0F-298202F6B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Arc 15">
            <a:extLst>
              <a:ext uri="{FF2B5EF4-FFF2-40B4-BE49-F238E27FC236}">
                <a16:creationId xmlns:a16="http://schemas.microsoft.com/office/drawing/2014/main" id="{E2B33195-5BCA-4BB7-A82D-673952268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604789">
            <a:off x="675639" y="775849"/>
            <a:ext cx="2987899" cy="2987899"/>
          </a:xfrm>
          <a:prstGeom prst="arc">
            <a:avLst>
              <a:gd name="adj1" fmla="val 14455503"/>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9EFBD9F-91A1-4DAF-BFC4-2015047C6FAF}"/>
              </a:ext>
            </a:extLst>
          </p:cNvPr>
          <p:cNvSpPr>
            <a:spLocks noGrp="1"/>
          </p:cNvSpPr>
          <p:nvPr>
            <p:ph type="ctrTitle"/>
          </p:nvPr>
        </p:nvSpPr>
        <p:spPr>
          <a:xfrm>
            <a:off x="892818" y="1370171"/>
            <a:ext cx="5085580" cy="2387600"/>
          </a:xfrm>
        </p:spPr>
        <p:txBody>
          <a:bodyPr>
            <a:normAutofit/>
          </a:bodyPr>
          <a:lstStyle/>
          <a:p>
            <a:pPr algn="l"/>
            <a:r>
              <a:rPr lang="en-CA" sz="3800">
                <a:solidFill>
                  <a:schemeClr val="bg1"/>
                </a:solidFill>
              </a:rPr>
              <a:t>1 (Revisited) – </a:t>
            </a:r>
            <a:br>
              <a:rPr lang="en-CA" sz="3800">
                <a:solidFill>
                  <a:schemeClr val="bg1"/>
                </a:solidFill>
              </a:rPr>
            </a:br>
            <a:r>
              <a:rPr lang="en-CA" sz="3800">
                <a:solidFill>
                  <a:schemeClr val="bg1"/>
                </a:solidFill>
              </a:rPr>
              <a:t>Business Understanding – Low Level</a:t>
            </a:r>
          </a:p>
        </p:txBody>
      </p:sp>
      <p:sp>
        <p:nvSpPr>
          <p:cNvPr id="18" name="Oval 17">
            <a:extLst>
              <a:ext uri="{FF2B5EF4-FFF2-40B4-BE49-F238E27FC236}">
                <a16:creationId xmlns:a16="http://schemas.microsoft.com/office/drawing/2014/main" id="{CF8AD9F3-9AF6-494F-83A3-2F67756393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9802" y="832686"/>
            <a:ext cx="1104943" cy="107496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70AEB26-777A-45F9-81E1-8CA71C13C53C}"/>
              </a:ext>
            </a:extLst>
          </p:cNvPr>
          <p:cNvPicPr>
            <a:picLocks noChangeAspect="1"/>
          </p:cNvPicPr>
          <p:nvPr/>
        </p:nvPicPr>
        <p:blipFill rotWithShape="1">
          <a:blip r:embed="rId2"/>
          <a:srcRect l="8136" r="25115" b="2"/>
          <a:stretch>
            <a:fillRect/>
          </a:stretch>
        </p:blipFill>
        <p:spPr>
          <a:xfrm>
            <a:off x="6520859" y="795510"/>
            <a:ext cx="5137520" cy="5137520"/>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
        <p:nvSpPr>
          <p:cNvPr id="20" name="Rectangle 19">
            <a:extLst>
              <a:ext uri="{FF2B5EF4-FFF2-40B4-BE49-F238E27FC236}">
                <a16:creationId xmlns:a16="http://schemas.microsoft.com/office/drawing/2014/main" id="{0DA5DB8B-7E5C-4ABC-8069-A9A8806F3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82154" y="4925384"/>
            <a:ext cx="876704" cy="876704"/>
          </a:xfrm>
          <a:prstGeom prst="rect">
            <a:avLst/>
          </a:prstGeom>
          <a:noFill/>
          <a:ln w="127000">
            <a:solidFill>
              <a:schemeClr val="accent4"/>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85243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a:extLst>
              <a:ext uri="{FF2B5EF4-FFF2-40B4-BE49-F238E27FC236}">
                <a16:creationId xmlns:a16="http://schemas.microsoft.com/office/drawing/2014/main" id="{362810D9-2C5A-477D-949C-C19189547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6" name="Picture 15" descr="Back view of an airplane">
            <a:extLst>
              <a:ext uri="{FF2B5EF4-FFF2-40B4-BE49-F238E27FC236}">
                <a16:creationId xmlns:a16="http://schemas.microsoft.com/office/drawing/2014/main" id="{4D679B5C-3DA1-9DF7-2BD4-B70F0B41C827}"/>
              </a:ext>
            </a:extLst>
          </p:cNvPr>
          <p:cNvPicPr>
            <a:picLocks noChangeAspect="1"/>
          </p:cNvPicPr>
          <p:nvPr/>
        </p:nvPicPr>
        <p:blipFill>
          <a:blip r:embed="rId2">
            <a:alphaModFix amt="55000"/>
          </a:blip>
          <a:srcRect t="13659" b="2071"/>
          <a:stretch>
            <a:fillRect/>
          </a:stretch>
        </p:blipFill>
        <p:spPr>
          <a:xfrm>
            <a:off x="20" y="-9107"/>
            <a:ext cx="12191980" cy="6858000"/>
          </a:xfrm>
          <a:prstGeom prst="rect">
            <a:avLst/>
          </a:prstGeom>
        </p:spPr>
      </p:pic>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686834" y="591344"/>
            <a:ext cx="3200400" cy="5585619"/>
          </a:xfrm>
        </p:spPr>
        <p:txBody>
          <a:bodyPr>
            <a:normAutofit/>
          </a:bodyPr>
          <a:lstStyle/>
          <a:p>
            <a:r>
              <a:rPr lang="en-CA">
                <a:solidFill>
                  <a:srgbClr val="FFFFFF"/>
                </a:solidFill>
              </a:rPr>
              <a:t>Business Questions</a:t>
            </a:r>
          </a:p>
        </p:txBody>
      </p:sp>
      <p:sp>
        <p:nvSpPr>
          <p:cNvPr id="22" name="Arc 2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837927C-870D-4714-836F-D3A19DC6FC25}"/>
              </a:ext>
            </a:extLst>
          </p:cNvPr>
          <p:cNvSpPr>
            <a:spLocks noGrp="1"/>
          </p:cNvSpPr>
          <p:nvPr>
            <p:ph idx="1"/>
          </p:nvPr>
        </p:nvSpPr>
        <p:spPr>
          <a:xfrm>
            <a:off x="4447308" y="591344"/>
            <a:ext cx="6906491" cy="5585619"/>
          </a:xfrm>
        </p:spPr>
        <p:txBody>
          <a:bodyPr anchor="ctr">
            <a:normAutofit/>
          </a:bodyPr>
          <a:lstStyle/>
          <a:p>
            <a:r>
              <a:rPr lang="en-US" sz="1800" b="1">
                <a:solidFill>
                  <a:srgbClr val="FFFFFF"/>
                </a:solidFill>
              </a:rPr>
              <a:t>BQ1. What is the total estimated economic impact of Detty December on Lagos?</a:t>
            </a:r>
          </a:p>
          <a:p>
            <a:r>
              <a:rPr lang="en-US" sz="1800">
                <a:solidFill>
                  <a:srgbClr val="FFFFFF"/>
                </a:solidFill>
              </a:rPr>
              <a:t>Measures total revenue generated during the December peak period.</a:t>
            </a:r>
          </a:p>
          <a:p>
            <a:r>
              <a:rPr lang="en-US" sz="1800">
                <a:solidFill>
                  <a:srgbClr val="FFFFFF"/>
                </a:solidFill>
              </a:rPr>
              <a:t>Anchors the entire analysis.</a:t>
            </a:r>
          </a:p>
          <a:p>
            <a:pPr marL="0" indent="0">
              <a:buNone/>
            </a:pPr>
            <a:r>
              <a:rPr lang="en-US" sz="1800">
                <a:solidFill>
                  <a:srgbClr val="FFFFFF"/>
                </a:solidFill>
                <a:latin typeface="Calibri"/>
                <a:cs typeface="Calibri"/>
              </a:rPr>
              <a:t> </a:t>
            </a:r>
            <a:endParaRPr lang="en-US" sz="1800">
              <a:solidFill>
                <a:srgbClr val="FFFFFF"/>
              </a:solidFill>
              <a:latin typeface="Calibri"/>
              <a:ea typeface="Calibri"/>
              <a:cs typeface="Calibri"/>
            </a:endParaRPr>
          </a:p>
          <a:p>
            <a:r>
              <a:rPr lang="en-US" sz="1800" b="1">
                <a:solidFill>
                  <a:srgbClr val="FFFFFF"/>
                </a:solidFill>
              </a:rPr>
              <a:t>BQ2. Which sectors contribute the most to Detty December revenue?</a:t>
            </a:r>
          </a:p>
          <a:p>
            <a:r>
              <a:rPr lang="en-US" sz="1800">
                <a:solidFill>
                  <a:srgbClr val="FFFFFF"/>
                </a:solidFill>
              </a:rPr>
              <a:t>Hospitality (hotels vs short-stay)</a:t>
            </a:r>
          </a:p>
          <a:p>
            <a:r>
              <a:rPr lang="en-US" sz="1800">
                <a:solidFill>
                  <a:srgbClr val="FFFFFF"/>
                </a:solidFill>
              </a:rPr>
              <a:t>Events &amp; entertainment</a:t>
            </a:r>
          </a:p>
          <a:p>
            <a:r>
              <a:rPr lang="en-US" sz="1800">
                <a:solidFill>
                  <a:srgbClr val="FFFFFF"/>
                </a:solidFill>
              </a:rPr>
              <a:t>Aviation (proxy)</a:t>
            </a:r>
          </a:p>
          <a:p>
            <a:endParaRPr lang="en-US" sz="1800">
              <a:solidFill>
                <a:srgbClr val="FFFFFF"/>
              </a:solidFill>
            </a:endParaRPr>
          </a:p>
          <a:p>
            <a:r>
              <a:rPr lang="en-US" sz="1800" b="1">
                <a:solidFill>
                  <a:srgbClr val="FFFFFF"/>
                </a:solidFill>
              </a:rPr>
              <a:t>BQ3. How concentrated is economic activity during December compared to non-peak periods?</a:t>
            </a:r>
          </a:p>
          <a:p>
            <a:r>
              <a:rPr lang="en-US" sz="1800">
                <a:solidFill>
                  <a:srgbClr val="FFFFFF"/>
                </a:solidFill>
              </a:rPr>
              <a:t>December vs non-December revenue comparison</a:t>
            </a:r>
          </a:p>
          <a:p>
            <a:r>
              <a:rPr lang="en-US" sz="1800">
                <a:solidFill>
                  <a:srgbClr val="FFFFFF"/>
                </a:solidFill>
              </a:rPr>
              <a:t>Peak-to-off-peak ratios</a:t>
            </a:r>
          </a:p>
          <a:p>
            <a:endParaRPr lang="en-US" sz="1800">
              <a:solidFill>
                <a:srgbClr val="FFFFFF"/>
              </a:solidFill>
            </a:endParaRPr>
          </a:p>
        </p:txBody>
      </p:sp>
    </p:spTree>
    <p:extLst>
      <p:ext uri="{BB962C8B-B14F-4D97-AF65-F5344CB8AC3E}">
        <p14:creationId xmlns:p14="http://schemas.microsoft.com/office/powerpoint/2010/main" val="2594472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a:extLst>
              <a:ext uri="{FF2B5EF4-FFF2-40B4-BE49-F238E27FC236}">
                <a16:creationId xmlns:a16="http://schemas.microsoft.com/office/drawing/2014/main" id="{D4906370-1564-49FA-A802-58546B3922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664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70AEB26-777A-45F9-81E1-8CA71C13C53C}"/>
              </a:ext>
            </a:extLst>
          </p:cNvPr>
          <p:cNvPicPr>
            <a:picLocks noChangeAspect="1"/>
          </p:cNvPicPr>
          <p:nvPr/>
        </p:nvPicPr>
        <p:blipFill rotWithShape="1">
          <a:blip r:embed="rId2">
            <a:alphaModFix amt="55000"/>
          </a:blip>
          <a:srcRect t="1220" b="14510"/>
          <a:stretch>
            <a:fillRect/>
          </a:stretch>
        </p:blipFill>
        <p:spPr>
          <a:xfrm>
            <a:off x="20" y="10"/>
            <a:ext cx="12191980" cy="6857990"/>
          </a:xfrm>
          <a:prstGeom prst="rect">
            <a:avLst/>
          </a:prstGeom>
        </p:spPr>
      </p:pic>
      <p:sp>
        <p:nvSpPr>
          <p:cNvPr id="16" name="Oval 15">
            <a:extLst>
              <a:ext uri="{FF2B5EF4-FFF2-40B4-BE49-F238E27FC236}">
                <a16:creationId xmlns:a16="http://schemas.microsoft.com/office/drawing/2014/main" id="{EF640709-BDFD-453B-B75D-6212E7A87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11500" y="370600"/>
            <a:ext cx="5923842" cy="5923842"/>
          </a:xfrm>
          <a:prstGeom prst="ellipse">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EFBD9F-91A1-4DAF-BFC4-2015047C6FAF}"/>
              </a:ext>
            </a:extLst>
          </p:cNvPr>
          <p:cNvSpPr>
            <a:spLocks noGrp="1"/>
          </p:cNvSpPr>
          <p:nvPr>
            <p:ph type="ctrTitle"/>
          </p:nvPr>
        </p:nvSpPr>
        <p:spPr>
          <a:xfrm>
            <a:off x="3577192" y="1032483"/>
            <a:ext cx="5037616" cy="2982360"/>
          </a:xfrm>
        </p:spPr>
        <p:txBody>
          <a:bodyPr>
            <a:normAutofit/>
          </a:bodyPr>
          <a:lstStyle/>
          <a:p>
            <a:r>
              <a:rPr lang="en-CA" sz="5100"/>
              <a:t>2 (Revisited) – </a:t>
            </a:r>
            <a:br>
              <a:rPr lang="en-CA" sz="5100"/>
            </a:br>
            <a:r>
              <a:rPr lang="en-CA" sz="5100"/>
              <a:t>Data Understanding – </a:t>
            </a:r>
            <a:br>
              <a:rPr lang="en-CA" sz="5100"/>
            </a:br>
            <a:r>
              <a:rPr lang="en-CA" sz="5100"/>
              <a:t>Low Level</a:t>
            </a:r>
          </a:p>
        </p:txBody>
      </p:sp>
      <p:sp>
        <p:nvSpPr>
          <p:cNvPr id="18" name="Arc 17">
            <a:extLst>
              <a:ext uri="{FF2B5EF4-FFF2-40B4-BE49-F238E27FC236}">
                <a16:creationId xmlns:a16="http://schemas.microsoft.com/office/drawing/2014/main" id="{B4019478-3FDC-438C-8848-1D7DA864A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366740" flipV="1">
            <a:off x="2607299" y="8363"/>
            <a:ext cx="6816262" cy="6816262"/>
          </a:xfrm>
          <a:prstGeom prst="arc">
            <a:avLst>
              <a:gd name="adj1" fmla="val 16200000"/>
              <a:gd name="adj2" fmla="val 20401595"/>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 name="Oval 19">
            <a:extLst>
              <a:ext uri="{FF2B5EF4-FFF2-40B4-BE49-F238E27FC236}">
                <a16:creationId xmlns:a16="http://schemas.microsoft.com/office/drawing/2014/main" id="{FE406479-1D57-4209-B128-3C81746247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53400" y="4609861"/>
            <a:ext cx="873032" cy="84934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4808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725D30E-5325-5762-4E23-BB6591276B62}"/>
              </a:ext>
            </a:extLst>
          </p:cNvPr>
          <p:cNvPicPr>
            <a:picLocks noChangeAspect="1"/>
          </p:cNvPicPr>
          <p:nvPr/>
        </p:nvPicPr>
        <p:blipFill>
          <a:blip r:embed="rId2">
            <a:duotone>
              <a:schemeClr val="bg2">
                <a:shade val="45000"/>
                <a:satMod val="135000"/>
              </a:schemeClr>
              <a:prstClr val="white"/>
            </a:duotone>
          </a:blip>
          <a:srcRect t="15537" b="2046"/>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9C789F-0F6B-425D-DB52-4FE23DFF1306}"/>
              </a:ext>
            </a:extLst>
          </p:cNvPr>
          <p:cNvSpPr>
            <a:spLocks noGrp="1"/>
          </p:cNvSpPr>
          <p:nvPr>
            <p:ph type="title"/>
          </p:nvPr>
        </p:nvSpPr>
        <p:spPr>
          <a:xfrm>
            <a:off x="838200" y="365125"/>
            <a:ext cx="10515600" cy="1325563"/>
          </a:xfrm>
        </p:spPr>
        <p:txBody>
          <a:bodyPr>
            <a:normAutofit/>
          </a:bodyPr>
          <a:lstStyle/>
          <a:p>
            <a:r>
              <a:rPr lang="en-CA" dirty="0"/>
              <a:t>Dedicated “Data Sources” </a:t>
            </a:r>
          </a:p>
        </p:txBody>
      </p:sp>
      <p:graphicFrame>
        <p:nvGraphicFramePr>
          <p:cNvPr id="5" name="Content Placeholder 2">
            <a:extLst>
              <a:ext uri="{FF2B5EF4-FFF2-40B4-BE49-F238E27FC236}">
                <a16:creationId xmlns:a16="http://schemas.microsoft.com/office/drawing/2014/main" id="{32A69332-A137-9DE4-3D3F-799D56109CD5}"/>
              </a:ext>
            </a:extLst>
          </p:cNvPr>
          <p:cNvGraphicFramePr>
            <a:graphicFrameLocks noGrp="1"/>
          </p:cNvGraphicFramePr>
          <p:nvPr>
            <p:ph idx="1"/>
            <p:extLst>
              <p:ext uri="{D42A27DB-BD31-4B8C-83A1-F6EECF244321}">
                <p14:modId xmlns:p14="http://schemas.microsoft.com/office/powerpoint/2010/main" val="183852393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04525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6187E64-7A77-4D13-A5F4-9AEC282BBB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c">
            <a:extLst>
              <a:ext uri="{FF2B5EF4-FFF2-40B4-BE49-F238E27FC236}">
                <a16:creationId xmlns:a16="http://schemas.microsoft.com/office/drawing/2014/main" id="{E2B33195-5BCA-4BB7-A82D-673952268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604789">
            <a:off x="675639" y="775849"/>
            <a:ext cx="2987899" cy="2987899"/>
          </a:xfrm>
          <a:prstGeom prst="arc">
            <a:avLst>
              <a:gd name="adj1" fmla="val 14455503"/>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4C8D0A0-B8F3-40F0-A05A-C5A06A9B1349}"/>
              </a:ext>
            </a:extLst>
          </p:cNvPr>
          <p:cNvSpPr>
            <a:spLocks noGrp="1"/>
          </p:cNvSpPr>
          <p:nvPr>
            <p:ph type="title"/>
          </p:nvPr>
        </p:nvSpPr>
        <p:spPr>
          <a:xfrm>
            <a:off x="892818" y="1370171"/>
            <a:ext cx="5085580" cy="2387600"/>
          </a:xfrm>
        </p:spPr>
        <p:txBody>
          <a:bodyPr vert="horz" lIns="91440" tIns="45720" rIns="91440" bIns="45720" rtlCol="0" anchor="b">
            <a:normAutofit/>
          </a:bodyPr>
          <a:lstStyle/>
          <a:p>
            <a:r>
              <a:rPr lang="en-US" sz="5100"/>
              <a:t>Database Diagram – Tables and Columns</a:t>
            </a:r>
          </a:p>
        </p:txBody>
      </p:sp>
      <p:sp>
        <p:nvSpPr>
          <p:cNvPr id="19" name="!!Oval">
            <a:extLst>
              <a:ext uri="{FF2B5EF4-FFF2-40B4-BE49-F238E27FC236}">
                <a16:creationId xmlns:a16="http://schemas.microsoft.com/office/drawing/2014/main" id="{CF8AD9F3-9AF6-494F-83A3-2F67756393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9802" y="832686"/>
            <a:ext cx="1104943" cy="107496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 name="Picture 4" descr="A screenshot of a computer&#10;&#10;AI-generated content may be incorrect.">
            <a:extLst>
              <a:ext uri="{FF2B5EF4-FFF2-40B4-BE49-F238E27FC236}">
                <a16:creationId xmlns:a16="http://schemas.microsoft.com/office/drawing/2014/main" id="{2A73695F-7E18-38D0-947D-955617BADE5F}"/>
              </a:ext>
            </a:extLst>
          </p:cNvPr>
          <p:cNvPicPr>
            <a:picLocks noChangeAspect="1"/>
          </p:cNvPicPr>
          <p:nvPr/>
        </p:nvPicPr>
        <p:blipFill>
          <a:blip r:embed="rId3"/>
          <a:srcRect l="10074" r="7675" b="-2"/>
          <a:stretch>
            <a:fillRect/>
          </a:stretch>
        </p:blipFill>
        <p:spPr>
          <a:xfrm>
            <a:off x="6521381" y="773723"/>
            <a:ext cx="5194998" cy="5194998"/>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
        <p:nvSpPr>
          <p:cNvPr id="21" name="!!Rectangle">
            <a:extLst>
              <a:ext uri="{FF2B5EF4-FFF2-40B4-BE49-F238E27FC236}">
                <a16:creationId xmlns:a16="http://schemas.microsoft.com/office/drawing/2014/main" id="{0DA5DB8B-7E5C-4ABC-8069-A9A8806F3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17806" y="4790720"/>
            <a:ext cx="876704" cy="87670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025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70AEB26-777A-45F9-81E1-8CA71C13C53C}"/>
              </a:ext>
            </a:extLst>
          </p:cNvPr>
          <p:cNvPicPr>
            <a:picLocks noChangeAspect="1"/>
          </p:cNvPicPr>
          <p:nvPr/>
        </p:nvPicPr>
        <p:blipFill rotWithShape="1">
          <a:blip r:embed="rId2">
            <a:alphaModFix amt="50000"/>
          </a:blip>
          <a:srcRect t="1220" b="14510"/>
          <a:stretch/>
        </p:blipFill>
        <p:spPr>
          <a:xfrm>
            <a:off x="20" y="1"/>
            <a:ext cx="12191980" cy="6857999"/>
          </a:xfrm>
          <a:prstGeom prst="rect">
            <a:avLst/>
          </a:prstGeom>
        </p:spPr>
      </p:pic>
      <p:sp>
        <p:nvSpPr>
          <p:cNvPr id="2" name="Title 1">
            <a:extLst>
              <a:ext uri="{FF2B5EF4-FFF2-40B4-BE49-F238E27FC236}">
                <a16:creationId xmlns:a16="http://schemas.microsoft.com/office/drawing/2014/main" id="{09EFBD9F-91A1-4DAF-BFC4-2015047C6FAF}"/>
              </a:ext>
            </a:extLst>
          </p:cNvPr>
          <p:cNvSpPr>
            <a:spLocks noGrp="1"/>
          </p:cNvSpPr>
          <p:nvPr>
            <p:ph type="ctrTitle"/>
          </p:nvPr>
        </p:nvSpPr>
        <p:spPr>
          <a:xfrm>
            <a:off x="1934547" y="1122361"/>
            <a:ext cx="8273143" cy="4531989"/>
          </a:xfrm>
        </p:spPr>
        <p:txBody>
          <a:bodyPr>
            <a:normAutofit/>
          </a:bodyPr>
          <a:lstStyle/>
          <a:p>
            <a:pPr algn="l"/>
            <a:r>
              <a:rPr lang="en-CA">
                <a:solidFill>
                  <a:srgbClr val="FFFFFF"/>
                </a:solidFill>
              </a:rPr>
              <a:t>3 – </a:t>
            </a:r>
            <a:br>
              <a:rPr lang="en-CA">
                <a:solidFill>
                  <a:srgbClr val="FFFFFF"/>
                </a:solidFill>
              </a:rPr>
            </a:br>
            <a:r>
              <a:rPr lang="en-CA">
                <a:solidFill>
                  <a:srgbClr val="FFFFFF"/>
                </a:solidFill>
              </a:rPr>
              <a:t>Data Preparation</a:t>
            </a:r>
          </a:p>
        </p:txBody>
      </p:sp>
    </p:spTree>
    <p:extLst>
      <p:ext uri="{BB962C8B-B14F-4D97-AF65-F5344CB8AC3E}">
        <p14:creationId xmlns:p14="http://schemas.microsoft.com/office/powerpoint/2010/main" val="4068024303"/>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D0A0-B8F3-40F0-A05A-C5A06A9B1349}"/>
              </a:ext>
            </a:extLst>
          </p:cNvPr>
          <p:cNvSpPr>
            <a:spLocks noGrp="1"/>
          </p:cNvSpPr>
          <p:nvPr>
            <p:ph type="title"/>
          </p:nvPr>
        </p:nvSpPr>
        <p:spPr>
          <a:xfrm>
            <a:off x="838200" y="135825"/>
            <a:ext cx="7617178" cy="835019"/>
          </a:xfrm>
        </p:spPr>
        <p:txBody>
          <a:bodyPr>
            <a:normAutofit fontScale="90000"/>
          </a:bodyPr>
          <a:lstStyle/>
          <a:p>
            <a:r>
              <a:rPr lang="en-CA"/>
              <a:t>Data Preparation – Data cleansing</a:t>
            </a:r>
          </a:p>
        </p:txBody>
      </p:sp>
      <p:sp>
        <p:nvSpPr>
          <p:cNvPr id="7" name="TextBox 6">
            <a:extLst>
              <a:ext uri="{FF2B5EF4-FFF2-40B4-BE49-F238E27FC236}">
                <a16:creationId xmlns:a16="http://schemas.microsoft.com/office/drawing/2014/main" id="{27C48A99-1BF3-46F7-B379-A6079B59BCB8}"/>
              </a:ext>
            </a:extLst>
          </p:cNvPr>
          <p:cNvSpPr txBox="1"/>
          <p:nvPr/>
        </p:nvSpPr>
        <p:spPr>
          <a:xfrm>
            <a:off x="2438401" y="824048"/>
            <a:ext cx="3224981" cy="369332"/>
          </a:xfrm>
          <a:prstGeom prst="rect">
            <a:avLst/>
          </a:prstGeom>
          <a:noFill/>
        </p:spPr>
        <p:txBody>
          <a:bodyPr wrap="square" rtlCol="0">
            <a:spAutoFit/>
          </a:bodyPr>
          <a:lstStyle/>
          <a:p>
            <a:r>
              <a:rPr lang="en-US" b="1" dirty="0"/>
              <a:t>ECONOMIC IMPACT TABLE</a:t>
            </a:r>
            <a:endParaRPr lang="en-CA" b="1" dirty="0"/>
          </a:p>
        </p:txBody>
      </p:sp>
      <p:pic>
        <p:nvPicPr>
          <p:cNvPr id="5" name="Picture 4" descr="A screenshot of a computer&#10;&#10;AI-generated content may be incorrect.">
            <a:extLst>
              <a:ext uri="{FF2B5EF4-FFF2-40B4-BE49-F238E27FC236}">
                <a16:creationId xmlns:a16="http://schemas.microsoft.com/office/drawing/2014/main" id="{B7F3983A-EC45-72A6-279E-75926B441A7F}"/>
              </a:ext>
            </a:extLst>
          </p:cNvPr>
          <p:cNvPicPr>
            <a:picLocks noChangeAspect="1"/>
          </p:cNvPicPr>
          <p:nvPr/>
        </p:nvPicPr>
        <p:blipFill>
          <a:blip r:embed="rId3"/>
          <a:stretch>
            <a:fillRect/>
          </a:stretch>
        </p:blipFill>
        <p:spPr>
          <a:xfrm>
            <a:off x="278836" y="1193380"/>
            <a:ext cx="5384546" cy="2735889"/>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2984719E-A56A-D259-1D05-4C518806CF3D}"/>
              </a:ext>
            </a:extLst>
          </p:cNvPr>
          <p:cNvPicPr>
            <a:picLocks noChangeAspect="1"/>
          </p:cNvPicPr>
          <p:nvPr/>
        </p:nvPicPr>
        <p:blipFill>
          <a:blip r:embed="rId4"/>
          <a:stretch>
            <a:fillRect/>
          </a:stretch>
        </p:blipFill>
        <p:spPr>
          <a:xfrm>
            <a:off x="0" y="4816398"/>
            <a:ext cx="6838950" cy="1524000"/>
          </a:xfrm>
          <a:prstGeom prst="rect">
            <a:avLst/>
          </a:prstGeom>
        </p:spPr>
      </p:pic>
      <p:sp>
        <p:nvSpPr>
          <p:cNvPr id="15" name="TextBox 14">
            <a:extLst>
              <a:ext uri="{FF2B5EF4-FFF2-40B4-BE49-F238E27FC236}">
                <a16:creationId xmlns:a16="http://schemas.microsoft.com/office/drawing/2014/main" id="{B5D48D62-0C98-001E-6B47-DC3B06155343}"/>
              </a:ext>
            </a:extLst>
          </p:cNvPr>
          <p:cNvSpPr txBox="1"/>
          <p:nvPr/>
        </p:nvSpPr>
        <p:spPr>
          <a:xfrm>
            <a:off x="2971109" y="4262284"/>
            <a:ext cx="1559786" cy="369332"/>
          </a:xfrm>
          <a:prstGeom prst="rect">
            <a:avLst/>
          </a:prstGeom>
          <a:noFill/>
        </p:spPr>
        <p:txBody>
          <a:bodyPr wrap="none" rtlCol="0">
            <a:spAutoFit/>
          </a:bodyPr>
          <a:lstStyle/>
          <a:p>
            <a:r>
              <a:rPr lang="en-CA" b="1" dirty="0"/>
              <a:t>VISITOR FLOW</a:t>
            </a:r>
          </a:p>
        </p:txBody>
      </p:sp>
      <p:pic>
        <p:nvPicPr>
          <p:cNvPr id="16" name="Picture 15" descr="A screenshot of a computer&#10;&#10;AI-generated content may be incorrect.">
            <a:extLst>
              <a:ext uri="{FF2B5EF4-FFF2-40B4-BE49-F238E27FC236}">
                <a16:creationId xmlns:a16="http://schemas.microsoft.com/office/drawing/2014/main" id="{3F0CA8D4-9A93-2039-2842-3181C7DB4E74}"/>
              </a:ext>
            </a:extLst>
          </p:cNvPr>
          <p:cNvPicPr>
            <a:picLocks noChangeAspect="1"/>
          </p:cNvPicPr>
          <p:nvPr/>
        </p:nvPicPr>
        <p:blipFill>
          <a:blip r:embed="rId5"/>
          <a:stretch>
            <a:fillRect/>
          </a:stretch>
        </p:blipFill>
        <p:spPr>
          <a:xfrm>
            <a:off x="7360003" y="1420019"/>
            <a:ext cx="2190750" cy="1390650"/>
          </a:xfrm>
          <a:prstGeom prst="rect">
            <a:avLst/>
          </a:prstGeom>
        </p:spPr>
      </p:pic>
      <p:pic>
        <p:nvPicPr>
          <p:cNvPr id="17" name="Picture 16" descr="A screenshot of a spreadsheet&#10;&#10;AI-generated content may be incorrect.">
            <a:extLst>
              <a:ext uri="{FF2B5EF4-FFF2-40B4-BE49-F238E27FC236}">
                <a16:creationId xmlns:a16="http://schemas.microsoft.com/office/drawing/2014/main" id="{5DF7BB6F-EC28-4886-DDBF-B1BDA872C9B9}"/>
              </a:ext>
            </a:extLst>
          </p:cNvPr>
          <p:cNvPicPr>
            <a:picLocks noChangeAspect="1"/>
          </p:cNvPicPr>
          <p:nvPr/>
        </p:nvPicPr>
        <p:blipFill>
          <a:blip r:embed="rId6"/>
          <a:stretch>
            <a:fillRect/>
          </a:stretch>
        </p:blipFill>
        <p:spPr>
          <a:xfrm>
            <a:off x="7463606" y="4742656"/>
            <a:ext cx="2486025" cy="1257300"/>
          </a:xfrm>
          <a:prstGeom prst="rect">
            <a:avLst/>
          </a:prstGeom>
        </p:spPr>
      </p:pic>
      <p:sp>
        <p:nvSpPr>
          <p:cNvPr id="18" name="TextBox 17">
            <a:extLst>
              <a:ext uri="{FF2B5EF4-FFF2-40B4-BE49-F238E27FC236}">
                <a16:creationId xmlns:a16="http://schemas.microsoft.com/office/drawing/2014/main" id="{E6A4B52D-EF71-CAF3-59BC-F94290C357FE}"/>
              </a:ext>
            </a:extLst>
          </p:cNvPr>
          <p:cNvSpPr txBox="1"/>
          <p:nvPr/>
        </p:nvSpPr>
        <p:spPr>
          <a:xfrm>
            <a:off x="7875639" y="1008714"/>
            <a:ext cx="918393" cy="369332"/>
          </a:xfrm>
          <a:prstGeom prst="rect">
            <a:avLst/>
          </a:prstGeom>
          <a:noFill/>
        </p:spPr>
        <p:txBody>
          <a:bodyPr wrap="none" rtlCol="0">
            <a:spAutoFit/>
          </a:bodyPr>
          <a:lstStyle/>
          <a:p>
            <a:r>
              <a:rPr lang="en-CA" b="1" dirty="0"/>
              <a:t>SECTOR</a:t>
            </a:r>
          </a:p>
        </p:txBody>
      </p:sp>
      <p:sp>
        <p:nvSpPr>
          <p:cNvPr id="21" name="TextBox 20">
            <a:extLst>
              <a:ext uri="{FF2B5EF4-FFF2-40B4-BE49-F238E27FC236}">
                <a16:creationId xmlns:a16="http://schemas.microsoft.com/office/drawing/2014/main" id="{6772D0FB-9428-46F8-F2E9-1A32FBD016B3}"/>
              </a:ext>
            </a:extLst>
          </p:cNvPr>
          <p:cNvSpPr txBox="1"/>
          <p:nvPr/>
        </p:nvSpPr>
        <p:spPr>
          <a:xfrm>
            <a:off x="7782752" y="4373324"/>
            <a:ext cx="1345252" cy="369332"/>
          </a:xfrm>
          <a:prstGeom prst="rect">
            <a:avLst/>
          </a:prstGeom>
          <a:noFill/>
        </p:spPr>
        <p:txBody>
          <a:bodyPr wrap="square">
            <a:spAutoFit/>
          </a:bodyPr>
          <a:lstStyle/>
          <a:p>
            <a:r>
              <a:rPr lang="en-CA" b="1" dirty="0"/>
              <a:t>TIME</a:t>
            </a:r>
          </a:p>
        </p:txBody>
      </p:sp>
    </p:spTree>
    <p:extLst>
      <p:ext uri="{BB962C8B-B14F-4D97-AF65-F5344CB8AC3E}">
        <p14:creationId xmlns:p14="http://schemas.microsoft.com/office/powerpoint/2010/main" val="3712044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B49EF-BBAA-914A-B481-8DD615C4BA3C}"/>
              </a:ext>
            </a:extLst>
          </p:cNvPr>
          <p:cNvSpPr>
            <a:spLocks noGrp="1"/>
          </p:cNvSpPr>
          <p:nvPr>
            <p:ph type="title"/>
          </p:nvPr>
        </p:nvSpPr>
        <p:spPr>
          <a:xfrm>
            <a:off x="9611263" y="1529538"/>
            <a:ext cx="1431418" cy="379357"/>
          </a:xfrm>
        </p:spPr>
        <p:txBody>
          <a:bodyPr>
            <a:normAutofit/>
          </a:bodyPr>
          <a:lstStyle/>
          <a:p>
            <a:r>
              <a:rPr lang="en-CA" sz="2000" b="1" dirty="0"/>
              <a:t>SECTOR</a:t>
            </a:r>
          </a:p>
        </p:txBody>
      </p:sp>
      <p:pic>
        <p:nvPicPr>
          <p:cNvPr id="5" name="Content Placeholder 4" descr="A screenshot of a computer&#10;&#10;AI-generated content may be incorrect.">
            <a:extLst>
              <a:ext uri="{FF2B5EF4-FFF2-40B4-BE49-F238E27FC236}">
                <a16:creationId xmlns:a16="http://schemas.microsoft.com/office/drawing/2014/main" id="{DD4AD857-D074-6291-F26F-B705031EBA28}"/>
              </a:ext>
            </a:extLst>
          </p:cNvPr>
          <p:cNvPicPr>
            <a:picLocks noGrp="1" noChangeAspect="1"/>
          </p:cNvPicPr>
          <p:nvPr>
            <p:ph idx="1"/>
          </p:nvPr>
        </p:nvPicPr>
        <p:blipFill>
          <a:blip r:embed="rId2"/>
          <a:stretch>
            <a:fillRect/>
          </a:stretch>
        </p:blipFill>
        <p:spPr>
          <a:xfrm>
            <a:off x="341574" y="2070644"/>
            <a:ext cx="8460576" cy="1526995"/>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E00CDEB4-3837-5ADC-82DC-E2782967A21A}"/>
              </a:ext>
            </a:extLst>
          </p:cNvPr>
          <p:cNvPicPr>
            <a:picLocks noChangeAspect="1"/>
          </p:cNvPicPr>
          <p:nvPr/>
        </p:nvPicPr>
        <p:blipFill>
          <a:blip r:embed="rId3"/>
          <a:stretch>
            <a:fillRect/>
          </a:stretch>
        </p:blipFill>
        <p:spPr>
          <a:xfrm>
            <a:off x="215953" y="4201071"/>
            <a:ext cx="9391650" cy="1933575"/>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AFA5848D-D84B-950E-052A-9DD6D18342ED}"/>
              </a:ext>
            </a:extLst>
          </p:cNvPr>
          <p:cNvPicPr>
            <a:picLocks noChangeAspect="1"/>
          </p:cNvPicPr>
          <p:nvPr/>
        </p:nvPicPr>
        <p:blipFill>
          <a:blip r:embed="rId4"/>
          <a:stretch>
            <a:fillRect/>
          </a:stretch>
        </p:blipFill>
        <p:spPr>
          <a:xfrm>
            <a:off x="9364401" y="2041004"/>
            <a:ext cx="2486025" cy="1571625"/>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CC047377-2501-9D5E-E82D-9F48BEBB5D60}"/>
              </a:ext>
            </a:extLst>
          </p:cNvPr>
          <p:cNvPicPr>
            <a:picLocks noChangeAspect="1"/>
          </p:cNvPicPr>
          <p:nvPr/>
        </p:nvPicPr>
        <p:blipFill>
          <a:blip r:embed="rId5"/>
          <a:stretch>
            <a:fillRect/>
          </a:stretch>
        </p:blipFill>
        <p:spPr>
          <a:xfrm>
            <a:off x="9756722" y="4728832"/>
            <a:ext cx="2219325" cy="878051"/>
          </a:xfrm>
          <a:prstGeom prst="rect">
            <a:avLst/>
          </a:prstGeom>
        </p:spPr>
      </p:pic>
      <p:sp>
        <p:nvSpPr>
          <p:cNvPr id="15" name="TextBox 14">
            <a:extLst>
              <a:ext uri="{FF2B5EF4-FFF2-40B4-BE49-F238E27FC236}">
                <a16:creationId xmlns:a16="http://schemas.microsoft.com/office/drawing/2014/main" id="{3AFAE7D9-7DEF-CF11-1BD2-0628F0086E16}"/>
              </a:ext>
            </a:extLst>
          </p:cNvPr>
          <p:cNvSpPr txBox="1"/>
          <p:nvPr/>
        </p:nvSpPr>
        <p:spPr>
          <a:xfrm>
            <a:off x="1865028" y="1719217"/>
            <a:ext cx="6093500" cy="369332"/>
          </a:xfrm>
          <a:prstGeom prst="rect">
            <a:avLst/>
          </a:prstGeom>
          <a:noFill/>
        </p:spPr>
        <p:txBody>
          <a:bodyPr wrap="square">
            <a:spAutoFit/>
          </a:bodyPr>
          <a:lstStyle/>
          <a:p>
            <a:r>
              <a:rPr lang="en-US" b="1" dirty="0"/>
              <a:t>ECONOMIC IMPACT TABLE</a:t>
            </a:r>
            <a:endParaRPr lang="en-CA" b="1" dirty="0"/>
          </a:p>
        </p:txBody>
      </p:sp>
      <p:sp>
        <p:nvSpPr>
          <p:cNvPr id="17" name="TextBox 16">
            <a:extLst>
              <a:ext uri="{FF2B5EF4-FFF2-40B4-BE49-F238E27FC236}">
                <a16:creationId xmlns:a16="http://schemas.microsoft.com/office/drawing/2014/main" id="{FE9234D6-CD8F-2A8C-E04F-C950E24C3086}"/>
              </a:ext>
            </a:extLst>
          </p:cNvPr>
          <p:cNvSpPr txBox="1"/>
          <p:nvPr/>
        </p:nvSpPr>
        <p:spPr>
          <a:xfrm>
            <a:off x="1865028" y="3714689"/>
            <a:ext cx="1645088" cy="369332"/>
          </a:xfrm>
          <a:prstGeom prst="rect">
            <a:avLst/>
          </a:prstGeom>
          <a:noFill/>
        </p:spPr>
        <p:txBody>
          <a:bodyPr wrap="square">
            <a:spAutoFit/>
          </a:bodyPr>
          <a:lstStyle/>
          <a:p>
            <a:r>
              <a:rPr lang="en-CA" b="1" dirty="0"/>
              <a:t>VISITOR FLOW</a:t>
            </a:r>
          </a:p>
        </p:txBody>
      </p:sp>
      <p:sp>
        <p:nvSpPr>
          <p:cNvPr id="19" name="TextBox 18">
            <a:extLst>
              <a:ext uri="{FF2B5EF4-FFF2-40B4-BE49-F238E27FC236}">
                <a16:creationId xmlns:a16="http://schemas.microsoft.com/office/drawing/2014/main" id="{26638363-1D8A-3783-3DA7-36855473EDC7}"/>
              </a:ext>
            </a:extLst>
          </p:cNvPr>
          <p:cNvSpPr txBox="1"/>
          <p:nvPr/>
        </p:nvSpPr>
        <p:spPr>
          <a:xfrm>
            <a:off x="10084209" y="4252690"/>
            <a:ext cx="1139314" cy="369332"/>
          </a:xfrm>
          <a:prstGeom prst="rect">
            <a:avLst/>
          </a:prstGeom>
          <a:noFill/>
        </p:spPr>
        <p:txBody>
          <a:bodyPr wrap="square">
            <a:spAutoFit/>
          </a:bodyPr>
          <a:lstStyle/>
          <a:p>
            <a:r>
              <a:rPr lang="en-CA" b="1" dirty="0"/>
              <a:t>TIME</a:t>
            </a:r>
          </a:p>
        </p:txBody>
      </p:sp>
    </p:spTree>
    <p:extLst>
      <p:ext uri="{BB962C8B-B14F-4D97-AF65-F5344CB8AC3E}">
        <p14:creationId xmlns:p14="http://schemas.microsoft.com/office/powerpoint/2010/main" val="251067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70AEB26-777A-45F9-81E1-8CA71C13C53C}"/>
              </a:ext>
            </a:extLst>
          </p:cNvPr>
          <p:cNvPicPr>
            <a:picLocks noChangeAspect="1"/>
          </p:cNvPicPr>
          <p:nvPr/>
        </p:nvPicPr>
        <p:blipFill rotWithShape="1">
          <a:blip r:embed="rId2">
            <a:alphaModFix amt="50000"/>
          </a:blip>
          <a:srcRect t="1220" b="14510"/>
          <a:stretch/>
        </p:blipFill>
        <p:spPr>
          <a:xfrm>
            <a:off x="20" y="1"/>
            <a:ext cx="12191980" cy="6857999"/>
          </a:xfrm>
          <a:prstGeom prst="rect">
            <a:avLst/>
          </a:prstGeom>
        </p:spPr>
      </p:pic>
      <p:pic>
        <p:nvPicPr>
          <p:cNvPr id="4" name="Picture 3" descr="A street with cars and people on it&#10;&#10;AI-generated content may be incorrect.">
            <a:extLst>
              <a:ext uri="{FF2B5EF4-FFF2-40B4-BE49-F238E27FC236}">
                <a16:creationId xmlns:a16="http://schemas.microsoft.com/office/drawing/2014/main" id="{447A4F12-3EF4-2AE0-67C5-856BDB277727}"/>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83330" y="-1322358"/>
            <a:ext cx="12275330" cy="8180357"/>
          </a:xfrm>
          <a:prstGeom prst="rect">
            <a:avLst/>
          </a:prstGeom>
        </p:spPr>
      </p:pic>
      <p:sp>
        <p:nvSpPr>
          <p:cNvPr id="6" name="TextBox 5">
            <a:extLst>
              <a:ext uri="{FF2B5EF4-FFF2-40B4-BE49-F238E27FC236}">
                <a16:creationId xmlns:a16="http://schemas.microsoft.com/office/drawing/2014/main" id="{1F5B2FA4-F4FB-E233-5684-D4FBE6FD92C8}"/>
              </a:ext>
            </a:extLst>
          </p:cNvPr>
          <p:cNvSpPr txBox="1"/>
          <p:nvPr/>
        </p:nvSpPr>
        <p:spPr>
          <a:xfrm>
            <a:off x="-83330" y="6857999"/>
            <a:ext cx="12275330" cy="230831"/>
          </a:xfrm>
          <a:prstGeom prst="rect">
            <a:avLst/>
          </a:prstGeom>
          <a:noFill/>
        </p:spPr>
        <p:txBody>
          <a:bodyPr wrap="square" rtlCol="0">
            <a:spAutoFit/>
          </a:bodyPr>
          <a:lstStyle/>
          <a:p>
            <a:r>
              <a:rPr lang="en-CA" sz="900">
                <a:hlinkClick r:id="rId4" tooltip="https://africanarguments.org/2019/05/for-naija-we-dey-kampe-nigeria-pidgin/"/>
              </a:rPr>
              <a:t>This Photo</a:t>
            </a:r>
            <a:r>
              <a:rPr lang="en-CA" sz="900"/>
              <a:t> by Unknown Author is licensed under </a:t>
            </a:r>
            <a:r>
              <a:rPr lang="en-CA" sz="900">
                <a:hlinkClick r:id="rId5" tooltip="https://creativecommons.org/licenses/by-nc-sa/3.0/"/>
              </a:rPr>
              <a:t>CC BY-SA-NC</a:t>
            </a:r>
            <a:endParaRPr lang="en-CA" sz="900"/>
          </a:p>
        </p:txBody>
      </p:sp>
      <p:sp>
        <p:nvSpPr>
          <p:cNvPr id="2" name="Title 1">
            <a:extLst>
              <a:ext uri="{FF2B5EF4-FFF2-40B4-BE49-F238E27FC236}">
                <a16:creationId xmlns:a16="http://schemas.microsoft.com/office/drawing/2014/main" id="{09EFBD9F-91A1-4DAF-BFC4-2015047C6FAF}"/>
              </a:ext>
            </a:extLst>
          </p:cNvPr>
          <p:cNvSpPr>
            <a:spLocks noGrp="1"/>
          </p:cNvSpPr>
          <p:nvPr>
            <p:ph type="ctrTitle"/>
          </p:nvPr>
        </p:nvSpPr>
        <p:spPr>
          <a:xfrm>
            <a:off x="1934547" y="1122361"/>
            <a:ext cx="8273143" cy="4531989"/>
          </a:xfrm>
        </p:spPr>
        <p:txBody>
          <a:bodyPr>
            <a:normAutofit/>
          </a:bodyPr>
          <a:lstStyle/>
          <a:p>
            <a:pPr algn="l"/>
            <a:r>
              <a:rPr lang="en-CA" dirty="0">
                <a:solidFill>
                  <a:srgbClr val="FFFFFF"/>
                </a:solidFill>
              </a:rPr>
              <a:t>4 – </a:t>
            </a:r>
            <a:br>
              <a:rPr lang="en-CA" dirty="0">
                <a:solidFill>
                  <a:srgbClr val="FFFFFF"/>
                </a:solidFill>
              </a:rPr>
            </a:br>
            <a:r>
              <a:rPr lang="en-CA" b="1" dirty="0"/>
              <a:t>Modeling</a:t>
            </a:r>
          </a:p>
        </p:txBody>
      </p:sp>
    </p:spTree>
    <p:extLst>
      <p:ext uri="{BB962C8B-B14F-4D97-AF65-F5344CB8AC3E}">
        <p14:creationId xmlns:p14="http://schemas.microsoft.com/office/powerpoint/2010/main" val="1371327845"/>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C6FC42E6-6C25-4922-95D2-B97B1E12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295F874-A8A5-4A14-8CFC-828968DE6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54" y="0"/>
            <a:ext cx="4731782"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13761F-663F-516A-AFFD-46C82ED82044}"/>
              </a:ext>
            </a:extLst>
          </p:cNvPr>
          <p:cNvSpPr>
            <a:spLocks noGrp="1"/>
          </p:cNvSpPr>
          <p:nvPr>
            <p:ph type="title"/>
          </p:nvPr>
        </p:nvSpPr>
        <p:spPr>
          <a:xfrm>
            <a:off x="884716" y="871442"/>
            <a:ext cx="2924843" cy="3172364"/>
          </a:xfrm>
        </p:spPr>
        <p:txBody>
          <a:bodyPr vert="horz" lIns="91440" tIns="45720" rIns="91440" bIns="45720" rtlCol="0" anchor="b">
            <a:normAutofit/>
          </a:bodyPr>
          <a:lstStyle/>
          <a:p>
            <a:pPr algn="ctr"/>
            <a:r>
              <a:rPr lang="en-US" sz="2800" b="1" kern="1200">
                <a:solidFill>
                  <a:srgbClr val="595959"/>
                </a:solidFill>
                <a:latin typeface="+mj-lt"/>
                <a:ea typeface="+mj-ea"/>
                <a:cs typeface="+mj-cs"/>
              </a:rPr>
              <a:t>VISUALIZATION</a:t>
            </a:r>
          </a:p>
        </p:txBody>
      </p:sp>
      <p:pic>
        <p:nvPicPr>
          <p:cNvPr id="9" name="Content Placeholder 8" descr="A screenshot of a computer&#10;&#10;AI-generated content may be incorrect.">
            <a:extLst>
              <a:ext uri="{FF2B5EF4-FFF2-40B4-BE49-F238E27FC236}">
                <a16:creationId xmlns:a16="http://schemas.microsoft.com/office/drawing/2014/main" id="{266B48A8-19A3-D159-544A-5E3F0897825E}"/>
              </a:ext>
            </a:extLst>
          </p:cNvPr>
          <p:cNvPicPr>
            <a:picLocks noGrp="1" noChangeAspect="1"/>
          </p:cNvPicPr>
          <p:nvPr>
            <p:ph idx="1"/>
          </p:nvPr>
        </p:nvPicPr>
        <p:blipFill>
          <a:blip r:embed="rId2"/>
          <a:stretch>
            <a:fillRect/>
          </a:stretch>
        </p:blipFill>
        <p:spPr>
          <a:xfrm>
            <a:off x="5410716" y="1673240"/>
            <a:ext cx="6106987" cy="3511517"/>
          </a:xfrm>
          <a:prstGeom prst="rect">
            <a:avLst/>
          </a:prstGeom>
        </p:spPr>
      </p:pic>
    </p:spTree>
    <p:extLst>
      <p:ext uri="{BB962C8B-B14F-4D97-AF65-F5344CB8AC3E}">
        <p14:creationId xmlns:p14="http://schemas.microsoft.com/office/powerpoint/2010/main" val="1234141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47D6575-0B06-40B2-9D0F-298202F6B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Arc 15">
            <a:extLst>
              <a:ext uri="{FF2B5EF4-FFF2-40B4-BE49-F238E27FC236}">
                <a16:creationId xmlns:a16="http://schemas.microsoft.com/office/drawing/2014/main" id="{E2B33195-5BCA-4BB7-A82D-673952268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604789">
            <a:off x="675639" y="775849"/>
            <a:ext cx="2987899" cy="2987899"/>
          </a:xfrm>
          <a:prstGeom prst="arc">
            <a:avLst>
              <a:gd name="adj1" fmla="val 14455503"/>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9EFBD9F-91A1-4DAF-BFC4-2015047C6FAF}"/>
              </a:ext>
            </a:extLst>
          </p:cNvPr>
          <p:cNvSpPr>
            <a:spLocks noGrp="1"/>
          </p:cNvSpPr>
          <p:nvPr>
            <p:ph type="ctrTitle"/>
          </p:nvPr>
        </p:nvSpPr>
        <p:spPr>
          <a:xfrm>
            <a:off x="892818" y="1370171"/>
            <a:ext cx="5085580" cy="2387600"/>
          </a:xfrm>
        </p:spPr>
        <p:txBody>
          <a:bodyPr>
            <a:normAutofit/>
          </a:bodyPr>
          <a:lstStyle/>
          <a:p>
            <a:pPr algn="l"/>
            <a:r>
              <a:rPr lang="en-CA">
                <a:solidFill>
                  <a:schemeClr val="bg1"/>
                </a:solidFill>
              </a:rPr>
              <a:t>5 – </a:t>
            </a:r>
            <a:br>
              <a:rPr lang="en-CA">
                <a:solidFill>
                  <a:schemeClr val="bg1"/>
                </a:solidFill>
              </a:rPr>
            </a:br>
            <a:r>
              <a:rPr lang="en-CA">
                <a:solidFill>
                  <a:schemeClr val="bg1"/>
                </a:solidFill>
              </a:rPr>
              <a:t>Evaluation</a:t>
            </a:r>
          </a:p>
        </p:txBody>
      </p:sp>
      <p:sp>
        <p:nvSpPr>
          <p:cNvPr id="18" name="Oval 17">
            <a:extLst>
              <a:ext uri="{FF2B5EF4-FFF2-40B4-BE49-F238E27FC236}">
                <a16:creationId xmlns:a16="http://schemas.microsoft.com/office/drawing/2014/main" id="{CF8AD9F3-9AF6-494F-83A3-2F67756393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9802" y="832686"/>
            <a:ext cx="1104943" cy="107496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70AEB26-777A-45F9-81E1-8CA71C13C53C}"/>
              </a:ext>
            </a:extLst>
          </p:cNvPr>
          <p:cNvPicPr>
            <a:picLocks noChangeAspect="1"/>
          </p:cNvPicPr>
          <p:nvPr/>
        </p:nvPicPr>
        <p:blipFill rotWithShape="1">
          <a:blip r:embed="rId2"/>
          <a:srcRect l="8136" r="25115" b="2"/>
          <a:stretch>
            <a:fillRect/>
          </a:stretch>
        </p:blipFill>
        <p:spPr>
          <a:xfrm>
            <a:off x="6520859" y="795510"/>
            <a:ext cx="5137520" cy="5137520"/>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
        <p:nvSpPr>
          <p:cNvPr id="20" name="Rectangle 19">
            <a:extLst>
              <a:ext uri="{FF2B5EF4-FFF2-40B4-BE49-F238E27FC236}">
                <a16:creationId xmlns:a16="http://schemas.microsoft.com/office/drawing/2014/main" id="{0DA5DB8B-7E5C-4ABC-8069-A9A8806F3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82154" y="4925384"/>
            <a:ext cx="876704" cy="876704"/>
          </a:xfrm>
          <a:prstGeom prst="rect">
            <a:avLst/>
          </a:prstGeom>
          <a:noFill/>
          <a:ln w="127000">
            <a:solidFill>
              <a:schemeClr val="accent4"/>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08385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686834" y="1153572"/>
            <a:ext cx="3200400" cy="4461163"/>
          </a:xfrm>
        </p:spPr>
        <p:txBody>
          <a:bodyPr>
            <a:normAutofit/>
          </a:bodyPr>
          <a:lstStyle/>
          <a:p>
            <a:r>
              <a:rPr lang="en-CA" dirty="0">
                <a:solidFill>
                  <a:srgbClr val="FFFFFF"/>
                </a:solidFill>
              </a:rPr>
              <a:t>KEY INSIGHTS</a:t>
            </a:r>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837927C-870D-4714-836F-D3A19DC6FC25}"/>
              </a:ext>
            </a:extLst>
          </p:cNvPr>
          <p:cNvSpPr>
            <a:spLocks noGrp="1"/>
          </p:cNvSpPr>
          <p:nvPr>
            <p:ph idx="1"/>
          </p:nvPr>
        </p:nvSpPr>
        <p:spPr>
          <a:xfrm>
            <a:off x="4447308" y="591344"/>
            <a:ext cx="6906491" cy="5585619"/>
          </a:xfrm>
        </p:spPr>
        <p:txBody>
          <a:bodyPr anchor="ctr">
            <a:normAutofit/>
          </a:bodyPr>
          <a:lstStyle/>
          <a:p>
            <a:r>
              <a:rPr lang="en-US" sz="1800" b="1"/>
              <a:t>INSIGHT 1 — Detty December Generates a Significant but Short-Lived Economic Surge</a:t>
            </a:r>
          </a:p>
          <a:p>
            <a:r>
              <a:rPr lang="en-US" sz="1800" b="1"/>
              <a:t>(BQ1: Total economic impact)</a:t>
            </a:r>
            <a:endParaRPr lang="en-US" sz="1800"/>
          </a:p>
          <a:p>
            <a:r>
              <a:rPr lang="en-US" sz="1800" b="1"/>
              <a:t>What the data shows</a:t>
            </a:r>
            <a:endParaRPr lang="en-US" sz="1800"/>
          </a:p>
          <a:p>
            <a:r>
              <a:rPr lang="en-US" sz="1800"/>
              <a:t>Economic activity spikes sharply during the December peak period.</a:t>
            </a:r>
          </a:p>
          <a:p>
            <a:r>
              <a:rPr lang="en-US" sz="1800"/>
              <a:t>A substantial share of annual tourism-related revenue is generated within a narrow time window.</a:t>
            </a:r>
          </a:p>
          <a:p>
            <a:r>
              <a:rPr lang="en-US" sz="1800" b="1"/>
              <a:t>What this means</a:t>
            </a:r>
            <a:endParaRPr lang="en-US" sz="1800"/>
          </a:p>
          <a:p>
            <a:r>
              <a:rPr lang="en-US" sz="1800"/>
              <a:t>Detty December is economically valuable, but its benefits are </a:t>
            </a:r>
            <a:r>
              <a:rPr lang="en-US" sz="1800" b="1"/>
              <a:t>highly time-bound</a:t>
            </a:r>
            <a:r>
              <a:rPr lang="en-US" sz="1800"/>
              <a:t>.</a:t>
            </a:r>
          </a:p>
          <a:p>
            <a:r>
              <a:rPr lang="en-US" sz="1800"/>
              <a:t>Revenue inflows are concentrated over weeks, not spread evenly across the year.</a:t>
            </a:r>
          </a:p>
          <a:p>
            <a:r>
              <a:rPr lang="en-US" sz="1800" b="1"/>
              <a:t>Policy implication</a:t>
            </a:r>
            <a:endParaRPr lang="en-US" sz="1800"/>
          </a:p>
          <a:p>
            <a:r>
              <a:rPr lang="en-US" sz="1800"/>
              <a:t>Lagos State should treat Detty December as a </a:t>
            </a:r>
            <a:r>
              <a:rPr lang="en-US" sz="1800" b="1"/>
              <a:t>seasonal economic event</a:t>
            </a:r>
            <a:r>
              <a:rPr lang="en-US" sz="1800"/>
              <a:t>, not a continuous revenue stream.</a:t>
            </a:r>
          </a:p>
          <a:p>
            <a:r>
              <a:rPr lang="en-US" sz="1800"/>
              <a:t>Budgeting, infrastructure provisioning, and emergency planning must reflect this temporal concentration.</a:t>
            </a:r>
          </a:p>
        </p:txBody>
      </p:sp>
    </p:spTree>
    <p:extLst>
      <p:ext uri="{BB962C8B-B14F-4D97-AF65-F5344CB8AC3E}">
        <p14:creationId xmlns:p14="http://schemas.microsoft.com/office/powerpoint/2010/main" val="21982033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2C49DA-761C-5D43-D847-9783DCF10888}"/>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B41D54-912B-3847-364D-AC44F5275A6A}"/>
              </a:ext>
            </a:extLst>
          </p:cNvPr>
          <p:cNvSpPr>
            <a:spLocks noGrp="1"/>
          </p:cNvSpPr>
          <p:nvPr>
            <p:ph type="title"/>
          </p:nvPr>
        </p:nvSpPr>
        <p:spPr>
          <a:xfrm>
            <a:off x="686834" y="1153572"/>
            <a:ext cx="3200400" cy="4461163"/>
          </a:xfrm>
        </p:spPr>
        <p:txBody>
          <a:bodyPr>
            <a:normAutofit/>
          </a:bodyPr>
          <a:lstStyle/>
          <a:p>
            <a:r>
              <a:rPr lang="en-CA" dirty="0">
                <a:solidFill>
                  <a:srgbClr val="FFFFFF"/>
                </a:solidFill>
              </a:rPr>
              <a:t>KEY INSIGHTS</a:t>
            </a:r>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D0173E7-DEF0-76D0-8200-207565E136AA}"/>
              </a:ext>
            </a:extLst>
          </p:cNvPr>
          <p:cNvSpPr>
            <a:spLocks noGrp="1"/>
          </p:cNvSpPr>
          <p:nvPr>
            <p:ph idx="1"/>
          </p:nvPr>
        </p:nvSpPr>
        <p:spPr>
          <a:xfrm>
            <a:off x="4447308" y="591344"/>
            <a:ext cx="6906491" cy="5585619"/>
          </a:xfrm>
        </p:spPr>
        <p:txBody>
          <a:bodyPr anchor="ctr">
            <a:normAutofit/>
          </a:bodyPr>
          <a:lstStyle/>
          <a:p>
            <a:r>
              <a:rPr lang="en-US" sz="1000" b="1"/>
              <a:t>INSIGHT 2 — Economic Benefits Are Concentrated in a Few Sectors</a:t>
            </a:r>
          </a:p>
          <a:p>
            <a:r>
              <a:rPr lang="en-US" sz="1000" b="1"/>
              <a:t>(BQ2: Sector contribution)</a:t>
            </a:r>
            <a:endParaRPr lang="en-US" sz="1000"/>
          </a:p>
          <a:p>
            <a:r>
              <a:rPr lang="en-US" sz="1000" b="1"/>
              <a:t>What the data shows</a:t>
            </a:r>
            <a:endParaRPr lang="en-US" sz="1000"/>
          </a:p>
          <a:p>
            <a:r>
              <a:rPr lang="en-US" sz="1000"/>
              <a:t>Hospitality (hotels and short-stay accommodation) captures the largest share of revenue.</a:t>
            </a:r>
          </a:p>
          <a:p>
            <a:r>
              <a:rPr lang="en-US" sz="1000"/>
              <a:t>Events &amp; entertainment follow closely.</a:t>
            </a:r>
          </a:p>
          <a:p>
            <a:r>
              <a:rPr lang="en-US" sz="1000"/>
              <a:t>Aviation contributes indirectly, serving as a proxy for inbound visitor demand.</a:t>
            </a:r>
          </a:p>
          <a:p>
            <a:r>
              <a:rPr lang="en-US" sz="1000" b="1"/>
              <a:t>What this means</a:t>
            </a:r>
            <a:endParaRPr lang="en-US" sz="1000"/>
          </a:p>
          <a:p>
            <a:r>
              <a:rPr lang="en-US" sz="1000"/>
              <a:t>Economic gains are </a:t>
            </a:r>
            <a:r>
              <a:rPr lang="en-US" sz="1000" b="1"/>
              <a:t>not evenly distributed</a:t>
            </a:r>
            <a:r>
              <a:rPr lang="en-US" sz="1000"/>
              <a:t> across sectors.</a:t>
            </a:r>
          </a:p>
          <a:p>
            <a:r>
              <a:rPr lang="en-US" sz="1000"/>
              <a:t>A small number of industries benefit disproportionately from Detty December.</a:t>
            </a:r>
          </a:p>
          <a:p>
            <a:r>
              <a:rPr lang="en-US" sz="1000" b="1"/>
              <a:t>Policy implication</a:t>
            </a:r>
            <a:endParaRPr lang="en-US" sz="1000"/>
          </a:p>
          <a:p>
            <a:r>
              <a:rPr lang="en-US" sz="1000"/>
              <a:t>Sector-specific mechanisms (e.g., seasonal levies, tourism charges, or public-private partnerships) could be used to:</a:t>
            </a:r>
          </a:p>
          <a:p>
            <a:pPr lvl="1"/>
            <a:r>
              <a:rPr lang="en-US" sz="1000"/>
              <a:t>Reinvest peak-season gains into public services</a:t>
            </a:r>
          </a:p>
          <a:p>
            <a:pPr lvl="1"/>
            <a:r>
              <a:rPr lang="en-US" sz="1000"/>
              <a:t>Offset the strain placed on roads, healthcare, and emergency response systems</a:t>
            </a:r>
          </a:p>
          <a:p>
            <a:r>
              <a:rPr lang="en-US" sz="1000"/>
              <a:t>This supports </a:t>
            </a:r>
            <a:r>
              <a:rPr lang="en-US" sz="1000" b="1"/>
              <a:t>equitable cost-sharing</a:t>
            </a:r>
            <a:r>
              <a:rPr lang="en-US" sz="1000"/>
              <a:t> between beneficiaries and the public sector.</a:t>
            </a:r>
          </a:p>
        </p:txBody>
      </p:sp>
    </p:spTree>
    <p:extLst>
      <p:ext uri="{BB962C8B-B14F-4D97-AF65-F5344CB8AC3E}">
        <p14:creationId xmlns:p14="http://schemas.microsoft.com/office/powerpoint/2010/main" val="20296299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32F013-980E-2CFC-DB16-8EDE09900137}"/>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14C276-EF22-E7D1-5E0D-3901C9DFEDD2}"/>
              </a:ext>
            </a:extLst>
          </p:cNvPr>
          <p:cNvSpPr>
            <a:spLocks noGrp="1"/>
          </p:cNvSpPr>
          <p:nvPr>
            <p:ph type="title"/>
          </p:nvPr>
        </p:nvSpPr>
        <p:spPr>
          <a:xfrm>
            <a:off x="686834" y="1153572"/>
            <a:ext cx="3200400" cy="4461163"/>
          </a:xfrm>
        </p:spPr>
        <p:txBody>
          <a:bodyPr>
            <a:normAutofit/>
          </a:bodyPr>
          <a:lstStyle/>
          <a:p>
            <a:r>
              <a:rPr lang="en-CA" dirty="0">
                <a:solidFill>
                  <a:srgbClr val="FFFFFF"/>
                </a:solidFill>
              </a:rPr>
              <a:t>KEY INSIGHTS</a:t>
            </a:r>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A51DCBA-C929-DF15-3084-2F228CF69774}"/>
              </a:ext>
            </a:extLst>
          </p:cNvPr>
          <p:cNvSpPr>
            <a:spLocks noGrp="1"/>
          </p:cNvSpPr>
          <p:nvPr>
            <p:ph idx="1"/>
          </p:nvPr>
        </p:nvSpPr>
        <p:spPr>
          <a:xfrm>
            <a:off x="4447308" y="591344"/>
            <a:ext cx="6906491" cy="5585619"/>
          </a:xfrm>
        </p:spPr>
        <p:txBody>
          <a:bodyPr anchor="ctr">
            <a:normAutofit/>
          </a:bodyPr>
          <a:lstStyle/>
          <a:p>
            <a:r>
              <a:rPr lang="en-US" sz="1000" b="1"/>
              <a:t>INSIGHT 3 — December Revenue Is Highly Concentrated Relative to Off-Peak Periods</a:t>
            </a:r>
          </a:p>
          <a:p>
            <a:r>
              <a:rPr lang="en-US" sz="1000" b="1"/>
              <a:t>(BQ3: Concentration of economic activity)</a:t>
            </a:r>
            <a:endParaRPr lang="en-US" sz="1000"/>
          </a:p>
          <a:p>
            <a:r>
              <a:rPr lang="en-US" sz="1000" b="1"/>
              <a:t>What the data shows</a:t>
            </a:r>
            <a:endParaRPr lang="en-US" sz="1000"/>
          </a:p>
          <a:p>
            <a:r>
              <a:rPr lang="en-US" sz="1000"/>
              <a:t>Peak-season (December) revenue significantly exceeds off-peak revenue.</a:t>
            </a:r>
          </a:p>
          <a:p>
            <a:r>
              <a:rPr lang="en-US" sz="1000"/>
              <a:t>The peak-to-off-peak ratio confirms </a:t>
            </a:r>
            <a:r>
              <a:rPr lang="en-US" sz="1000" b="1"/>
              <a:t>strong seasonality</a:t>
            </a:r>
            <a:r>
              <a:rPr lang="en-US" sz="1000"/>
              <a:t> in economic activity.</a:t>
            </a:r>
          </a:p>
          <a:p>
            <a:r>
              <a:rPr lang="en-US" sz="1000" b="1"/>
              <a:t>What this means</a:t>
            </a:r>
            <a:endParaRPr lang="en-US" sz="1000"/>
          </a:p>
          <a:p>
            <a:r>
              <a:rPr lang="en-US" sz="1000"/>
              <a:t>Lagos experiences an </a:t>
            </a:r>
            <a:r>
              <a:rPr lang="en-US" sz="1000" b="1"/>
              <a:t>economic intensity shock</a:t>
            </a:r>
            <a:r>
              <a:rPr lang="en-US" sz="1000"/>
              <a:t> during December.</a:t>
            </a:r>
          </a:p>
          <a:p>
            <a:r>
              <a:rPr lang="en-US" sz="1000"/>
              <a:t>Infrastructure and services designed for average demand are temporarily overwhelmed.</a:t>
            </a:r>
          </a:p>
          <a:p>
            <a:r>
              <a:rPr lang="en-US" sz="1000" b="1"/>
              <a:t>Policy implication</a:t>
            </a:r>
            <a:endParaRPr lang="en-US" sz="1000"/>
          </a:p>
          <a:p>
            <a:r>
              <a:rPr lang="en-US" sz="1000"/>
              <a:t>Static, year-round infrastructure planning is insufficient.</a:t>
            </a:r>
          </a:p>
          <a:p>
            <a:r>
              <a:rPr lang="en-US" sz="1000"/>
              <a:t>Seasonal scaling is required for:</a:t>
            </a:r>
          </a:p>
          <a:p>
            <a:pPr lvl="1"/>
            <a:r>
              <a:rPr lang="en-US" sz="1000"/>
              <a:t>Traffic management</a:t>
            </a:r>
          </a:p>
          <a:p>
            <a:pPr lvl="1"/>
            <a:r>
              <a:rPr lang="en-US" sz="1000"/>
              <a:t>Emergency medical services</a:t>
            </a:r>
          </a:p>
          <a:p>
            <a:pPr lvl="1"/>
            <a:r>
              <a:rPr lang="en-US" sz="1000"/>
              <a:t>Crowd control and public safety operations</a:t>
            </a:r>
          </a:p>
        </p:txBody>
      </p:sp>
    </p:spTree>
    <p:extLst>
      <p:ext uri="{BB962C8B-B14F-4D97-AF65-F5344CB8AC3E}">
        <p14:creationId xmlns:p14="http://schemas.microsoft.com/office/powerpoint/2010/main" val="1489988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697842-3EF3-3C0D-B897-7D9E4821B569}"/>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00B411-77A0-A462-8037-CE5B60B4012F}"/>
              </a:ext>
            </a:extLst>
          </p:cNvPr>
          <p:cNvSpPr>
            <a:spLocks noGrp="1"/>
          </p:cNvSpPr>
          <p:nvPr>
            <p:ph type="title"/>
          </p:nvPr>
        </p:nvSpPr>
        <p:spPr>
          <a:xfrm>
            <a:off x="686834" y="1153572"/>
            <a:ext cx="3200400" cy="4461163"/>
          </a:xfrm>
        </p:spPr>
        <p:txBody>
          <a:bodyPr>
            <a:normAutofit/>
          </a:bodyPr>
          <a:lstStyle/>
          <a:p>
            <a:r>
              <a:rPr lang="en-CA" dirty="0">
                <a:solidFill>
                  <a:srgbClr val="FFFFFF"/>
                </a:solidFill>
              </a:rPr>
              <a:t>KEY INSIGHTS</a:t>
            </a:r>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DAEF12B-CBAD-4849-89DA-283BE3830FC9}"/>
              </a:ext>
            </a:extLst>
          </p:cNvPr>
          <p:cNvSpPr>
            <a:spLocks noGrp="1"/>
          </p:cNvSpPr>
          <p:nvPr>
            <p:ph idx="1"/>
          </p:nvPr>
        </p:nvSpPr>
        <p:spPr>
          <a:xfrm>
            <a:off x="4447308" y="591344"/>
            <a:ext cx="6906491" cy="5585619"/>
          </a:xfrm>
        </p:spPr>
        <p:txBody>
          <a:bodyPr anchor="ctr">
            <a:normAutofit/>
          </a:bodyPr>
          <a:lstStyle/>
          <a:p>
            <a:r>
              <a:rPr lang="en-US" sz="1000" b="1"/>
              <a:t>INSIGHT 4 — Economic Gains Are Accompanied by Elevated Public Safety Risk</a:t>
            </a:r>
          </a:p>
          <a:p>
            <a:r>
              <a:rPr lang="en-US" sz="1000" b="1"/>
              <a:t>(Cross-cutting insight: economics + transport safety)</a:t>
            </a:r>
            <a:endParaRPr lang="en-US" sz="1000"/>
          </a:p>
          <a:p>
            <a:r>
              <a:rPr lang="en-US" sz="1000" b="1"/>
              <a:t>What the data suggests when combined with real-world context</a:t>
            </a:r>
            <a:endParaRPr lang="en-US" sz="1000"/>
          </a:p>
          <a:p>
            <a:r>
              <a:rPr lang="en-US" sz="1000"/>
              <a:t>Increased visitor volumes coincide with:</a:t>
            </a:r>
          </a:p>
          <a:p>
            <a:pPr lvl="1"/>
            <a:r>
              <a:rPr lang="en-US" sz="1000"/>
              <a:t>Road congestion</a:t>
            </a:r>
          </a:p>
          <a:p>
            <a:pPr lvl="1"/>
            <a:r>
              <a:rPr lang="en-US" sz="1000"/>
              <a:t>Higher accident risk</a:t>
            </a:r>
          </a:p>
          <a:p>
            <a:pPr lvl="1"/>
            <a:r>
              <a:rPr lang="en-US" sz="1000"/>
              <a:t>Slower emergency response times (as evidenced by recent incidents)</a:t>
            </a:r>
          </a:p>
          <a:p>
            <a:r>
              <a:rPr lang="en-US" sz="1000" b="1"/>
              <a:t>What this means</a:t>
            </a:r>
            <a:endParaRPr lang="en-US" sz="1000"/>
          </a:p>
          <a:p>
            <a:r>
              <a:rPr lang="en-US" sz="1000"/>
              <a:t>Economic success without corresponding operational scaling increases the risk of </a:t>
            </a:r>
            <a:r>
              <a:rPr lang="en-US" sz="1000" b="1"/>
              <a:t>preventable loss of life</a:t>
            </a:r>
            <a:r>
              <a:rPr lang="en-US" sz="1000"/>
              <a:t>.</a:t>
            </a:r>
          </a:p>
          <a:p>
            <a:r>
              <a:rPr lang="en-US" sz="1000"/>
              <a:t>The cost of inaction is borne by residents and visitors, not revenue-generating sectors.</a:t>
            </a:r>
          </a:p>
          <a:p>
            <a:r>
              <a:rPr lang="en-US" sz="1000" b="1"/>
              <a:t>Policy implication</a:t>
            </a:r>
            <a:endParaRPr lang="en-US" sz="1000"/>
          </a:p>
          <a:p>
            <a:r>
              <a:rPr lang="en-US" sz="1000"/>
              <a:t>Lagos State should implement </a:t>
            </a:r>
            <a:r>
              <a:rPr lang="en-US" sz="1000" b="1"/>
              <a:t>peak-season emergency protocols</a:t>
            </a:r>
            <a:r>
              <a:rPr lang="en-US" sz="1000"/>
              <a:t>, including:</a:t>
            </a:r>
          </a:p>
          <a:p>
            <a:pPr lvl="1"/>
            <a:r>
              <a:rPr lang="en-US" sz="1000"/>
              <a:t>Temporary ambulance deployment</a:t>
            </a:r>
          </a:p>
          <a:p>
            <a:pPr lvl="1"/>
            <a:r>
              <a:rPr lang="en-US" sz="1000"/>
              <a:t>Dedicated emergency lanes during major events</a:t>
            </a:r>
          </a:p>
          <a:p>
            <a:pPr lvl="1"/>
            <a:r>
              <a:rPr lang="en-US" sz="1000"/>
              <a:t>Data-driven traffic and crowd monitoring dashboards</a:t>
            </a:r>
          </a:p>
        </p:txBody>
      </p:sp>
    </p:spTree>
    <p:extLst>
      <p:ext uri="{BB962C8B-B14F-4D97-AF65-F5344CB8AC3E}">
        <p14:creationId xmlns:p14="http://schemas.microsoft.com/office/powerpoint/2010/main" val="18422166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ED832B-0BA4-FEDF-ECAE-65E14AC6C8DE}"/>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963E22-EB38-19A8-6AF2-0D336E686F4E}"/>
              </a:ext>
            </a:extLst>
          </p:cNvPr>
          <p:cNvSpPr>
            <a:spLocks noGrp="1"/>
          </p:cNvSpPr>
          <p:nvPr>
            <p:ph type="title"/>
          </p:nvPr>
        </p:nvSpPr>
        <p:spPr>
          <a:xfrm>
            <a:off x="686834" y="1153572"/>
            <a:ext cx="3200400" cy="4461163"/>
          </a:xfrm>
        </p:spPr>
        <p:txBody>
          <a:bodyPr>
            <a:normAutofit/>
          </a:bodyPr>
          <a:lstStyle/>
          <a:p>
            <a:r>
              <a:rPr lang="en-CA" dirty="0">
                <a:solidFill>
                  <a:srgbClr val="FFFFFF"/>
                </a:solidFill>
              </a:rPr>
              <a:t>KEY INSIGHTS</a:t>
            </a:r>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54129E3-E772-AE64-6423-302A9E28D97E}"/>
              </a:ext>
            </a:extLst>
          </p:cNvPr>
          <p:cNvSpPr>
            <a:spLocks noGrp="1"/>
          </p:cNvSpPr>
          <p:nvPr>
            <p:ph idx="1"/>
          </p:nvPr>
        </p:nvSpPr>
        <p:spPr>
          <a:xfrm>
            <a:off x="4447308" y="591344"/>
            <a:ext cx="6906491" cy="5585619"/>
          </a:xfrm>
        </p:spPr>
        <p:txBody>
          <a:bodyPr anchor="ctr">
            <a:normAutofit/>
          </a:bodyPr>
          <a:lstStyle/>
          <a:p>
            <a:r>
              <a:rPr lang="en-US" sz="1100" b="1"/>
              <a:t>INSIGHT 5 — Detty December Is Predictable, Making Proactive Planning Feasible</a:t>
            </a:r>
          </a:p>
          <a:p>
            <a:r>
              <a:rPr lang="en-US" sz="1100" b="1"/>
              <a:t>(Strategic insight)</a:t>
            </a:r>
            <a:endParaRPr lang="en-US" sz="1100"/>
          </a:p>
          <a:p>
            <a:r>
              <a:rPr lang="en-US" sz="1100" b="1"/>
              <a:t>What the data shows</a:t>
            </a:r>
            <a:endParaRPr lang="en-US" sz="1100"/>
          </a:p>
          <a:p>
            <a:r>
              <a:rPr lang="en-US" sz="1100"/>
              <a:t>Seasonal patterns repeat consistently.</a:t>
            </a:r>
          </a:p>
          <a:p>
            <a:r>
              <a:rPr lang="en-US" sz="1100"/>
              <a:t>Visitor and revenue surges are not random.</a:t>
            </a:r>
          </a:p>
          <a:p>
            <a:r>
              <a:rPr lang="en-US" sz="1100" b="1"/>
              <a:t>What this means</a:t>
            </a:r>
            <a:endParaRPr lang="en-US" sz="1100"/>
          </a:p>
          <a:p>
            <a:r>
              <a:rPr lang="en-US" sz="1100"/>
              <a:t>The risks associated with Detty December are </a:t>
            </a:r>
            <a:r>
              <a:rPr lang="en-US" sz="1100" b="1"/>
              <a:t>foreseeable</a:t>
            </a:r>
            <a:r>
              <a:rPr lang="en-US" sz="1100"/>
              <a:t>, not unavoidable.</a:t>
            </a:r>
          </a:p>
          <a:p>
            <a:r>
              <a:rPr lang="en-US" sz="1100"/>
              <a:t>Data-driven planning can reduce harm </a:t>
            </a:r>
            <a:r>
              <a:rPr lang="en-US" sz="1100" b="1"/>
              <a:t>without reducing economic benefits</a:t>
            </a:r>
            <a:r>
              <a:rPr lang="en-US" sz="1100"/>
              <a:t>.</a:t>
            </a:r>
          </a:p>
          <a:p>
            <a:r>
              <a:rPr lang="en-US" sz="1100" b="1"/>
              <a:t>Policy implication</a:t>
            </a:r>
            <a:endParaRPr lang="en-US" sz="1100"/>
          </a:p>
          <a:p>
            <a:r>
              <a:rPr lang="en-US" sz="1100"/>
              <a:t>Establish a </a:t>
            </a:r>
            <a:r>
              <a:rPr lang="en-US" sz="1100" b="1"/>
              <a:t>Detty December Operations Framework</a:t>
            </a:r>
            <a:r>
              <a:rPr lang="en-US" sz="1100"/>
              <a:t>:</a:t>
            </a:r>
          </a:p>
          <a:p>
            <a:pPr lvl="1"/>
            <a:r>
              <a:rPr lang="en-US" sz="1100"/>
              <a:t>Seasonal budgeting</a:t>
            </a:r>
          </a:p>
          <a:p>
            <a:pPr lvl="1"/>
            <a:r>
              <a:rPr lang="en-US" sz="1100"/>
              <a:t>Inter-agency coordination (transport, health, emergency services)</a:t>
            </a:r>
          </a:p>
          <a:p>
            <a:pPr lvl="1"/>
            <a:r>
              <a:rPr lang="en-US" sz="1100"/>
              <a:t>Real-time monitoring during peak weeks</a:t>
            </a:r>
          </a:p>
        </p:txBody>
      </p:sp>
    </p:spTree>
    <p:extLst>
      <p:ext uri="{BB962C8B-B14F-4D97-AF65-F5344CB8AC3E}">
        <p14:creationId xmlns:p14="http://schemas.microsoft.com/office/powerpoint/2010/main" val="6878645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838200" y="365125"/>
            <a:ext cx="10515600" cy="1325563"/>
          </a:xfrm>
        </p:spPr>
        <p:txBody>
          <a:bodyPr>
            <a:normAutofit/>
          </a:bodyPr>
          <a:lstStyle/>
          <a:p>
            <a:r>
              <a:rPr lang="en-CA"/>
              <a:t>Key Takeaways for Decision-Makers</a:t>
            </a:r>
          </a:p>
        </p:txBody>
      </p:sp>
      <p:sp>
        <p:nvSpPr>
          <p:cNvPr id="29" name="Arc 2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Rectangle 2">
            <a:extLst>
              <a:ext uri="{FF2B5EF4-FFF2-40B4-BE49-F238E27FC236}">
                <a16:creationId xmlns:a16="http://schemas.microsoft.com/office/drawing/2014/main" id="{91426D9E-3840-2C0C-7BA7-48251D2A1658}"/>
              </a:ext>
            </a:extLst>
          </p:cNvPr>
          <p:cNvSpPr>
            <a:spLocks noGrp="1" noChangeArrowheads="1"/>
          </p:cNvSpPr>
          <p:nvPr>
            <p:ph idx="1"/>
          </p:nvPr>
        </p:nvSpPr>
        <p:spPr bwMode="auto">
          <a:xfrm>
            <a:off x="838200" y="1825625"/>
            <a:ext cx="10515600" cy="435133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a:ln>
                  <a:noFill/>
                </a:ln>
                <a:effectLst/>
                <a:latin typeface="Arial" panose="020B0604020202020204" pitchFamily="34" charset="0"/>
              </a:rPr>
              <a:t>Detty December delivers high economic returns within a short time window.</a:t>
            </a:r>
            <a:br>
              <a:rPr kumimoji="0" lang="en-US" altLang="en-US" sz="1500" b="0" i="0" u="none" strike="noStrike" cap="none" normalizeH="0" baseline="0">
                <a:ln>
                  <a:noFill/>
                </a:ln>
                <a:effectLst/>
                <a:latin typeface="Arial" panose="020B0604020202020204" pitchFamily="34" charset="0"/>
              </a:rPr>
            </a:br>
            <a:r>
              <a:rPr kumimoji="0" lang="en-US" altLang="en-US" sz="1500" b="0" i="0" u="none" strike="noStrike" cap="none" normalizeH="0" baseline="0">
                <a:ln>
                  <a:noFill/>
                </a:ln>
                <a:effectLst/>
                <a:latin typeface="Arial" panose="020B0604020202020204" pitchFamily="34" charset="0"/>
              </a:rPr>
              <a:t>A substantial share of tourism-related revenue is generated during December, particularly within hospitality,</a:t>
            </a:r>
          </a:p>
          <a:p>
            <a:pPr marL="0" marR="0" lvl="0" indent="0" defTabSz="914400" rtl="0" eaLnBrk="0" fontAlgn="base" latinLnBrk="0" hangingPunct="0">
              <a:spcBef>
                <a:spcPct val="0"/>
              </a:spcBef>
              <a:spcAft>
                <a:spcPts val="600"/>
              </a:spcAft>
              <a:buClrTx/>
              <a:buSzTx/>
              <a:buNone/>
              <a:tabLst/>
            </a:pPr>
            <a:r>
              <a:rPr kumimoji="0" lang="en-US" altLang="en-US" sz="1500" b="0" i="0" u="none" strike="noStrike" cap="none" normalizeH="0" baseline="0">
                <a:ln>
                  <a:noFill/>
                </a:ln>
                <a:effectLst/>
                <a:latin typeface="Arial" panose="020B0604020202020204" pitchFamily="34" charset="0"/>
              </a:rPr>
              <a:t> entertainment, and aviation-linked sectors. </a:t>
            </a:r>
          </a:p>
          <a:p>
            <a:pPr marL="0" marR="0" lvl="0" indent="0" defTabSz="914400" rtl="0" eaLnBrk="0" fontAlgn="base" latinLnBrk="0" hangingPunct="0">
              <a:spcBef>
                <a:spcPct val="0"/>
              </a:spcBef>
              <a:spcAft>
                <a:spcPts val="600"/>
              </a:spcAft>
              <a:buClrTx/>
              <a:buSzTx/>
              <a:buNone/>
              <a:tabLst/>
            </a:pPr>
            <a:r>
              <a:rPr kumimoji="0" lang="en-US" altLang="en-US" sz="1500" b="0" i="0" u="none" strike="noStrike" cap="none" normalizeH="0" baseline="0">
                <a:ln>
                  <a:noFill/>
                </a:ln>
                <a:effectLst/>
                <a:latin typeface="Arial" panose="020B0604020202020204" pitchFamily="34" charset="0"/>
              </a:rPr>
              <a:t>This concentration makes Detty December economically valuable but operationally intense.</a:t>
            </a: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a:ln>
                  <a:noFill/>
                </a:ln>
                <a:effectLst/>
                <a:latin typeface="Arial" panose="020B0604020202020204" pitchFamily="34" charset="0"/>
              </a:rPr>
              <a:t>Seasonal economic gains create predictable pressure on transport and emergency systems.</a:t>
            </a:r>
            <a:br>
              <a:rPr kumimoji="0" lang="en-US" altLang="en-US" sz="1500" b="0" i="0" u="none" strike="noStrike" cap="none" normalizeH="0" baseline="0">
                <a:ln>
                  <a:noFill/>
                </a:ln>
                <a:effectLst/>
                <a:latin typeface="Arial" panose="020B0604020202020204" pitchFamily="34" charset="0"/>
              </a:rPr>
            </a:br>
            <a:r>
              <a:rPr kumimoji="0" lang="en-US" altLang="en-US" sz="1500" b="0" i="0" u="none" strike="noStrike" cap="none" normalizeH="0" baseline="0">
                <a:ln>
                  <a:noFill/>
                </a:ln>
                <a:effectLst/>
                <a:latin typeface="Arial" panose="020B0604020202020204" pitchFamily="34" charset="0"/>
              </a:rPr>
              <a:t>The surge in visitors and road usage during peak periods places strain on infrastructure and emergency </a:t>
            </a:r>
          </a:p>
          <a:p>
            <a:pPr marL="0" marR="0" lvl="0" indent="0" defTabSz="914400" rtl="0" eaLnBrk="0" fontAlgn="base" latinLnBrk="0" hangingPunct="0">
              <a:spcBef>
                <a:spcPct val="0"/>
              </a:spcBef>
              <a:spcAft>
                <a:spcPts val="600"/>
              </a:spcAft>
              <a:buClrTx/>
              <a:buSzTx/>
              <a:buNone/>
              <a:tabLst/>
            </a:pPr>
            <a:r>
              <a:rPr kumimoji="0" lang="en-US" altLang="en-US" sz="1500" b="0" i="0" u="none" strike="noStrike" cap="none" normalizeH="0" baseline="0">
                <a:ln>
                  <a:noFill/>
                </a:ln>
                <a:effectLst/>
                <a:latin typeface="Arial" panose="020B0604020202020204" pitchFamily="34" charset="0"/>
              </a:rPr>
              <a:t>response capacity, increasing the risk of delayed medical response and preventable road-related incidents</a:t>
            </a:r>
          </a:p>
          <a:p>
            <a:pPr marL="0" marR="0" lvl="0" indent="0" defTabSz="914400" rtl="0" eaLnBrk="0" fontAlgn="base" latinLnBrk="0" hangingPunct="0">
              <a:spcBef>
                <a:spcPct val="0"/>
              </a:spcBef>
              <a:spcAft>
                <a:spcPts val="600"/>
              </a:spcAft>
              <a:buClrTx/>
              <a:buSzTx/>
              <a:buNone/>
              <a:tabLst/>
            </a:pPr>
            <a:r>
              <a:rPr kumimoji="0" lang="en-US" altLang="en-US" sz="1500" b="0" i="0" u="none" strike="noStrike" cap="none" normalizeH="0" baseline="0">
                <a:ln>
                  <a:noFill/>
                </a:ln>
                <a:effectLst/>
                <a:latin typeface="Arial" panose="020B0604020202020204" pitchFamily="34" charset="0"/>
              </a:rPr>
              <a:t> if services are not scaled accordingly.</a:t>
            </a: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a:ln>
                  <a:noFill/>
                </a:ln>
                <a:effectLst/>
                <a:latin typeface="Arial" panose="020B0604020202020204" pitchFamily="34" charset="0"/>
              </a:rPr>
              <a:t>Proactive, seasonal planning can preserve economic benefits while reducing public safety risk.</a:t>
            </a:r>
            <a:br>
              <a:rPr kumimoji="0" lang="en-US" altLang="en-US" sz="1500" b="0" i="0" u="none" strike="noStrike" cap="none" normalizeH="0" baseline="0">
                <a:ln>
                  <a:noFill/>
                </a:ln>
                <a:effectLst/>
                <a:latin typeface="Arial" panose="020B0604020202020204" pitchFamily="34" charset="0"/>
              </a:rPr>
            </a:br>
            <a:r>
              <a:rPr kumimoji="0" lang="en-US" altLang="en-US" sz="1500" b="0" i="0" u="none" strike="noStrike" cap="none" normalizeH="0" baseline="0">
                <a:ln>
                  <a:noFill/>
                </a:ln>
                <a:effectLst/>
                <a:latin typeface="Arial" panose="020B0604020202020204" pitchFamily="34" charset="0"/>
              </a:rPr>
              <a:t>Because peak periods are predictable, Lagos State can mitigate risk through temporary, data-driven</a:t>
            </a:r>
          </a:p>
          <a:p>
            <a:pPr marL="0" marR="0" lvl="0" indent="0" defTabSz="914400" rtl="0" eaLnBrk="0" fontAlgn="base" latinLnBrk="0" hangingPunct="0">
              <a:spcBef>
                <a:spcPct val="0"/>
              </a:spcBef>
              <a:spcAft>
                <a:spcPts val="600"/>
              </a:spcAft>
              <a:buClrTx/>
              <a:buSzTx/>
              <a:buNone/>
              <a:tabLst/>
            </a:pPr>
            <a:r>
              <a:rPr kumimoji="0" lang="en-US" altLang="en-US" sz="1500" b="0" i="0" u="none" strike="noStrike" cap="none" normalizeH="0" baseline="0">
                <a:ln>
                  <a:noFill/>
                </a:ln>
                <a:effectLst/>
                <a:latin typeface="Arial" panose="020B0604020202020204" pitchFamily="34" charset="0"/>
              </a:rPr>
              <a:t> interventions such as peak-season ambulance deployment, traffic management adjustments,</a:t>
            </a:r>
          </a:p>
          <a:p>
            <a:pPr marL="0" marR="0" lvl="0" indent="0" defTabSz="914400" rtl="0" eaLnBrk="0" fontAlgn="base" latinLnBrk="0" hangingPunct="0">
              <a:spcBef>
                <a:spcPct val="0"/>
              </a:spcBef>
              <a:spcAft>
                <a:spcPts val="600"/>
              </a:spcAft>
              <a:buClrTx/>
              <a:buSzTx/>
              <a:buNone/>
              <a:tabLst/>
            </a:pPr>
            <a:r>
              <a:rPr kumimoji="0" lang="en-US" altLang="en-US" sz="1500" b="0" i="0" u="none" strike="noStrike" cap="none" normalizeH="0" baseline="0">
                <a:ln>
                  <a:noFill/>
                </a:ln>
                <a:effectLst/>
                <a:latin typeface="Arial" panose="020B0604020202020204" pitchFamily="34" charset="0"/>
              </a:rPr>
              <a:t>and inter-agency coordination without compromising economic activity.</a:t>
            </a:r>
          </a:p>
        </p:txBody>
      </p:sp>
    </p:spTree>
    <p:extLst>
      <p:ext uri="{BB962C8B-B14F-4D97-AF65-F5344CB8AC3E}">
        <p14:creationId xmlns:p14="http://schemas.microsoft.com/office/powerpoint/2010/main" val="3519695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DATA 410 - Assignment 7 - Final Presentation </Template>
  <TotalTime>4138</TotalTime>
  <Words>3253</Words>
  <Application>Microsoft Office PowerPoint</Application>
  <PresentationFormat>Widescreen</PresentationFormat>
  <Paragraphs>415</Paragraphs>
  <Slides>30</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Open Sans</vt:lpstr>
      <vt:lpstr>Office Theme</vt:lpstr>
      <vt:lpstr>Title Detty December: Economic Impact and Public Safety Implications in Lagos    Subtitle Assessing seasonal economic gains, visitor pressure, and infrastructure risk during peak tourism periods.  </vt:lpstr>
      <vt:lpstr>1 –  Business Understanding –High Level</vt:lpstr>
      <vt:lpstr>Case Study</vt:lpstr>
      <vt:lpstr>Introduction </vt:lpstr>
      <vt:lpstr>5W 1H Analysis 1 – Who</vt:lpstr>
      <vt:lpstr>5W 1H Analysis 2 – What</vt:lpstr>
      <vt:lpstr>5W 1H Analysis 3 –When</vt:lpstr>
      <vt:lpstr>5W 1H Analysis 4 – Where</vt:lpstr>
      <vt:lpstr>5W 1H Analysis 5 – Why</vt:lpstr>
      <vt:lpstr>5W 1H Analysis 6 – How</vt:lpstr>
      <vt:lpstr>2 –  Data Understanding – High Level</vt:lpstr>
      <vt:lpstr>Data Modeling – Conceptual model</vt:lpstr>
      <vt:lpstr>Data Dictionary</vt:lpstr>
      <vt:lpstr>1 (Revisited) –  Business Understanding – Low Level</vt:lpstr>
      <vt:lpstr>Business Questions</vt:lpstr>
      <vt:lpstr>2 (Revisited) –  Data Understanding –  Low Level</vt:lpstr>
      <vt:lpstr>Dedicated “Data Sources” </vt:lpstr>
      <vt:lpstr>Database Diagram – Tables and Columns</vt:lpstr>
      <vt:lpstr>3 –  Data Preparation</vt:lpstr>
      <vt:lpstr>Data Preparation – Data cleansing</vt:lpstr>
      <vt:lpstr>SECTOR</vt:lpstr>
      <vt:lpstr>4 –  Modeling</vt:lpstr>
      <vt:lpstr>VISUALIZATION</vt:lpstr>
      <vt:lpstr>5 –  Evaluation</vt:lpstr>
      <vt:lpstr>KEY INSIGHTS</vt:lpstr>
      <vt:lpstr>KEY INSIGHTS</vt:lpstr>
      <vt:lpstr>KEY INSIGHTS</vt:lpstr>
      <vt:lpstr>KEY INSIGHTS</vt:lpstr>
      <vt:lpstr>KEY INSIGHTS</vt:lpstr>
      <vt:lpstr>Key Takeaways for Decision-Makers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Adebukola Aina</dc:creator>
  <cp:lastModifiedBy>Adebukola Aina</cp:lastModifiedBy>
  <cp:revision>2</cp:revision>
  <dcterms:created xsi:type="dcterms:W3CDTF">2025-12-27T03:11:13Z</dcterms:created>
  <dcterms:modified xsi:type="dcterms:W3CDTF">2025-12-30T00:10:41Z</dcterms:modified>
</cp:coreProperties>
</file>